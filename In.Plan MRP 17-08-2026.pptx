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3"/>
  </p:notesMasterIdLst>
  <p:sldIdLst>
    <p:sldId id="2147483641" r:id="rId5"/>
    <p:sldId id="266" r:id="rId6"/>
    <p:sldId id="2147483601" r:id="rId7"/>
    <p:sldId id="2147473950" r:id="rId8"/>
    <p:sldId id="2147473951" r:id="rId9"/>
    <p:sldId id="257" r:id="rId10"/>
    <p:sldId id="2147483495" r:id="rId11"/>
    <p:sldId id="2147483566" r:id="rId12"/>
    <p:sldId id="264" r:id="rId13"/>
    <p:sldId id="263" r:id="rId14"/>
    <p:sldId id="265" r:id="rId15"/>
    <p:sldId id="2147477884" r:id="rId16"/>
    <p:sldId id="2147483604" r:id="rId17"/>
    <p:sldId id="258" r:id="rId18"/>
    <p:sldId id="259" r:id="rId19"/>
    <p:sldId id="262" r:id="rId20"/>
    <p:sldId id="260" r:id="rId21"/>
    <p:sldId id="261" r:id="rId22"/>
    <p:sldId id="2147477885" r:id="rId23"/>
    <p:sldId id="2147483496" r:id="rId24"/>
    <p:sldId id="2147483602" r:id="rId25"/>
    <p:sldId id="2147477893" r:id="rId26"/>
    <p:sldId id="2147483563" r:id="rId27"/>
    <p:sldId id="2147473944" r:id="rId28"/>
    <p:sldId id="2147477894" r:id="rId29"/>
    <p:sldId id="2147477896" r:id="rId30"/>
    <p:sldId id="2147483606" r:id="rId31"/>
    <p:sldId id="2147477887" r:id="rId32"/>
    <p:sldId id="2147483565" r:id="rId33"/>
    <p:sldId id="2147483610" r:id="rId34"/>
    <p:sldId id="2147483491" r:id="rId35"/>
    <p:sldId id="2147483564" r:id="rId36"/>
    <p:sldId id="2147483645" r:id="rId37"/>
    <p:sldId id="256" r:id="rId38"/>
    <p:sldId id="2147483646" r:id="rId39"/>
    <p:sldId id="2147473942" r:id="rId40"/>
    <p:sldId id="2147473946" r:id="rId41"/>
    <p:sldId id="2147483492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5F8D0CF-1A7F-405E-8B45-B12CE7966DFA}">
          <p14:sldIdLst>
            <p14:sldId id="2147483641"/>
            <p14:sldId id="266"/>
            <p14:sldId id="2147483601"/>
            <p14:sldId id="2147473950"/>
            <p14:sldId id="2147473951"/>
            <p14:sldId id="257"/>
            <p14:sldId id="2147483495"/>
            <p14:sldId id="2147483566"/>
            <p14:sldId id="264"/>
            <p14:sldId id="263"/>
            <p14:sldId id="265"/>
            <p14:sldId id="2147477884"/>
            <p14:sldId id="2147483604"/>
            <p14:sldId id="258"/>
            <p14:sldId id="259"/>
            <p14:sldId id="262"/>
            <p14:sldId id="260"/>
            <p14:sldId id="261"/>
            <p14:sldId id="2147477885"/>
            <p14:sldId id="2147483496"/>
            <p14:sldId id="2147483602"/>
            <p14:sldId id="2147477893"/>
            <p14:sldId id="2147483563"/>
            <p14:sldId id="2147473944"/>
            <p14:sldId id="2147477894"/>
            <p14:sldId id="2147477896"/>
            <p14:sldId id="2147483606"/>
            <p14:sldId id="2147477887"/>
            <p14:sldId id="2147483565"/>
            <p14:sldId id="2147483610"/>
            <p14:sldId id="2147483491"/>
            <p14:sldId id="2147483564"/>
            <p14:sldId id="2147483645"/>
            <p14:sldId id="256"/>
            <p14:sldId id="2147483646"/>
          </p14:sldIdLst>
        </p14:section>
        <p14:section name="подвал" id="{51862761-5196-4B22-B114-7ECFAF11E500}">
          <p14:sldIdLst>
            <p14:sldId id="2147473942"/>
            <p14:sldId id="2147473946"/>
            <p14:sldId id="21474834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480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A1D9A-C5F0-DD0E-856C-FAA5A681AA60}" v="25" dt="2026-08-17T09:47:55.9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2" y="126"/>
      </p:cViewPr>
      <p:guideLst>
        <p:guide orient="horz" pos="132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Dikinov" userId="b98ad7420b9dc8b3" providerId="Windows Live" clId="Web-{A1DA1D9A-C5F0-DD0E-856C-FAA5A681AA60}"/>
    <pc:docChg chg="addSld modSld modSection">
      <pc:chgData name="Igor Dikinov" userId="b98ad7420b9dc8b3" providerId="Windows Live" clId="Web-{A1DA1D9A-C5F0-DD0E-856C-FAA5A681AA60}" dt="2026-08-17T09:47:55.981" v="24" actId="20577"/>
      <pc:docMkLst>
        <pc:docMk/>
      </pc:docMkLst>
      <pc:sldChg chg="addSp delSp modSp">
        <pc:chgData name="Igor Dikinov" userId="b98ad7420b9dc8b3" providerId="Windows Live" clId="Web-{A1DA1D9A-C5F0-DD0E-856C-FAA5A681AA60}" dt="2026-08-17T09:46:13.915" v="9"/>
        <pc:sldMkLst>
          <pc:docMk/>
          <pc:sldMk cId="1094734412" sldId="257"/>
        </pc:sldMkLst>
        <pc:spChg chg="add del mod ord">
          <ac:chgData name="Igor Dikinov" userId="b98ad7420b9dc8b3" providerId="Windows Live" clId="Web-{A1DA1D9A-C5F0-DD0E-856C-FAA5A681AA60}" dt="2026-08-17T09:46:13.915" v="9"/>
          <ac:spMkLst>
            <pc:docMk/>
            <pc:sldMk cId="1094734412" sldId="257"/>
            <ac:spMk id="72" creationId="{A887DA66-E04F-2C72-B4BD-D083CA6C5B21}"/>
          </ac:spMkLst>
        </pc:spChg>
      </pc:sldChg>
      <pc:sldChg chg="modSp mod modShow">
        <pc:chgData name="Igor Dikinov" userId="b98ad7420b9dc8b3" providerId="Windows Live" clId="Web-{A1DA1D9A-C5F0-DD0E-856C-FAA5A681AA60}" dt="2026-08-17T09:47:29.995" v="17"/>
        <pc:sldMkLst>
          <pc:docMk/>
          <pc:sldMk cId="113043727" sldId="258"/>
        </pc:sldMkLst>
        <pc:graphicFrameChg chg="mod modGraphic">
          <ac:chgData name="Igor Dikinov" userId="b98ad7420b9dc8b3" providerId="Windows Live" clId="Web-{A1DA1D9A-C5F0-DD0E-856C-FAA5A681AA60}" dt="2026-08-17T09:47:21.542" v="16"/>
          <ac:graphicFrameMkLst>
            <pc:docMk/>
            <pc:sldMk cId="113043727" sldId="258"/>
            <ac:graphicFrameMk id="4" creationId="{E40CA27C-9778-96FB-6C25-FCF00E2F32E4}"/>
          </ac:graphicFrameMkLst>
        </pc:graphicFrameChg>
      </pc:sldChg>
      <pc:sldChg chg="mod modShow">
        <pc:chgData name="Igor Dikinov" userId="b98ad7420b9dc8b3" providerId="Windows Live" clId="Web-{A1DA1D9A-C5F0-DD0E-856C-FAA5A681AA60}" dt="2026-08-17T09:47:35.918" v="20"/>
        <pc:sldMkLst>
          <pc:docMk/>
          <pc:sldMk cId="0" sldId="259"/>
        </pc:sldMkLst>
      </pc:sldChg>
      <pc:sldChg chg="mod modShow">
        <pc:chgData name="Igor Dikinov" userId="b98ad7420b9dc8b3" providerId="Windows Live" clId="Web-{A1DA1D9A-C5F0-DD0E-856C-FAA5A681AA60}" dt="2026-08-17T09:47:35.839" v="19"/>
        <pc:sldMkLst>
          <pc:docMk/>
          <pc:sldMk cId="1430399649" sldId="260"/>
        </pc:sldMkLst>
      </pc:sldChg>
      <pc:sldChg chg="mod modShow">
        <pc:chgData name="Igor Dikinov" userId="b98ad7420b9dc8b3" providerId="Windows Live" clId="Web-{A1DA1D9A-C5F0-DD0E-856C-FAA5A681AA60}" dt="2026-08-17T09:47:35.761" v="18"/>
        <pc:sldMkLst>
          <pc:docMk/>
          <pc:sldMk cId="0" sldId="262"/>
        </pc:sldMkLst>
      </pc:sldChg>
      <pc:sldChg chg="modSp add replId">
        <pc:chgData name="Igor Dikinov" userId="b98ad7420b9dc8b3" providerId="Windows Live" clId="Web-{A1DA1D9A-C5F0-DD0E-856C-FAA5A681AA60}" dt="2026-08-17T09:47:55.981" v="24" actId="20577"/>
        <pc:sldMkLst>
          <pc:docMk/>
          <pc:sldMk cId="2058582778" sldId="263"/>
        </pc:sldMkLst>
        <pc:spChg chg="mod">
          <ac:chgData name="Igor Dikinov" userId="b98ad7420b9dc8b3" providerId="Windows Live" clId="Web-{A1DA1D9A-C5F0-DD0E-856C-FAA5A681AA60}" dt="2026-08-17T09:47:55.981" v="24" actId="20577"/>
          <ac:spMkLst>
            <pc:docMk/>
            <pc:sldMk cId="2058582778" sldId="263"/>
            <ac:spMk id="12" creationId="{63CCEDDB-4BD9-FCE7-2ACC-32540D3E02B7}"/>
          </ac:spMkLst>
        </pc:spChg>
      </pc:sldChg>
      <pc:sldChg chg="mod modShow">
        <pc:chgData name="Igor Dikinov" userId="b98ad7420b9dc8b3" providerId="Windows Live" clId="Web-{A1DA1D9A-C5F0-DD0E-856C-FAA5A681AA60}" dt="2026-08-17T09:43:27.239" v="0"/>
        <pc:sldMkLst>
          <pc:docMk/>
          <pc:sldMk cId="3494087621" sldId="2147473950"/>
        </pc:sldMkLst>
      </pc:sldChg>
      <pc:sldChg chg="mod modShow">
        <pc:chgData name="Igor Dikinov" userId="b98ad7420b9dc8b3" providerId="Windows Live" clId="Web-{A1DA1D9A-C5F0-DD0E-856C-FAA5A681AA60}" dt="2026-08-17T09:47:40.996" v="21"/>
        <pc:sldMkLst>
          <pc:docMk/>
          <pc:sldMk cId="3564440264" sldId="2147477894"/>
        </pc:sldMkLst>
      </pc:sldChg>
    </pc:docChg>
  </pc:docChgLst>
  <pc:docChgLst>
    <pc:chgData name="Igor Dikinov" userId="b98ad7420b9dc8b3" providerId="LiveId" clId="{FE9AF595-FFA2-4671-B408-9B50B1C94ED5}"/>
    <pc:docChg chg="custSel modSld">
      <pc:chgData name="Igor Dikinov" userId="b98ad7420b9dc8b3" providerId="LiveId" clId="{FE9AF595-FFA2-4671-B408-9B50B1C94ED5}" dt="2026-08-11T15:01:26.473" v="143" actId="207"/>
      <pc:docMkLst>
        <pc:docMk/>
      </pc:docMkLst>
      <pc:sldChg chg="modSp mod">
        <pc:chgData name="Igor Dikinov" userId="b98ad7420b9dc8b3" providerId="LiveId" clId="{FE9AF595-FFA2-4671-B408-9B50B1C94ED5}" dt="2026-08-11T15:01:26.473" v="143" actId="207"/>
        <pc:sldMkLst>
          <pc:docMk/>
          <pc:sldMk cId="113043727" sldId="258"/>
        </pc:sldMkLst>
        <pc:graphicFrameChg chg="modGraphic">
          <ac:chgData name="Igor Dikinov" userId="b98ad7420b9dc8b3" providerId="LiveId" clId="{FE9AF595-FFA2-4671-B408-9B50B1C94ED5}" dt="2026-08-11T15:01:26.473" v="143" actId="207"/>
          <ac:graphicFrameMkLst>
            <pc:docMk/>
            <pc:sldMk cId="113043727" sldId="258"/>
            <ac:graphicFrameMk id="4" creationId="{E40CA27C-9778-96FB-6C25-FCF00E2F32E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91261-093D-4B23-97E3-D3FEF0E52AE8}" type="datetimeFigureOut">
              <a:rPr lang="ru-RU" smtClean="0"/>
              <a:t>18.08.2026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7DDE4-8C19-404D-B1AC-58E525E5B3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7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80EF4-74AB-458A-B0DA-B5D555FB161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73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Обновить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80EF4-74AB-458A-B0DA-B5D555FB161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3583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ПРЕДЛОЖЕНИЕ. Здесь звучит вопрос MRP «покроют ли запасы сырья и упаковки спрос, сколько и у кого заказать». Это же — четыре показателя, которыми мы меряем демо: дефицит, покрытие, объём спота, стоимость закупки. Стоит назвать их прямо на этом слайде, чтобы в демо они не выглядели новыми.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1799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ПРЕДЛОЖЕНИЕ. Сравнение с ERP выигрывает от одной проверяемой детали. Самая сильная — пересчёт после изменения плана: в ERP это ночной прогон, у нас — версия расчёта, между которыми переключаются на глазах у зала. Она же ложится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29479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ПРАВКА ВНЕСЕНА. Дубль этого слайда (тот же процесс без колонки входов) удалён — оставлена версия с входами: плановые заказы из SNP и PS, данные из ERP, уровни запасов из MEIO. Если дубль нужен как отдельный шаг рассказа, возвращать его стоит с другим заголовком, иначе читается как сбой показа.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8682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ЗАПОЛНЕН. Пометка «Перенести ключевые параметры с 10-го сюда» закрыта: сюда вынесены только те ограничения, которые реально видно в демо — партии, сроки, документы закупки, запас. Полный перечень остался на следующем слайде, чтобы два слайда не повторяли друг друга. Ветки прогона описаны по существу: неограниченный отвечает «сколько нужно», ограниченный — «чем закрыть». В демо все шесть сценариев идут на ограниченном.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ПРАВКА ВНЕСЕНА. Было «Учет цен поставщиков» — расчёт цену не читает: источники ранжируются приоритетом, окном дат, квотой и лотом. Стало «Учет приоритета источников поставки», а роль цены названа отдельно — она участвует в оценке стоимости плана, а не в выборе. Это же формулировка для ответа на вопрос из зала.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ПРЕДЛОЖЕНИЕ. В «Интерфейсах» перечислены книга планирования, рабочее место, экран предупреждений и корректировка заявок. На стенде к вебинару доступны книга, вью анализа элементов, панель предупреждений и встроенный дашборд; редактирования не будет. Список стоит привести к тому, что покажем.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02896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ПРЕДЛОЖЕНИЕ. У «Контрактов», «Соглашений о поставках» и «Книги источников поставок» проверить статус в легенде: сегодня они смоделированы данными, а не отдельными объектами. Если статус «разработано», первый же вопрос «покажите карточку контракта» разрушит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ПЕРЕПИСАН — см. текст. Из прежней версии убраны три вещи: слово «мухлюем» и описание механики (это внутренняя кухня, в эфир и в рассылку не идёт), выбор поставщика по цене (расчёт цену не читает) и правки в кадре (на стенде только вью, редактирования нет). Вместо правок — переключение между заранее посчитанными версиями.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ПРЕДЛОЖЕНИЕ. К перечню показателей книги добавить закупочные, которые уже настроены: закупка по контракту, по соглашению, спотовая, объём контракта и остаток по нему. Именно на них построен сюжет демо про контракт и спот.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31436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62765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9933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02624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ПРЕДЛОЖЕНИЕ. В списке стандартных показателей нет нетто-потребности, хотя на слайде 7 она заявлена в процессе. Показатель заведён (netreqqty, netshortageqty) — стоит добавить строкой сюда: это единственная величина, отвечающая на вопрос «сколько докупить».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12453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02624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92765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62826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ПРЕДЛОЖЕНИЕ. Про предупреждения сказано «настраиваются пользователем». На демо-стенде настроены два типа и все одной критичности, поэтому разбор «по критичности» показывать нечем. Либо донастроить правила заранее, либо не обещать приоритизацию.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77609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730557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ПРЕДЛОЖЕНИЕ. Сравнение с MD04 и RRP3 — сильный ход для аудитории с ERP-опытом, оставить. Добавить, что у нас на этом экране видно тип закупочного документа, а не только количество: это и отличает разбор от привычного MD04.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15561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ВНИМАНИЕ. Это макет экрана балансировки. На стенде к вебинару его не будет — доступно только представление данных. Показ макета сразу после живых экранов вызовет вопрос «а можно так же вживую». Либо явно назвать это дорожной картой, либо убрать из показа.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31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28923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32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518444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36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077472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37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176373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ru-RU"/>
              <a:t>ООО "АксТим" 2023</a:t>
            </a:r>
            <a:endParaRPr lang="en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C6DEE-D1BE-1A41-91A5-0492654F7BE5}" type="slidenum">
              <a:rPr lang="en-RU" smtClean="0"/>
              <a:t>38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565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3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66A771-F66E-4564-EBF7-BFC7B63B1D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698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A51931-13B8-EA81-74A8-52D75249C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430" y="1196322"/>
            <a:ext cx="4351020" cy="201752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5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54C9A-2E18-BEE9-1490-16373B9D7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" y="3356630"/>
            <a:ext cx="3665220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30AEA54-383F-4E71-A209-DBC364ED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8300" y="4210050"/>
            <a:ext cx="4279900" cy="365125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0624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19EA50-607D-28CC-67F6-2FFB9F852F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E7A9E8-D2D3-63F3-F670-A2985062A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984" y="3498289"/>
            <a:ext cx="10515600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61DEC2-FF0B-5B18-F5F3-2DC5888BD45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632984" y="5064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6BE8C6B-EE2F-79F1-3573-F4AA6BC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6900" y="5975350"/>
            <a:ext cx="4279900" cy="365125"/>
          </a:xfrm>
          <a:prstGeom prst="rect">
            <a:avLst/>
          </a:prstGeom>
        </p:spPr>
        <p:txBody>
          <a:bodyPr/>
          <a:lstStyle>
            <a:lvl1pPr algn="l"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50649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6E5273-B457-2AF1-9825-F94D09A24B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3F05-F182-659F-BEFA-012A73CE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2100" y="5683250"/>
            <a:ext cx="42799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334032-D35A-F1E1-0425-0818542D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07" y="2785595"/>
            <a:ext cx="6694169" cy="2243605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r>
              <a:rPr lang="ru-RU" dirty="0"/>
              <a:t> с</a:t>
            </a:r>
            <a:r>
              <a:rPr lang="en-GB" dirty="0"/>
              <a:t>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5F1B96C-F791-5D53-98DF-BF271AA9B2A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00007" y="5050959"/>
            <a:ext cx="6694169" cy="69564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67245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B32013-1F9B-6436-20CF-2E51F0E43E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50B7BAB-BE77-6510-E5D5-8E77F2904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184" y="4082489"/>
            <a:ext cx="10515600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5937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E4C168-38CE-3FC5-2AF5-64FE853F1A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D70ADCC-6BBF-C18A-7151-5E7D4E402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1984" y="2799789"/>
            <a:ext cx="8968216" cy="1325563"/>
          </a:xfrm>
          <a:prstGeom prst="rect">
            <a:avLst/>
          </a:prstGeom>
        </p:spPr>
        <p:txBody>
          <a:bodyPr anchor="t"/>
          <a:lstStyle>
            <a:lvl1pPr>
              <a:defRPr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3BF918F-2A3D-7E23-2BE9-AC0165C4AF3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23484" y="5572405"/>
            <a:ext cx="7500992" cy="6956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3988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67EF52-A65D-D624-2D86-5FB7FF6B9A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7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238-55CF-0B4E-9885-8C556527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87425"/>
            <a:ext cx="10515600" cy="7778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68C6-A177-D01B-67D6-0DC5E4DD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BEA0-35FA-4E81-C027-2599EDB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A0B9668-8D6A-FD21-B21A-474F90319F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6888" y="1866900"/>
            <a:ext cx="6907212" cy="901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516C5-E723-1B3B-AEE2-1E16A8CC399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96888" y="2819400"/>
            <a:ext cx="6907212" cy="3314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F263EA-B8FE-6C11-DB78-A8A66AD4AE3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690860" y="1866900"/>
            <a:ext cx="41021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970FBFD-32DE-FA6E-D499-6FF7CD59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90860" y="3228109"/>
            <a:ext cx="4168631" cy="2923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148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568C6-A177-D01B-67D6-0DC5E4DD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BEA0-35FA-4E81-C027-2599EDB8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A0B9668-8D6A-FD21-B21A-474F90319F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6888" y="1866900"/>
            <a:ext cx="6907212" cy="901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516C5-E723-1B3B-AEE2-1E16A8CC3992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96888" y="2819400"/>
            <a:ext cx="6907212" cy="3314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F263EA-B8FE-6C11-DB78-A8A66AD4AE3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7690860" y="1866900"/>
            <a:ext cx="41021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970FBFD-32DE-FA6E-D499-6FF7CD59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90860" y="3228109"/>
            <a:ext cx="4168631" cy="29233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31339AF-8DA7-402F-8041-A5F2DBD47E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888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65838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3BBE734-8B69-78C1-75E9-F30669DD56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AAEA1DC-7782-2C9A-6274-A5C051F9C9EE}"/>
              </a:ext>
            </a:extLst>
          </p:cNvPr>
          <p:cNvSpPr/>
          <p:nvPr userDrawn="1"/>
        </p:nvSpPr>
        <p:spPr>
          <a:xfrm>
            <a:off x="0" y="2323172"/>
            <a:ext cx="4627020" cy="222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93461F-3BA8-2EFC-98CB-6A916BF11C4A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FE0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C85C3C-9A7C-4F2A-39D0-BCDDE3D06A95}"/>
              </a:ext>
            </a:extLst>
          </p:cNvPr>
          <p:cNvSpPr/>
          <p:nvPr userDrawn="1"/>
        </p:nvSpPr>
        <p:spPr>
          <a:xfrm>
            <a:off x="2312083" y="4543063"/>
            <a:ext cx="2314937" cy="2314937"/>
          </a:xfrm>
          <a:prstGeom prst="rect">
            <a:avLst/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49E9B93-E2C5-0830-1F93-D8C37B66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771525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443C6DB-3B9C-452D-A7EA-FC74D9B3559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421AE2F-7925-5136-3AD9-DB6E76202330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965700" y="2438400"/>
            <a:ext cx="6807200" cy="2057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BBC0B61-7A10-E1FC-27C1-C58418773B02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39000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6B10B9C-B14D-5556-FBD2-3165C91C7E1B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A52354-6591-35EE-DB86-C6C7C67AB6E4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D0594E2A-8DB8-26B0-0CDF-ED65DEB8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93D888-278B-9BC4-33E5-48DDAC4B701F}"/>
              </a:ext>
            </a:extLst>
          </p:cNvPr>
          <p:cNvSpPr/>
          <p:nvPr userDrawn="1"/>
        </p:nvSpPr>
        <p:spPr>
          <a:xfrm>
            <a:off x="4625471" y="4543063"/>
            <a:ext cx="2314937" cy="2314937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218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58ECFE7-BDCE-FA5F-D465-5823C86B17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3B6CEC-431F-58BE-CF65-4F8419AAF2F1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9F00FF"/>
          </a:solidFill>
          <a:ln>
            <a:solidFill>
              <a:srgbClr val="9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E0B39C2-8232-D961-DCD0-EEE67E52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140" y="1404938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30D1754-08C9-5625-375F-334E51108C3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33DBCFA-CC79-1A82-51A3-73355322DBC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7245912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2658AC8-1F35-29D4-4431-FE98E8285CC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7234177" y="2438400"/>
            <a:ext cx="4538722" cy="22609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18397AC-02DF-3F9A-4A6E-C468291705E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2D72A2-C9F7-A905-C870-EF5A07A12132}"/>
              </a:ext>
            </a:extLst>
          </p:cNvPr>
          <p:cNvSpPr/>
          <p:nvPr userDrawn="1"/>
        </p:nvSpPr>
        <p:spPr>
          <a:xfrm>
            <a:off x="6272420" y="2313709"/>
            <a:ext cx="262492" cy="4543064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7DF09708-CE95-6CD3-B197-933B7770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AF19B2-DC6B-D242-9281-E3853BE4330D}" type="slidenum">
              <a:rPr lang="en-RU" smtClean="0"/>
              <a:pPr/>
              <a:t>‹#›</a:t>
            </a:fld>
            <a:endParaRPr lang="en-RU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46D373B-A651-D091-A8F1-E3F1F9423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01442" y="2299855"/>
            <a:ext cx="4279467" cy="45581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0C9757-314D-3A8E-B28B-6396507667E0}"/>
              </a:ext>
            </a:extLst>
          </p:cNvPr>
          <p:cNvSpPr/>
          <p:nvPr userDrawn="1"/>
        </p:nvSpPr>
        <p:spPr>
          <a:xfrm>
            <a:off x="0" y="2313709"/>
            <a:ext cx="6263014" cy="222568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E5C77CC-2842-70ED-34E2-1AB37FF3D5BD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FEFDD04-CD08-8C7D-880C-6B8F75B9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815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2999" y="6601360"/>
            <a:ext cx="625475" cy="167740"/>
          </a:xfrm>
          <a:prstGeom prst="rect">
            <a:avLst/>
          </a:prstGeom>
        </p:spPr>
        <p:txBody>
          <a:bodyPr/>
          <a:lstStyle>
            <a:lvl1pPr algn="r"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260350"/>
            <a:ext cx="11664950" cy="42544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400" b="0" i="0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89717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3525" y="657107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l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5" y="155257"/>
            <a:ext cx="10515600" cy="44542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1800" b="1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63C87AE-461F-4691-BC75-9421974DE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678"/>
            <a:ext cx="11948160" cy="29684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3E5D1-2ABD-41C7-B20B-2E9AB54F8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121" t="12540" r="1251" b="8607"/>
          <a:stretch/>
        </p:blipFill>
        <p:spPr>
          <a:xfrm>
            <a:off x="10755392" y="600677"/>
            <a:ext cx="1194990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7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C57A9C-48AB-97B8-5F68-7CB783A07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AADBD8-BAF1-DD2B-B966-0FB5A024255B}"/>
              </a:ext>
            </a:extLst>
          </p:cNvPr>
          <p:cNvSpPr/>
          <p:nvPr userDrawn="1"/>
        </p:nvSpPr>
        <p:spPr>
          <a:xfrm>
            <a:off x="2266682" y="4497983"/>
            <a:ext cx="2360017" cy="2360017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C3909-A973-1011-3B96-712B02814A16}"/>
              </a:ext>
            </a:extLst>
          </p:cNvPr>
          <p:cNvSpPr/>
          <p:nvPr userDrawn="1"/>
        </p:nvSpPr>
        <p:spPr>
          <a:xfrm>
            <a:off x="0" y="2310293"/>
            <a:ext cx="4627020" cy="2225680"/>
          </a:xfrm>
          <a:prstGeom prst="rect">
            <a:avLst/>
          </a:prstGeom>
          <a:solidFill>
            <a:srgbClr val="9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27587D-53AE-75EA-A2F5-1D2FA215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0" y="771525"/>
            <a:ext cx="9220200" cy="5873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6EC4626-CF3B-5328-6C1F-17F5977BD6E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550684" y="1368705"/>
            <a:ext cx="9222216" cy="5616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R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0C46E2-DC31-5ADF-2609-7941CFC34CC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9660" y="2924944"/>
            <a:ext cx="3978324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</a:t>
            </a:r>
            <a:r>
              <a:rPr lang="en-US" dirty="0"/>
              <a:t>s</a:t>
            </a:r>
            <a:endParaRPr lang="en-GB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53DD215-7D1F-4E15-845B-AFD62DA9AF37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49660" y="771525"/>
            <a:ext cx="1709340" cy="11811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83B4D98-0EE6-8ECA-44BC-581743D9A30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965700" y="2438400"/>
            <a:ext cx="6807200" cy="2057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5028A3D-555B-0B5A-44FB-040C79461F7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965700" y="4876800"/>
            <a:ext cx="4572000" cy="11811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9F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  <a:r>
              <a:rPr lang="ru-RU" dirty="0"/>
              <a:t> </a:t>
            </a:r>
            <a:r>
              <a:rPr lang="en-GB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012FA4-519D-9175-A5D7-07ED26253214}"/>
              </a:ext>
            </a:extLst>
          </p:cNvPr>
          <p:cNvSpPr/>
          <p:nvPr userDrawn="1"/>
        </p:nvSpPr>
        <p:spPr>
          <a:xfrm>
            <a:off x="0" y="0"/>
            <a:ext cx="2314937" cy="2314937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6E964DA3-ACAB-CCE1-FE60-AA20F5E2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80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FA2CD1C-2F3B-B613-6D06-BE1C58EF1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571078"/>
            <a:ext cx="2743200" cy="198318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06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DBD14B-9731-DDEB-2DE3-4E01B843A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269812"/>
            <a:ext cx="11668215" cy="3502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6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 rIns="0"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6" y="6464412"/>
            <a:ext cx="584200" cy="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8465" y="6419690"/>
            <a:ext cx="493275" cy="177960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319A0-A1CE-C07E-936D-8852F6F42E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3525" y="6431826"/>
            <a:ext cx="727075" cy="16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38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0C369B-77C2-40B6-ADE1-1AB1EFC749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 26">
            <a:extLst>
              <a:ext uri="{FF2B5EF4-FFF2-40B4-BE49-F238E27FC236}">
                <a16:creationId xmlns:a16="http://schemas.microsoft.com/office/drawing/2014/main" id="{AA47F875-24BB-4222-9BE0-3D338C1189F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73693" y="5898603"/>
            <a:ext cx="1539620" cy="351172"/>
            <a:chOff x="6588" y="108"/>
            <a:chExt cx="890" cy="203"/>
          </a:xfrm>
        </p:grpSpPr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FB25604-3226-458E-A195-41FB11A7C6C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D401044-5574-4142-82A6-0942C3ACB8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96A51F06-0742-4A70-8FAD-AA0F6B1C7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6DBB966F-F045-4E46-9228-9FCA8D23F2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8727357C-030F-4E1C-A3D9-48092D2B7A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FFAB5B73-AFE1-44FE-AD30-9CDEEEA7FA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E502EC55-FD01-49CB-A606-68A89505D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574046BB-619F-41A0-AC31-C41F0D73E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" name="Freeform 34">
              <a:extLst>
                <a:ext uri="{FF2B5EF4-FFF2-40B4-BE49-F238E27FC236}">
                  <a16:creationId xmlns:a16="http://schemas.microsoft.com/office/drawing/2014/main" id="{0C767B9E-C93E-4C8E-A5B0-DEFB60925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34814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620773"/>
            <a:ext cx="2743200" cy="198318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Manrope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CF0FC9-75A9-4ADD-B36F-165725B23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4" y="269812"/>
            <a:ext cx="9954533" cy="35029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Manrope ExtraBold" panose="00000906000000000000" pitchFamily="50" charset="-52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32721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">
          <p15:clr>
            <a:srgbClr val="FBAE40"/>
          </p15:clr>
        </p15:guide>
        <p15:guide id="3" orient="horz" pos="4133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B0BEA79-1E3F-4A7F-ACF1-D4225B277F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763" y="182878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 sz="1800" b="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847019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ысоконагруженный слайд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5873D31-3D89-40D6-A120-502561F388C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642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416" imgH="416" progId="TCLayout.ActiveDocument.1">
                  <p:embed/>
                </p:oleObj>
              </mc:Choice>
              <mc:Fallback>
                <p:oleObj name="Слайд think-cell" r:id="rId3" imgW="416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873D31-3D89-40D6-A120-502561F38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28F3C2-A5CB-4FE9-A8B8-DE9372D930DC}"/>
              </a:ext>
            </a:extLst>
          </p:cNvPr>
          <p:cNvSpPr/>
          <p:nvPr userDrawn="1"/>
        </p:nvSpPr>
        <p:spPr>
          <a:xfrm>
            <a:off x="0" y="2"/>
            <a:ext cx="12192000" cy="8366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85275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260349"/>
            <a:ext cx="9708351" cy="57226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7" y="6392950"/>
            <a:ext cx="4114800" cy="198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2467830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27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618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257">
          <p15:clr>
            <a:srgbClr val="FBAE40"/>
          </p15:clr>
        </p15:guide>
        <p15:guide id="9" pos="7423">
          <p15:clr>
            <a:srgbClr val="FBAE40"/>
          </p15:clr>
        </p15:guide>
        <p15:guide id="10" pos="2048">
          <p15:clr>
            <a:srgbClr val="FBAE40"/>
          </p15:clr>
        </p15:guide>
        <p15:guide id="11" pos="56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empty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EA4DC26-73CA-4656-93CD-CA841E5AD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B1BEC5-E007-43A8-B1FB-305E8B3E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0CA4AB-35A1-445B-90B0-E0F842F94F5B}"/>
              </a:ext>
            </a:extLst>
          </p:cNvPr>
          <p:cNvSpPr/>
          <p:nvPr userDrawn="1"/>
        </p:nvSpPr>
        <p:spPr>
          <a:xfrm>
            <a:off x="275437" y="6392950"/>
            <a:ext cx="213513" cy="2135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A4F18C6-D8B3-4D0D-8C8C-6DCABEA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8950" y="63212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/>
              <a:t>ООО "АксТим Тех" 2023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0089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166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  <p15:guide id="8" pos="30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ACC94F0-4CD1-4470-8A69-695D206E4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50851" y="271463"/>
            <a:ext cx="11290300" cy="461665"/>
          </a:xfrm>
          <a:prstGeom prst="rect">
            <a:avLst/>
          </a:prstGeom>
        </p:spPr>
        <p:txBody>
          <a:bodyPr wrap="square" lIns="0" tIns="0" rIns="396000" bIns="0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8297882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1072619" y="6505864"/>
            <a:ext cx="770951" cy="192287"/>
          </a:xfrm>
        </p:spPr>
        <p:txBody>
          <a:bodyPr/>
          <a:lstStyle/>
          <a:p>
            <a:fld id="{4F9AC08D-23A9-440E-BCB9-AA1E9877CC3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1510748" y="234244"/>
            <a:ext cx="10300252" cy="990601"/>
          </a:xfrm>
        </p:spPr>
        <p:txBody>
          <a:bodyPr anchor="ctr">
            <a:normAutofit/>
          </a:bodyPr>
          <a:lstStyle>
            <a:lvl1pPr>
              <a:lnSpc>
                <a:spcPts val="3200"/>
              </a:lnSpc>
              <a:defRPr sz="3000" cap="none"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226C8D-B1C2-748B-4DEA-7657DD443A7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848678"/>
            <a:ext cx="11430000" cy="4563411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>
            <a:lvl1pPr>
              <a:defRPr cap="none">
                <a:solidFill>
                  <a:srgbClr val="F3702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Edit master text styles 1</a:t>
            </a:r>
          </a:p>
          <a:p>
            <a:pPr lvl="1"/>
            <a:r>
              <a:rPr lang="en-US" dirty="0"/>
              <a:t>Text 2</a:t>
            </a:r>
          </a:p>
          <a:p>
            <a:pPr lvl="2"/>
            <a:r>
              <a:rPr lang="en-US" dirty="0"/>
              <a:t>Text 3</a:t>
            </a:r>
          </a:p>
          <a:p>
            <a:pPr lvl="3"/>
            <a:r>
              <a:rPr lang="en-US" dirty="0"/>
              <a:t>Text 4</a:t>
            </a:r>
          </a:p>
          <a:p>
            <a:pPr lvl="4"/>
            <a:r>
              <a:rPr lang="en-US" dirty="0"/>
              <a:t>Text 5</a:t>
            </a:r>
          </a:p>
        </p:txBody>
      </p:sp>
    </p:spTree>
    <p:extLst>
      <p:ext uri="{BB962C8B-B14F-4D97-AF65-F5344CB8AC3E}">
        <p14:creationId xmlns:p14="http://schemas.microsoft.com/office/powerpoint/2010/main" val="1559499891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slide without decorations and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86DDDA-DAD9-4EA4-8610-FF2FEDFE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437" y="171581"/>
            <a:ext cx="9708351" cy="78160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endParaRPr lang="en-RU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9953F95-E1B1-4007-B613-27EE8D8F8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97008" y="6392950"/>
            <a:ext cx="2743200" cy="198318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A217D885-2194-4A95-BC7E-407BDEE4F6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8950" y="632129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Manrope ExtraLight" pitchFamily="2" charset="0"/>
              </a:defRPr>
            </a:lvl1pPr>
          </a:lstStyle>
          <a:p>
            <a:r>
              <a:rPr lang="ru-RU" dirty="0"/>
              <a:t>ООО "</a:t>
            </a:r>
            <a:r>
              <a:rPr lang="ru-RU" dirty="0" err="1"/>
              <a:t>АксТим</a:t>
            </a:r>
            <a:r>
              <a:rPr lang="ru-RU" dirty="0"/>
              <a:t> Тех" 2024</a:t>
            </a:r>
          </a:p>
        </p:txBody>
      </p:sp>
    </p:spTree>
    <p:extLst>
      <p:ext uri="{BB962C8B-B14F-4D97-AF65-F5344CB8AC3E}">
        <p14:creationId xmlns:p14="http://schemas.microsoft.com/office/powerpoint/2010/main" val="1268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9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302">
          <p15:clr>
            <a:srgbClr val="FBAE40"/>
          </p15:clr>
        </p15:guide>
        <p15:guide id="5" pos="7514">
          <p15:clr>
            <a:srgbClr val="FBAE40"/>
          </p15:clr>
        </p15:guide>
        <p15:guide id="6" orient="horz" pos="731">
          <p15:clr>
            <a:srgbClr val="FBAE40"/>
          </p15:clr>
        </p15:guide>
        <p15:guide id="7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 hidden="1">
            <a:extLst>
              <a:ext uri="{FF2B5EF4-FFF2-40B4-BE49-F238E27FC236}">
                <a16:creationId xmlns:a16="http://schemas.microsoft.com/office/drawing/2014/main" id="{E50A4CC3-BFDB-4B77-8F63-005DB8232033}"/>
              </a:ext>
            </a:extLst>
          </p:cNvPr>
          <p:cNvGrpSpPr/>
          <p:nvPr userDrawn="1"/>
        </p:nvGrpSpPr>
        <p:grpSpPr>
          <a:xfrm>
            <a:off x="0" y="-17400"/>
            <a:ext cx="12192000" cy="6875400"/>
            <a:chOff x="0" y="-17400"/>
            <a:chExt cx="12192000" cy="6875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D6324FE-D941-45EF-9929-5D46F41A9B92}"/>
                </a:ext>
              </a:extLst>
            </p:cNvPr>
            <p:cNvSpPr/>
            <p:nvPr userDrawn="1"/>
          </p:nvSpPr>
          <p:spPr>
            <a:xfrm>
              <a:off x="0" y="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5594AA3-ABDF-440A-A505-6DDA80F001BA}"/>
                </a:ext>
              </a:extLst>
            </p:cNvPr>
            <p:cNvSpPr/>
            <p:nvPr userDrawn="1"/>
          </p:nvSpPr>
          <p:spPr>
            <a:xfrm>
              <a:off x="11922000" y="6588000"/>
              <a:ext cx="270000" cy="27000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3E8FDC0D-7C8C-4300-8F51-9F707F3E8C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000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F43DCD2A-D5A6-44DF-86B8-15C2BD778A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912199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70E0C901-3734-4284-B5EC-4B637B50D15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70000"/>
              <a:ext cx="12192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29276B90-789C-4D17-B99D-02DE4D65CDC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588000"/>
              <a:ext cx="12184000" cy="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3EBBA3ED-68B1-4B23-871E-0CE465296B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10367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C167569-7CEB-4CC8-A914-ECF6CCDA656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50734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9367FDD1-89B3-4FF9-BEDE-737797A7D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1101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D600F7D6-B867-4BCE-AEF9-1E0BB4118E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031468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1C01A4B0-BC40-4F18-8B20-97799618A0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71835" y="-17400"/>
              <a:ext cx="0" cy="6875400"/>
            </a:xfrm>
            <a:prstGeom prst="line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44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8" r:id="rId17"/>
    <p:sldLayoutId id="2147483680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615">
          <p15:clr>
            <a:srgbClr val="F26B43"/>
          </p15:clr>
        </p15:guide>
        <p15:guide id="4" pos="1391">
          <p15:clr>
            <a:srgbClr val="F26B43"/>
          </p15:clr>
        </p15:guide>
        <p15:guide id="5" pos="166">
          <p15:clr>
            <a:srgbClr val="F26B43"/>
          </p15:clr>
        </p15:guide>
        <p15:guide id="6" pos="6289">
          <p15:clr>
            <a:srgbClr val="F26B43"/>
          </p15:clr>
        </p15:guide>
        <p15:guide id="7" pos="5065">
          <p15:clr>
            <a:srgbClr val="F26B43"/>
          </p15:clr>
        </p15:guide>
        <p15:guide id="8" pos="7514">
          <p15:clr>
            <a:srgbClr val="F26B43"/>
          </p15:clr>
        </p15:guide>
        <p15:guide id="9" orient="horz" pos="164">
          <p15:clr>
            <a:srgbClr val="F26B43"/>
          </p15:clr>
        </p15:guide>
        <p15:guide id="10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emf"/><Relationship Id="rId7" Type="http://schemas.microsoft.com/office/2007/relationships/hdphoto" Target="../media/hdphoto1.wdp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emf"/><Relationship Id="rId4" Type="http://schemas.openxmlformats.org/officeDocument/2006/relationships/image" Target="../media/image18.png"/><Relationship Id="rId9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5.png"/><Relationship Id="rId5" Type="http://schemas.openxmlformats.org/officeDocument/2006/relationships/image" Target="../media/image34.emf"/><Relationship Id="rId4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hyperlink" Target="https://pngicon.ru/derevjannyj-jashhik.html" TargetMode="External"/><Relationship Id="rId9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7.xml"/><Relationship Id="rId4" Type="http://schemas.openxmlformats.org/officeDocument/2006/relationships/hyperlink" Target="mailto:semen.gaiduk@axenix.pro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CECF50D-3DA1-4798-B6C5-6F569754B1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416" imgH="416" progId="TCLayout.ActiveDocument.1">
                  <p:embed/>
                </p:oleObj>
              </mc:Choice>
              <mc:Fallback>
                <p:oleObj name="Слайд think-cell" r:id="rId4" imgW="416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ECF50D-3DA1-4798-B6C5-6F569754B1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8FEC60-ECD9-42EA-B921-EC573161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z="4400" b="0" dirty="0">
                <a:solidFill>
                  <a:schemeClr val="bg1"/>
                </a:solidFill>
                <a:latin typeface="+mj-lt"/>
              </a:rPr>
              <a:t>Вебина</a:t>
            </a:r>
            <a:r>
              <a:rPr lang="ru-RU" b="0" dirty="0"/>
              <a:t>р </a:t>
            </a:r>
            <a:r>
              <a:rPr lang="en-US" sz="4400" b="0" dirty="0">
                <a:solidFill>
                  <a:schemeClr val="bg1"/>
                </a:solidFill>
                <a:latin typeface="+mj-lt"/>
              </a:rPr>
              <a:t>In</a:t>
            </a:r>
            <a:r>
              <a:rPr lang="en-US" sz="4400" b="0" dirty="0">
                <a:solidFill>
                  <a:schemeClr val="accent1"/>
                </a:solidFill>
                <a:latin typeface="+mj-lt"/>
              </a:rPr>
              <a:t>.</a:t>
            </a:r>
            <a:r>
              <a:rPr lang="en-US" sz="4400" b="0" dirty="0">
                <a:solidFill>
                  <a:schemeClr val="bg1"/>
                </a:solidFill>
                <a:latin typeface="+mj-lt"/>
              </a:rPr>
              <a:t>Plan</a:t>
            </a:r>
            <a:r>
              <a:rPr lang="ru-RU" sz="4400" b="0" dirty="0">
                <a:solidFill>
                  <a:schemeClr val="bg1"/>
                </a:solidFill>
                <a:latin typeface="+mj-lt"/>
              </a:rPr>
              <a:t> </a:t>
            </a:r>
            <a:br>
              <a:rPr lang="ru-RU" b="0" dirty="0"/>
            </a:br>
            <a:r>
              <a:rPr lang="en-US" b="0" dirty="0"/>
              <a:t>Material Requirements Planning </a:t>
            </a:r>
            <a:endParaRPr lang="ru-RU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9FAD7-0EEE-46A2-9825-D19E3593FC82}"/>
              </a:ext>
            </a:extLst>
          </p:cNvPr>
          <p:cNvSpPr txBox="1"/>
          <p:nvPr/>
        </p:nvSpPr>
        <p:spPr>
          <a:xfrm>
            <a:off x="632984" y="588190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Август 2026</a:t>
            </a:r>
          </a:p>
        </p:txBody>
      </p:sp>
    </p:spTree>
    <p:extLst>
      <p:ext uri="{BB962C8B-B14F-4D97-AF65-F5344CB8AC3E}">
        <p14:creationId xmlns:p14="http://schemas.microsoft.com/office/powerpoint/2010/main" val="116163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8FD9F-131D-488C-B692-B72540E0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6FF1668-EBDE-4CB4-89E7-1B5C84DEC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Light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ExtraLight" pitchFamily="2" charset="0"/>
              <a:ea typeface="+mn-ea"/>
              <a:cs typeface="+mn-cs"/>
            </a:endParaRP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7640C73-C780-4D46-8A71-97890B00070A}"/>
              </a:ext>
            </a:extLst>
          </p:cNvPr>
          <p:cNvGrpSpPr/>
          <p:nvPr/>
        </p:nvGrpSpPr>
        <p:grpSpPr>
          <a:xfrm>
            <a:off x="0" y="-9158"/>
            <a:ext cx="12192000" cy="6867158"/>
            <a:chOff x="0" y="-9158"/>
            <a:chExt cx="12192000" cy="686715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C9C96E2-4ECF-4727-9D54-ABD6BF49622D}"/>
                </a:ext>
              </a:extLst>
            </p:cNvPr>
            <p:cNvSpPr/>
            <p:nvPr/>
          </p:nvSpPr>
          <p:spPr>
            <a:xfrm>
              <a:off x="9042400" y="1258069"/>
              <a:ext cx="629920" cy="6299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B6E50C74-5489-486A-B005-117DD98D4166}"/>
                </a:ext>
              </a:extLst>
            </p:cNvPr>
            <p:cNvSpPr/>
            <p:nvPr/>
          </p:nvSpPr>
          <p:spPr>
            <a:xfrm>
              <a:off x="9672320" y="628150"/>
              <a:ext cx="629920" cy="6299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0A4A9A7-1949-44FD-9B76-2FF004125412}"/>
                </a:ext>
              </a:extLst>
            </p:cNvPr>
            <p:cNvSpPr/>
            <p:nvPr/>
          </p:nvSpPr>
          <p:spPr>
            <a:xfrm>
              <a:off x="10932160" y="1256301"/>
              <a:ext cx="629920" cy="6299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2D57E3B-1A5F-4DF4-9FA8-54EE6D0CA549}"/>
                </a:ext>
              </a:extLst>
            </p:cNvPr>
            <p:cNvSpPr/>
            <p:nvPr/>
          </p:nvSpPr>
          <p:spPr>
            <a:xfrm>
              <a:off x="11562080" y="628150"/>
              <a:ext cx="629920" cy="6299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9A188AB-526B-495B-9BE4-D4A30692CD5E}"/>
                </a:ext>
              </a:extLst>
            </p:cNvPr>
            <p:cNvSpPr/>
            <p:nvPr/>
          </p:nvSpPr>
          <p:spPr>
            <a:xfrm>
              <a:off x="10932160" y="629920"/>
              <a:ext cx="629920" cy="629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C4EBD6A-0B91-4407-AA67-FB25353CF3F1}"/>
                </a:ext>
              </a:extLst>
            </p:cNvPr>
            <p:cNvSpPr/>
            <p:nvPr/>
          </p:nvSpPr>
          <p:spPr>
            <a:xfrm>
              <a:off x="11562080" y="0"/>
              <a:ext cx="629920" cy="629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7975E8F-9C33-46FD-B588-131D09DC282D}"/>
                </a:ext>
              </a:extLst>
            </p:cNvPr>
            <p:cNvSpPr/>
            <p:nvPr/>
          </p:nvSpPr>
          <p:spPr>
            <a:xfrm>
              <a:off x="11562080" y="4395282"/>
              <a:ext cx="629920" cy="629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DA402D5-34D8-462B-9F85-C2876E65A62F}"/>
                </a:ext>
              </a:extLst>
            </p:cNvPr>
            <p:cNvSpPr/>
            <p:nvPr/>
          </p:nvSpPr>
          <p:spPr>
            <a:xfrm>
              <a:off x="10932160" y="3770671"/>
              <a:ext cx="629920" cy="6299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C9F8990-A30D-4E26-A6A3-815E19B6A7C4}"/>
                </a:ext>
              </a:extLst>
            </p:cNvPr>
            <p:cNvSpPr/>
            <p:nvPr/>
          </p:nvSpPr>
          <p:spPr>
            <a:xfrm>
              <a:off x="10932160" y="3140751"/>
              <a:ext cx="629920" cy="6299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3B66775-B1BB-4D0B-BD76-5A3B4A91C588}"/>
                </a:ext>
              </a:extLst>
            </p:cNvPr>
            <p:cNvSpPr/>
            <p:nvPr/>
          </p:nvSpPr>
          <p:spPr>
            <a:xfrm>
              <a:off x="11562080" y="2512602"/>
              <a:ext cx="629920" cy="62992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D5AD54EE-DD36-40FB-827A-B1A8CC7AB05C}"/>
                </a:ext>
              </a:extLst>
            </p:cNvPr>
            <p:cNvSpPr/>
            <p:nvPr/>
          </p:nvSpPr>
          <p:spPr>
            <a:xfrm>
              <a:off x="10302240" y="2514371"/>
              <a:ext cx="629920" cy="629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E74599A9-4809-4380-A2CF-E90881366529}"/>
                </a:ext>
              </a:extLst>
            </p:cNvPr>
            <p:cNvSpPr/>
            <p:nvPr/>
          </p:nvSpPr>
          <p:spPr>
            <a:xfrm>
              <a:off x="11562080" y="1884451"/>
              <a:ext cx="629920" cy="629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9B02CFC8-27A1-4EEF-A43C-737887CD555A}"/>
                </a:ext>
              </a:extLst>
            </p:cNvPr>
            <p:cNvSpPr/>
            <p:nvPr/>
          </p:nvSpPr>
          <p:spPr>
            <a:xfrm>
              <a:off x="9672320" y="1884450"/>
              <a:ext cx="629920" cy="629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0593BFA-213D-4503-9C1F-BD73FA848757}"/>
                </a:ext>
              </a:extLst>
            </p:cNvPr>
            <p:cNvSpPr/>
            <p:nvPr/>
          </p:nvSpPr>
          <p:spPr>
            <a:xfrm>
              <a:off x="10302240" y="1255415"/>
              <a:ext cx="629920" cy="6299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3F53D8AA-5D3A-43AD-B687-9894C718B0B3}"/>
                </a:ext>
              </a:extLst>
            </p:cNvPr>
            <p:cNvGrpSpPr/>
            <p:nvPr/>
          </p:nvGrpSpPr>
          <p:grpSpPr>
            <a:xfrm>
              <a:off x="0" y="-9158"/>
              <a:ext cx="10302240" cy="6867158"/>
              <a:chOff x="0" y="-9158"/>
              <a:chExt cx="10302240" cy="6867158"/>
            </a:xfrm>
          </p:grpSpPr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0EDAEDC8-ECA2-4DAA-92D3-DC5C04BB8836}"/>
                  </a:ext>
                </a:extLst>
              </p:cNvPr>
              <p:cNvSpPr/>
              <p:nvPr/>
            </p:nvSpPr>
            <p:spPr>
              <a:xfrm>
                <a:off x="9985440" y="6541200"/>
                <a:ext cx="316800" cy="3168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anrope"/>
                  <a:ea typeface="+mn-ea"/>
                  <a:cs typeface="+mn-cs"/>
                </a:endParaRPr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C4EFEC9D-CF3A-4A2C-B339-F01FE725D9C7}"/>
                  </a:ext>
                </a:extLst>
              </p:cNvPr>
              <p:cNvSpPr/>
              <p:nvPr/>
            </p:nvSpPr>
            <p:spPr>
              <a:xfrm>
                <a:off x="9668640" y="6233945"/>
                <a:ext cx="316800" cy="316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anrope"/>
                  <a:ea typeface="+mn-ea"/>
                  <a:cs typeface="+mn-cs"/>
                </a:endParaRPr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065D10C2-F3AB-4435-A69F-0F88A3ECB3B0}"/>
                  </a:ext>
                </a:extLst>
              </p:cNvPr>
              <p:cNvSpPr/>
              <p:nvPr/>
            </p:nvSpPr>
            <p:spPr>
              <a:xfrm>
                <a:off x="316800" y="-9158"/>
                <a:ext cx="316800" cy="31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anrope"/>
                  <a:ea typeface="+mn-ea"/>
                  <a:cs typeface="+mn-cs"/>
                </a:endParaRPr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BB01D34D-619D-4869-8F07-CAB84E6D30AE}"/>
                  </a:ext>
                </a:extLst>
              </p:cNvPr>
              <p:cNvSpPr/>
              <p:nvPr/>
            </p:nvSpPr>
            <p:spPr>
              <a:xfrm>
                <a:off x="0" y="311350"/>
                <a:ext cx="316800" cy="316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anrope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1A2329B-20CD-4AA2-B52F-5F54D3A9CC07}"/>
              </a:ext>
            </a:extLst>
          </p:cNvPr>
          <p:cNvGrpSpPr/>
          <p:nvPr/>
        </p:nvGrpSpPr>
        <p:grpSpPr>
          <a:xfrm>
            <a:off x="199885" y="1098833"/>
            <a:ext cx="981690" cy="981690"/>
            <a:chOff x="-46842" y="1002708"/>
            <a:chExt cx="981690" cy="981690"/>
          </a:xfrm>
        </p:grpSpPr>
        <p:sp>
          <p:nvSpPr>
            <p:cNvPr id="66" name="Овал 85">
              <a:extLst>
                <a:ext uri="{FF2B5EF4-FFF2-40B4-BE49-F238E27FC236}">
                  <a16:creationId xmlns:a16="http://schemas.microsoft.com/office/drawing/2014/main" id="{E12DF12B-865B-4AF6-8429-FBBAD3D39ABC}"/>
                </a:ext>
              </a:extLst>
            </p:cNvPr>
            <p:cNvSpPr/>
            <p:nvPr/>
          </p:nvSpPr>
          <p:spPr>
            <a:xfrm>
              <a:off x="-46842" y="1002708"/>
              <a:ext cx="981690" cy="98169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softEdge rad="368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B309469-975C-41E1-A24D-64FA2E6DF50B}"/>
                </a:ext>
              </a:extLst>
            </p:cNvPr>
            <p:cNvSpPr txBox="1"/>
            <p:nvPr/>
          </p:nvSpPr>
          <p:spPr>
            <a:xfrm>
              <a:off x="275437" y="1356450"/>
              <a:ext cx="379413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ru-RU" sz="2800" dirty="0">
                  <a:solidFill>
                    <a:schemeClr val="accent3"/>
                  </a:solidFill>
                  <a:latin typeface="+mj-lt"/>
                </a:rPr>
                <a:t>1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E416B72-FDC0-463F-AD9E-1CC7DEE917F8}"/>
              </a:ext>
            </a:extLst>
          </p:cNvPr>
          <p:cNvGrpSpPr/>
          <p:nvPr/>
        </p:nvGrpSpPr>
        <p:grpSpPr>
          <a:xfrm>
            <a:off x="199885" y="2557273"/>
            <a:ext cx="981690" cy="981690"/>
            <a:chOff x="-46842" y="1002708"/>
            <a:chExt cx="981690" cy="981690"/>
          </a:xfrm>
        </p:grpSpPr>
        <p:sp>
          <p:nvSpPr>
            <p:cNvPr id="75" name="Овал 85">
              <a:extLst>
                <a:ext uri="{FF2B5EF4-FFF2-40B4-BE49-F238E27FC236}">
                  <a16:creationId xmlns:a16="http://schemas.microsoft.com/office/drawing/2014/main" id="{B11E53D1-DFB7-44FB-ACC4-7ED72A1E228C}"/>
                </a:ext>
              </a:extLst>
            </p:cNvPr>
            <p:cNvSpPr/>
            <p:nvPr/>
          </p:nvSpPr>
          <p:spPr>
            <a:xfrm>
              <a:off x="-46842" y="1002708"/>
              <a:ext cx="981690" cy="98169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softEdge rad="368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FBC39B9-4467-4F31-A5DA-6C20DB610CC7}"/>
                </a:ext>
              </a:extLst>
            </p:cNvPr>
            <p:cNvSpPr txBox="1"/>
            <p:nvPr/>
          </p:nvSpPr>
          <p:spPr>
            <a:xfrm>
              <a:off x="275437" y="1356450"/>
              <a:ext cx="379413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2800" dirty="0">
                  <a:solidFill>
                    <a:schemeClr val="accent3"/>
                  </a:solidFill>
                  <a:latin typeface="+mj-lt"/>
                </a:rPr>
                <a:t>2</a:t>
              </a:r>
              <a:endParaRPr lang="ru-RU" sz="2800" dirty="0">
                <a:solidFill>
                  <a:schemeClr val="accent3"/>
                </a:solidFill>
                <a:latin typeface="+mj-lt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7AACB76-9D42-4E86-966D-B54324FD8F38}"/>
              </a:ext>
            </a:extLst>
          </p:cNvPr>
          <p:cNvGrpSpPr/>
          <p:nvPr/>
        </p:nvGrpSpPr>
        <p:grpSpPr>
          <a:xfrm>
            <a:off x="199885" y="4190828"/>
            <a:ext cx="981690" cy="981690"/>
            <a:chOff x="-46842" y="1002708"/>
            <a:chExt cx="981690" cy="981690"/>
          </a:xfrm>
        </p:grpSpPr>
        <p:sp>
          <p:nvSpPr>
            <p:cNvPr id="81" name="Овал 85">
              <a:extLst>
                <a:ext uri="{FF2B5EF4-FFF2-40B4-BE49-F238E27FC236}">
                  <a16:creationId xmlns:a16="http://schemas.microsoft.com/office/drawing/2014/main" id="{42D706C6-9437-4654-A733-B9CAA3B5609B}"/>
                </a:ext>
              </a:extLst>
            </p:cNvPr>
            <p:cNvSpPr/>
            <p:nvPr/>
          </p:nvSpPr>
          <p:spPr>
            <a:xfrm>
              <a:off x="-46842" y="1002708"/>
              <a:ext cx="981690" cy="98169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softEdge rad="3683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A90297A-F418-4124-ABB8-BCE02983D30F}"/>
                </a:ext>
              </a:extLst>
            </p:cNvPr>
            <p:cNvSpPr txBox="1"/>
            <p:nvPr/>
          </p:nvSpPr>
          <p:spPr>
            <a:xfrm>
              <a:off x="275437" y="1356450"/>
              <a:ext cx="379413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2800" dirty="0">
                  <a:solidFill>
                    <a:schemeClr val="accent3"/>
                  </a:solidFill>
                  <a:latin typeface="+mj-lt"/>
                </a:rPr>
                <a:t>3</a:t>
              </a:r>
              <a:endParaRPr lang="ru-RU" sz="2800" dirty="0">
                <a:solidFill>
                  <a:schemeClr val="accent3"/>
                </a:solidFill>
                <a:latin typeface="+mj-lt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862148F-7512-4D89-A9F5-F47F36D6FAF6}"/>
              </a:ext>
            </a:extLst>
          </p:cNvPr>
          <p:cNvSpPr txBox="1"/>
          <p:nvPr/>
        </p:nvSpPr>
        <p:spPr>
          <a:xfrm>
            <a:off x="1397608" y="1954454"/>
            <a:ext cx="46983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sz="1400" dirty="0">
                <a:solidFill>
                  <a:schemeClr val="bg1"/>
                </a:solidFill>
              </a:rPr>
              <a:t>🟪 </a:t>
            </a:r>
            <a:r>
              <a:rPr lang="en-US" sz="1400" dirty="0">
                <a:solidFill>
                  <a:schemeClr val="bg1"/>
                </a:solidFill>
              </a:rPr>
              <a:t>MRP </a:t>
            </a:r>
            <a:r>
              <a:rPr lang="ru-RU" sz="1400" dirty="0">
                <a:solidFill>
                  <a:schemeClr val="bg1"/>
                </a:solidFill>
              </a:rPr>
              <a:t>как часть интегрированного планирования</a:t>
            </a:r>
          </a:p>
          <a:p>
            <a:pPr marL="266700" indent="-266700">
              <a:spcBef>
                <a:spcPts val="600"/>
              </a:spcBef>
            </a:pPr>
            <a:r>
              <a:rPr lang="ru-RU" sz="1400" dirty="0">
                <a:solidFill>
                  <a:schemeClr val="bg1"/>
                </a:solidFill>
              </a:rPr>
              <a:t>🟧 Процесс </a:t>
            </a:r>
            <a:r>
              <a:rPr lang="en-US" sz="1400" dirty="0">
                <a:solidFill>
                  <a:schemeClr val="bg1"/>
                </a:solidFill>
              </a:rPr>
              <a:t>MRP </a:t>
            </a:r>
            <a:r>
              <a:rPr lang="ru-RU" sz="1400" dirty="0">
                <a:solidFill>
                  <a:schemeClr val="bg1"/>
                </a:solidFill>
              </a:rPr>
              <a:t>в </a:t>
            </a:r>
            <a:r>
              <a:rPr lang="en-US" sz="1400" dirty="0">
                <a:solidFill>
                  <a:schemeClr val="bg1"/>
                </a:solidFill>
              </a:rPr>
              <a:t>In.Plan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1866AB-3150-4F21-B1F6-CBB9CB6E8AD2}"/>
              </a:ext>
            </a:extLst>
          </p:cNvPr>
          <p:cNvSpPr txBox="1"/>
          <p:nvPr/>
        </p:nvSpPr>
        <p:spPr>
          <a:xfrm>
            <a:off x="1397608" y="3353951"/>
            <a:ext cx="40887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marL="266700" indent="-266700"/>
            <a:r>
              <a:rPr lang="ru-RU" dirty="0"/>
              <a:t>🟪 Модель данных</a:t>
            </a:r>
          </a:p>
          <a:p>
            <a:pPr marL="266700" indent="-266700"/>
            <a:r>
              <a:rPr lang="ru-RU" dirty="0"/>
              <a:t>🟧 День плановика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FC9113-5A30-4B62-8AB4-2CFF40500D5C}"/>
              </a:ext>
            </a:extLst>
          </p:cNvPr>
          <p:cNvSpPr txBox="1"/>
          <p:nvPr/>
        </p:nvSpPr>
        <p:spPr>
          <a:xfrm>
            <a:off x="9247956" y="5007806"/>
            <a:ext cx="1419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➜</a:t>
            </a:r>
            <a:r>
              <a:rPr lang="ru-RU" sz="1200" dirty="0">
                <a:solidFill>
                  <a:schemeClr val="bg1"/>
                </a:solidFill>
              </a:rPr>
              <a:t> Семён Гайдук, предпроектная экспертиза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2577D8-3B71-4F8C-97D1-1718D011336D}"/>
              </a:ext>
            </a:extLst>
          </p:cNvPr>
          <p:cNvSpPr txBox="1"/>
          <p:nvPr/>
        </p:nvSpPr>
        <p:spPr>
          <a:xfrm>
            <a:off x="1125254" y="1508322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MRP </a:t>
            </a:r>
            <a:r>
              <a:rPr lang="ru-RU" dirty="0">
                <a:solidFill>
                  <a:schemeClr val="bg1"/>
                </a:solidFill>
              </a:rPr>
              <a:t>в </a:t>
            </a:r>
            <a:r>
              <a:rPr lang="en-US" dirty="0">
                <a:solidFill>
                  <a:schemeClr val="bg1"/>
                </a:solidFill>
              </a:rPr>
              <a:t>In.Plan</a:t>
            </a:r>
            <a:endParaRPr kumimoji="0" lang="ru-RU" sz="18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5CAAF0-FC7B-4376-9F3F-8BD4D6CAA07F}"/>
              </a:ext>
            </a:extLst>
          </p:cNvPr>
          <p:cNvSpPr txBox="1"/>
          <p:nvPr/>
        </p:nvSpPr>
        <p:spPr>
          <a:xfrm>
            <a:off x="1125254" y="2936500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Демо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CF7AAA-0102-423A-8FCE-FF2406D83B0D}"/>
              </a:ext>
            </a:extLst>
          </p:cNvPr>
          <p:cNvSpPr txBox="1"/>
          <p:nvPr/>
        </p:nvSpPr>
        <p:spPr>
          <a:xfrm>
            <a:off x="1125254" y="4625509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Q&amp;A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0E733E-AA3B-42A4-9D2D-BC4FD29C1D2C}"/>
              </a:ext>
            </a:extLst>
          </p:cNvPr>
          <p:cNvSpPr txBox="1"/>
          <p:nvPr/>
        </p:nvSpPr>
        <p:spPr>
          <a:xfrm>
            <a:off x="1125254" y="6256487"/>
            <a:ext cx="487379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accent3"/>
                </a:solidFill>
              </a:rPr>
              <a:t>Подарки от </a:t>
            </a:r>
            <a:r>
              <a:rPr lang="en-US" dirty="0">
                <a:solidFill>
                  <a:schemeClr val="accent3"/>
                </a:solidFill>
              </a:rPr>
              <a:t>In.Plan</a:t>
            </a:r>
            <a:r>
              <a:rPr lang="ru-RU" dirty="0">
                <a:solidFill>
                  <a:schemeClr val="accent3"/>
                </a:solidFill>
              </a:rPr>
              <a:t> за активное участие</a:t>
            </a:r>
            <a:r>
              <a:rPr lang="en-US" dirty="0">
                <a:solidFill>
                  <a:schemeClr val="accent3"/>
                </a:solidFill>
              </a:rPr>
              <a:t>!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63" name="Google Shape;2669;p35">
            <a:extLst>
              <a:ext uri="{FF2B5EF4-FFF2-40B4-BE49-F238E27FC236}">
                <a16:creationId xmlns:a16="http://schemas.microsoft.com/office/drawing/2014/main" id="{032AB212-A242-4E1B-B51D-2DDDDF656188}"/>
              </a:ext>
            </a:extLst>
          </p:cNvPr>
          <p:cNvSpPr/>
          <p:nvPr/>
        </p:nvSpPr>
        <p:spPr>
          <a:xfrm>
            <a:off x="392501" y="6101357"/>
            <a:ext cx="553258" cy="553258"/>
          </a:xfrm>
          <a:custGeom>
            <a:avLst/>
            <a:gdLst/>
            <a:ahLst/>
            <a:cxnLst/>
            <a:rect l="l" t="t" r="r" b="b"/>
            <a:pathLst>
              <a:path w="1257404" h="1257404" extrusionOk="0">
                <a:moveTo>
                  <a:pt x="1268836" y="332601"/>
                </a:moveTo>
                <a:cubicBezTo>
                  <a:pt x="1268836" y="330061"/>
                  <a:pt x="1267566" y="327521"/>
                  <a:pt x="1266296" y="323711"/>
                </a:cubicBezTo>
                <a:cubicBezTo>
                  <a:pt x="1266296" y="322440"/>
                  <a:pt x="1265026" y="321170"/>
                  <a:pt x="1265026" y="319900"/>
                </a:cubicBezTo>
                <a:cubicBezTo>
                  <a:pt x="1262486" y="316090"/>
                  <a:pt x="1259945" y="312280"/>
                  <a:pt x="1257405" y="309739"/>
                </a:cubicBezTo>
                <a:cubicBezTo>
                  <a:pt x="1257405" y="309739"/>
                  <a:pt x="1257405" y="309739"/>
                  <a:pt x="1257405" y="309739"/>
                </a:cubicBezTo>
                <a:cubicBezTo>
                  <a:pt x="1257405" y="309739"/>
                  <a:pt x="1257405" y="309739"/>
                  <a:pt x="1257405" y="309739"/>
                </a:cubicBezTo>
                <a:cubicBezTo>
                  <a:pt x="1254865" y="307199"/>
                  <a:pt x="1251054" y="305929"/>
                  <a:pt x="1245974" y="304659"/>
                </a:cubicBezTo>
                <a:lnTo>
                  <a:pt x="1016085" y="243694"/>
                </a:lnTo>
                <a:cubicBezTo>
                  <a:pt x="1041487" y="176378"/>
                  <a:pt x="1023706" y="96362"/>
                  <a:pt x="966551" y="45557"/>
                </a:cubicBezTo>
                <a:cubicBezTo>
                  <a:pt x="891614" y="-20488"/>
                  <a:pt x="777305" y="-14138"/>
                  <a:pt x="711259" y="60799"/>
                </a:cubicBezTo>
                <a:lnTo>
                  <a:pt x="632513" y="149706"/>
                </a:lnTo>
                <a:lnTo>
                  <a:pt x="553767" y="60799"/>
                </a:lnTo>
                <a:cubicBezTo>
                  <a:pt x="487721" y="-14138"/>
                  <a:pt x="372142" y="-20488"/>
                  <a:pt x="298475" y="45557"/>
                </a:cubicBezTo>
                <a:cubicBezTo>
                  <a:pt x="242591" y="95091"/>
                  <a:pt x="224809" y="171298"/>
                  <a:pt x="246401" y="237343"/>
                </a:cubicBezTo>
                <a:lnTo>
                  <a:pt x="21592" y="303389"/>
                </a:lnTo>
                <a:cubicBezTo>
                  <a:pt x="19052" y="304659"/>
                  <a:pt x="16512" y="305929"/>
                  <a:pt x="13972" y="307199"/>
                </a:cubicBezTo>
                <a:cubicBezTo>
                  <a:pt x="13972" y="307199"/>
                  <a:pt x="12701" y="307199"/>
                  <a:pt x="11431" y="308469"/>
                </a:cubicBezTo>
                <a:cubicBezTo>
                  <a:pt x="11431" y="308469"/>
                  <a:pt x="11431" y="308469"/>
                  <a:pt x="11431" y="308469"/>
                </a:cubicBezTo>
                <a:cubicBezTo>
                  <a:pt x="7621" y="311010"/>
                  <a:pt x="5081" y="314820"/>
                  <a:pt x="3811" y="318630"/>
                </a:cubicBezTo>
                <a:cubicBezTo>
                  <a:pt x="3811" y="319900"/>
                  <a:pt x="3811" y="321170"/>
                  <a:pt x="2540" y="321170"/>
                </a:cubicBezTo>
                <a:cubicBezTo>
                  <a:pt x="1271" y="323711"/>
                  <a:pt x="0" y="327521"/>
                  <a:pt x="0" y="330061"/>
                </a:cubicBezTo>
                <a:cubicBezTo>
                  <a:pt x="0" y="330061"/>
                  <a:pt x="0" y="331331"/>
                  <a:pt x="0" y="331331"/>
                </a:cubicBezTo>
                <a:lnTo>
                  <a:pt x="0" y="1085774"/>
                </a:lnTo>
                <a:cubicBezTo>
                  <a:pt x="0" y="1099745"/>
                  <a:pt x="8891" y="1111176"/>
                  <a:pt x="22863" y="1114986"/>
                </a:cubicBezTo>
                <a:lnTo>
                  <a:pt x="626163" y="1266129"/>
                </a:lnTo>
                <a:cubicBezTo>
                  <a:pt x="628702" y="1266129"/>
                  <a:pt x="631243" y="1267399"/>
                  <a:pt x="633783" y="1267399"/>
                </a:cubicBezTo>
                <a:cubicBezTo>
                  <a:pt x="636324" y="1267399"/>
                  <a:pt x="638864" y="1267399"/>
                  <a:pt x="641403" y="1266129"/>
                </a:cubicBezTo>
                <a:lnTo>
                  <a:pt x="1244704" y="1114986"/>
                </a:lnTo>
                <a:cubicBezTo>
                  <a:pt x="1258675" y="1111176"/>
                  <a:pt x="1267566" y="1099745"/>
                  <a:pt x="1267566" y="1085774"/>
                </a:cubicBezTo>
                <a:lnTo>
                  <a:pt x="1267566" y="331331"/>
                </a:lnTo>
                <a:cubicBezTo>
                  <a:pt x="1268836" y="333871"/>
                  <a:pt x="1268836" y="333871"/>
                  <a:pt x="1268836" y="332601"/>
                </a:cubicBezTo>
                <a:close/>
                <a:moveTo>
                  <a:pt x="1117693" y="333871"/>
                </a:moveTo>
                <a:lnTo>
                  <a:pt x="795087" y="415158"/>
                </a:lnTo>
                <a:cubicBezTo>
                  <a:pt x="791277" y="412618"/>
                  <a:pt x="787466" y="410078"/>
                  <a:pt x="782386" y="407538"/>
                </a:cubicBezTo>
                <a:cubicBezTo>
                  <a:pt x="755713" y="394837"/>
                  <a:pt x="735392" y="373245"/>
                  <a:pt x="723960" y="345302"/>
                </a:cubicBezTo>
                <a:lnTo>
                  <a:pt x="707449" y="300849"/>
                </a:lnTo>
                <a:lnTo>
                  <a:pt x="727771" y="318630"/>
                </a:lnTo>
                <a:cubicBezTo>
                  <a:pt x="762064" y="349113"/>
                  <a:pt x="805247" y="364354"/>
                  <a:pt x="848431" y="364354"/>
                </a:cubicBezTo>
                <a:cubicBezTo>
                  <a:pt x="897965" y="364354"/>
                  <a:pt x="948769" y="344032"/>
                  <a:pt x="984332" y="303389"/>
                </a:cubicBezTo>
                <a:cubicBezTo>
                  <a:pt x="985603" y="302119"/>
                  <a:pt x="985603" y="300849"/>
                  <a:pt x="986872" y="299579"/>
                </a:cubicBezTo>
                <a:lnTo>
                  <a:pt x="1117693" y="333871"/>
                </a:lnTo>
                <a:close/>
                <a:moveTo>
                  <a:pt x="635053" y="454532"/>
                </a:moveTo>
                <a:lnTo>
                  <a:pt x="553767" y="434210"/>
                </a:lnTo>
                <a:cubicBezTo>
                  <a:pt x="575359" y="415158"/>
                  <a:pt x="591870" y="392296"/>
                  <a:pt x="602031" y="365624"/>
                </a:cubicBezTo>
                <a:lnTo>
                  <a:pt x="635053" y="279257"/>
                </a:lnTo>
                <a:lnTo>
                  <a:pt x="668076" y="365624"/>
                </a:lnTo>
                <a:cubicBezTo>
                  <a:pt x="678237" y="392296"/>
                  <a:pt x="694748" y="415158"/>
                  <a:pt x="716340" y="434210"/>
                </a:cubicBezTo>
                <a:lnTo>
                  <a:pt x="635053" y="454532"/>
                </a:lnTo>
                <a:close/>
                <a:moveTo>
                  <a:pt x="420406" y="463422"/>
                </a:moveTo>
                <a:cubicBezTo>
                  <a:pt x="391193" y="504066"/>
                  <a:pt x="379762" y="556140"/>
                  <a:pt x="392463" y="606944"/>
                </a:cubicBezTo>
                <a:lnTo>
                  <a:pt x="400083" y="634887"/>
                </a:lnTo>
                <a:cubicBezTo>
                  <a:pt x="405164" y="653938"/>
                  <a:pt x="403894" y="675530"/>
                  <a:pt x="398814" y="694582"/>
                </a:cubicBezTo>
                <a:cubicBezTo>
                  <a:pt x="393733" y="711093"/>
                  <a:pt x="402624" y="727604"/>
                  <a:pt x="419135" y="732685"/>
                </a:cubicBezTo>
                <a:cubicBezTo>
                  <a:pt x="421675" y="733955"/>
                  <a:pt x="425485" y="733955"/>
                  <a:pt x="428026" y="733955"/>
                </a:cubicBezTo>
                <a:cubicBezTo>
                  <a:pt x="440727" y="733955"/>
                  <a:pt x="453428" y="725064"/>
                  <a:pt x="457238" y="712363"/>
                </a:cubicBezTo>
                <a:cubicBezTo>
                  <a:pt x="466129" y="683150"/>
                  <a:pt x="467400" y="651398"/>
                  <a:pt x="459778" y="620915"/>
                </a:cubicBezTo>
                <a:lnTo>
                  <a:pt x="452158" y="592973"/>
                </a:lnTo>
                <a:cubicBezTo>
                  <a:pt x="441997" y="551059"/>
                  <a:pt x="455968" y="507876"/>
                  <a:pt x="487721" y="479934"/>
                </a:cubicBezTo>
                <a:lnTo>
                  <a:pt x="605841" y="509146"/>
                </a:lnTo>
                <a:lnTo>
                  <a:pt x="605841" y="1201354"/>
                </a:lnTo>
                <a:lnTo>
                  <a:pt x="364521" y="1140389"/>
                </a:lnTo>
                <a:lnTo>
                  <a:pt x="364521" y="448181"/>
                </a:lnTo>
                <a:lnTo>
                  <a:pt x="420406" y="463422"/>
                </a:lnTo>
                <a:close/>
                <a:moveTo>
                  <a:pt x="756984" y="102712"/>
                </a:moveTo>
                <a:cubicBezTo>
                  <a:pt x="801437" y="53178"/>
                  <a:pt x="877644" y="48098"/>
                  <a:pt x="927177" y="92551"/>
                </a:cubicBezTo>
                <a:cubicBezTo>
                  <a:pt x="976712" y="137005"/>
                  <a:pt x="981792" y="213211"/>
                  <a:pt x="937339" y="262745"/>
                </a:cubicBezTo>
                <a:cubicBezTo>
                  <a:pt x="892885" y="312280"/>
                  <a:pt x="816679" y="317360"/>
                  <a:pt x="767144" y="272906"/>
                </a:cubicBezTo>
                <a:cubicBezTo>
                  <a:pt x="767144" y="272906"/>
                  <a:pt x="767144" y="272906"/>
                  <a:pt x="767144" y="272906"/>
                </a:cubicBezTo>
                <a:lnTo>
                  <a:pt x="676967" y="192890"/>
                </a:lnTo>
                <a:lnTo>
                  <a:pt x="756984" y="102712"/>
                </a:lnTo>
                <a:close/>
                <a:moveTo>
                  <a:pt x="339118" y="92551"/>
                </a:moveTo>
                <a:cubicBezTo>
                  <a:pt x="361980" y="72230"/>
                  <a:pt x="389923" y="62069"/>
                  <a:pt x="419135" y="62069"/>
                </a:cubicBezTo>
                <a:cubicBezTo>
                  <a:pt x="421675" y="62069"/>
                  <a:pt x="424216" y="62069"/>
                  <a:pt x="426756" y="62069"/>
                </a:cubicBezTo>
                <a:cubicBezTo>
                  <a:pt x="458509" y="63339"/>
                  <a:pt x="488991" y="78580"/>
                  <a:pt x="509313" y="102712"/>
                </a:cubicBezTo>
                <a:lnTo>
                  <a:pt x="589329" y="192890"/>
                </a:lnTo>
                <a:lnTo>
                  <a:pt x="499152" y="272906"/>
                </a:lnTo>
                <a:cubicBezTo>
                  <a:pt x="499152" y="272906"/>
                  <a:pt x="499152" y="272906"/>
                  <a:pt x="499152" y="272906"/>
                </a:cubicBezTo>
                <a:cubicBezTo>
                  <a:pt x="475020" y="294498"/>
                  <a:pt x="443267" y="304659"/>
                  <a:pt x="411515" y="303389"/>
                </a:cubicBezTo>
                <a:cubicBezTo>
                  <a:pt x="379762" y="300849"/>
                  <a:pt x="349279" y="286878"/>
                  <a:pt x="328958" y="262745"/>
                </a:cubicBezTo>
                <a:cubicBezTo>
                  <a:pt x="284504" y="213211"/>
                  <a:pt x="288314" y="137005"/>
                  <a:pt x="339118" y="92551"/>
                </a:cubicBezTo>
                <a:close/>
                <a:moveTo>
                  <a:pt x="283234" y="303389"/>
                </a:moveTo>
                <a:cubicBezTo>
                  <a:pt x="314987" y="338952"/>
                  <a:pt x="359441" y="360544"/>
                  <a:pt x="407704" y="364354"/>
                </a:cubicBezTo>
                <a:cubicBezTo>
                  <a:pt x="411515" y="364354"/>
                  <a:pt x="415325" y="364354"/>
                  <a:pt x="419135" y="364354"/>
                </a:cubicBezTo>
                <a:cubicBezTo>
                  <a:pt x="463589" y="364354"/>
                  <a:pt x="505503" y="347843"/>
                  <a:pt x="539795" y="318630"/>
                </a:cubicBezTo>
                <a:lnTo>
                  <a:pt x="565197" y="297038"/>
                </a:lnTo>
                <a:lnTo>
                  <a:pt x="546146" y="346573"/>
                </a:lnTo>
                <a:cubicBezTo>
                  <a:pt x="535985" y="374515"/>
                  <a:pt x="515663" y="396107"/>
                  <a:pt x="487721" y="408808"/>
                </a:cubicBezTo>
                <a:cubicBezTo>
                  <a:pt x="483911" y="411348"/>
                  <a:pt x="480101" y="413888"/>
                  <a:pt x="475020" y="416428"/>
                </a:cubicBezTo>
                <a:lnTo>
                  <a:pt x="146062" y="333871"/>
                </a:lnTo>
                <a:lnTo>
                  <a:pt x="276884" y="295768"/>
                </a:lnTo>
                <a:cubicBezTo>
                  <a:pt x="279423" y="297038"/>
                  <a:pt x="280694" y="300849"/>
                  <a:pt x="283234" y="303389"/>
                </a:cubicBezTo>
                <a:close/>
                <a:moveTo>
                  <a:pt x="60966" y="373245"/>
                </a:moveTo>
                <a:lnTo>
                  <a:pt x="302286" y="434210"/>
                </a:lnTo>
                <a:lnTo>
                  <a:pt x="302286" y="1126418"/>
                </a:lnTo>
                <a:lnTo>
                  <a:pt x="60966" y="1065452"/>
                </a:lnTo>
                <a:lnTo>
                  <a:pt x="60966" y="373245"/>
                </a:lnTo>
                <a:close/>
                <a:moveTo>
                  <a:pt x="665536" y="509146"/>
                </a:moveTo>
                <a:lnTo>
                  <a:pt x="783655" y="479934"/>
                </a:lnTo>
                <a:cubicBezTo>
                  <a:pt x="815408" y="507876"/>
                  <a:pt x="829380" y="549789"/>
                  <a:pt x="819218" y="591703"/>
                </a:cubicBezTo>
                <a:lnTo>
                  <a:pt x="811598" y="620915"/>
                </a:lnTo>
                <a:cubicBezTo>
                  <a:pt x="803978" y="651398"/>
                  <a:pt x="805247" y="683150"/>
                  <a:pt x="814138" y="712363"/>
                </a:cubicBezTo>
                <a:cubicBezTo>
                  <a:pt x="817948" y="725064"/>
                  <a:pt x="830650" y="733955"/>
                  <a:pt x="843351" y="733955"/>
                </a:cubicBezTo>
                <a:cubicBezTo>
                  <a:pt x="845891" y="733955"/>
                  <a:pt x="849701" y="733955"/>
                  <a:pt x="852242" y="732685"/>
                </a:cubicBezTo>
                <a:cubicBezTo>
                  <a:pt x="868753" y="727604"/>
                  <a:pt x="877644" y="711093"/>
                  <a:pt x="872563" y="694582"/>
                </a:cubicBezTo>
                <a:cubicBezTo>
                  <a:pt x="866212" y="675530"/>
                  <a:pt x="866212" y="653938"/>
                  <a:pt x="871293" y="634887"/>
                </a:cubicBezTo>
                <a:lnTo>
                  <a:pt x="878913" y="606944"/>
                </a:lnTo>
                <a:cubicBezTo>
                  <a:pt x="891614" y="556140"/>
                  <a:pt x="880184" y="504066"/>
                  <a:pt x="850971" y="463422"/>
                </a:cubicBezTo>
                <a:lnTo>
                  <a:pt x="908126" y="449451"/>
                </a:lnTo>
                <a:lnTo>
                  <a:pt x="908126" y="1141659"/>
                </a:lnTo>
                <a:lnTo>
                  <a:pt x="666806" y="1202624"/>
                </a:lnTo>
                <a:lnTo>
                  <a:pt x="666806" y="509146"/>
                </a:lnTo>
                <a:close/>
                <a:moveTo>
                  <a:pt x="1207871" y="1066723"/>
                </a:moveTo>
                <a:lnTo>
                  <a:pt x="966551" y="1127687"/>
                </a:lnTo>
                <a:lnTo>
                  <a:pt x="966551" y="435480"/>
                </a:lnTo>
                <a:lnTo>
                  <a:pt x="1207871" y="374515"/>
                </a:lnTo>
                <a:lnTo>
                  <a:pt x="1207871" y="1066723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4EE70FEC-ED54-4D48-B44F-B902791E8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449" y="4796376"/>
            <a:ext cx="1080000" cy="1080000"/>
          </a:xfrm>
          <a:prstGeom prst="ellipse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F0A7B05-ECDD-4395-A0E1-7C2EF132E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759146"/>
            <a:ext cx="1082805" cy="1080000"/>
          </a:xfrm>
          <a:prstGeom prst="ellipse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1CD822B-DADA-44FD-9EFB-D13BD33D508C}"/>
              </a:ext>
            </a:extLst>
          </p:cNvPr>
          <p:cNvSpPr txBox="1"/>
          <p:nvPr/>
        </p:nvSpPr>
        <p:spPr>
          <a:xfrm>
            <a:off x="6674150" y="5017956"/>
            <a:ext cx="1407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➜</a:t>
            </a:r>
            <a:r>
              <a:rPr lang="ru-RU" sz="1200" dirty="0">
                <a:solidFill>
                  <a:schemeClr val="bg1"/>
                </a:solidFill>
              </a:rPr>
              <a:t> Игорь </a:t>
            </a:r>
            <a:r>
              <a:rPr lang="ru-RU" sz="1200" dirty="0" err="1">
                <a:solidFill>
                  <a:schemeClr val="bg1"/>
                </a:solidFill>
              </a:rPr>
              <a:t>Дикинов</a:t>
            </a:r>
            <a:r>
              <a:rPr lang="ru-RU" sz="1200" dirty="0">
                <a:solidFill>
                  <a:schemeClr val="bg1"/>
                </a:solidFill>
              </a:rPr>
              <a:t>, Владелец  </a:t>
            </a:r>
            <a:r>
              <a:rPr lang="en-US" sz="1200" dirty="0">
                <a:solidFill>
                  <a:schemeClr val="bg1"/>
                </a:solidFill>
              </a:rPr>
              <a:t>MRP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54A1632-9849-4580-BB9B-F9328F8F26B2}"/>
              </a:ext>
            </a:extLst>
          </p:cNvPr>
          <p:cNvSpPr/>
          <p:nvPr/>
        </p:nvSpPr>
        <p:spPr>
          <a:xfrm>
            <a:off x="8748584" y="-466092"/>
            <a:ext cx="2685535" cy="358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Объявить регламент</a:t>
            </a:r>
          </a:p>
        </p:txBody>
      </p:sp>
    </p:spTree>
    <p:extLst>
      <p:ext uri="{BB962C8B-B14F-4D97-AF65-F5344CB8AC3E}">
        <p14:creationId xmlns:p14="http://schemas.microsoft.com/office/powerpoint/2010/main" val="343548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4698;p1">
            <a:extLst>
              <a:ext uri="{FF2B5EF4-FFF2-40B4-BE49-F238E27FC236}">
                <a16:creationId xmlns:a16="http://schemas.microsoft.com/office/drawing/2014/main" id="{A28FA547-5CB0-4C9E-584C-9F2CB1DACEA0}"/>
              </a:ext>
            </a:extLst>
          </p:cNvPr>
          <p:cNvSpPr/>
          <p:nvPr/>
        </p:nvSpPr>
        <p:spPr>
          <a:xfrm>
            <a:off x="1552035" y="1031787"/>
            <a:ext cx="9583293" cy="5112450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SemiBold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42648F-1F72-88DC-FC11-609F21A37E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ExtraLight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ExtraLight" pitchFamily="2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E3601E-F55A-797E-9103-2C973A93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In</a:t>
            </a:r>
            <a:r>
              <a:rPr lang="en-US" sz="2400" dirty="0">
                <a:solidFill>
                  <a:srgbClr val="9000FF"/>
                </a:solidFill>
              </a:rPr>
              <a:t>.</a:t>
            </a:r>
            <a:r>
              <a:rPr lang="en-US" sz="2400" dirty="0"/>
              <a:t>Plan</a:t>
            </a:r>
            <a:r>
              <a:rPr lang="ru-RU" sz="2400" dirty="0"/>
              <a:t>: карта модулей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BBE3D-DF1D-58CC-8006-69975FAA6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ExtraLight" pitchFamily="2" charset="0"/>
                <a:ea typeface="+mn-ea"/>
                <a:cs typeface="+mn-cs"/>
              </a:rPr>
              <a:t>ООО "АксТим Тех" 2025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ExtraLight" pitchFamily="2" charset="0"/>
              <a:ea typeface="+mn-ea"/>
              <a:cs typeface="+mn-cs"/>
            </a:endParaRPr>
          </a:p>
        </p:txBody>
      </p:sp>
      <p:sp>
        <p:nvSpPr>
          <p:cNvPr id="6" name="Прямоугольник 37">
            <a:extLst>
              <a:ext uri="{FF2B5EF4-FFF2-40B4-BE49-F238E27FC236}">
                <a16:creationId xmlns:a16="http://schemas.microsoft.com/office/drawing/2014/main" id="{0114EEFF-3177-BD65-905E-2CCCA5A0DB3F}"/>
              </a:ext>
            </a:extLst>
          </p:cNvPr>
          <p:cNvSpPr/>
          <p:nvPr/>
        </p:nvSpPr>
        <p:spPr>
          <a:xfrm>
            <a:off x="910715" y="1558604"/>
            <a:ext cx="1278604" cy="4435917"/>
          </a:xfrm>
          <a:prstGeom prst="rect">
            <a:avLst/>
          </a:prstGeom>
          <a:solidFill>
            <a:srgbClr val="D9D9D9"/>
          </a:solidFill>
          <a:ln w="31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ETL Tool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Excel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API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</p:txBody>
      </p:sp>
      <p:sp>
        <p:nvSpPr>
          <p:cNvPr id="7" name="Прямоугольник 38">
            <a:extLst>
              <a:ext uri="{FF2B5EF4-FFF2-40B4-BE49-F238E27FC236}">
                <a16:creationId xmlns:a16="http://schemas.microsoft.com/office/drawing/2014/main" id="{8F43DD62-91DB-0087-C693-56C8FA27EC4B}"/>
              </a:ext>
            </a:extLst>
          </p:cNvPr>
          <p:cNvSpPr/>
          <p:nvPr/>
        </p:nvSpPr>
        <p:spPr>
          <a:xfrm>
            <a:off x="2306315" y="3949083"/>
            <a:ext cx="8683464" cy="1349016"/>
          </a:xfrm>
          <a:prstGeom prst="rect">
            <a:avLst/>
          </a:prstGeom>
          <a:solidFill>
            <a:schemeClr val="bg2">
              <a:lumMod val="95000"/>
            </a:schemeClr>
          </a:solidFill>
          <a:ln w="3175" cap="flat" cmpd="sng">
            <a:solidFill>
              <a:schemeClr val="bg2">
                <a:lumMod val="6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Платформа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</p:txBody>
      </p:sp>
      <p:sp>
        <p:nvSpPr>
          <p:cNvPr id="8" name="Прямоугольник 40">
            <a:extLst>
              <a:ext uri="{FF2B5EF4-FFF2-40B4-BE49-F238E27FC236}">
                <a16:creationId xmlns:a16="http://schemas.microsoft.com/office/drawing/2014/main" id="{E65CBCBA-2CB7-28EA-6EE2-98915EC0DE41}"/>
              </a:ext>
            </a:extLst>
          </p:cNvPr>
          <p:cNvSpPr/>
          <p:nvPr/>
        </p:nvSpPr>
        <p:spPr>
          <a:xfrm>
            <a:off x="5386178" y="4340396"/>
            <a:ext cx="2549471" cy="647024"/>
          </a:xfrm>
          <a:prstGeom prst="rect">
            <a:avLst/>
          </a:prstGeom>
          <a:solidFill>
            <a:schemeClr val="tx1">
              <a:lumMod val="65000"/>
              <a:lumOff val="35000"/>
              <a:alpha val="58000"/>
            </a:schemeClr>
          </a:solidFill>
          <a:ln w="63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21900" rIns="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Платформенные компоненты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Конструкторы, возможности стандартных экранов, Менеджер процессов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и т.д.</a:t>
            </a:r>
          </a:p>
        </p:txBody>
      </p:sp>
      <p:sp>
        <p:nvSpPr>
          <p:cNvPr id="9" name="Прямоугольник 41">
            <a:extLst>
              <a:ext uri="{FF2B5EF4-FFF2-40B4-BE49-F238E27FC236}">
                <a16:creationId xmlns:a16="http://schemas.microsoft.com/office/drawing/2014/main" id="{B24C4C03-B24B-E699-97A6-BA927907BA50}"/>
              </a:ext>
            </a:extLst>
          </p:cNvPr>
          <p:cNvSpPr/>
          <p:nvPr/>
        </p:nvSpPr>
        <p:spPr>
          <a:xfrm>
            <a:off x="8337890" y="4340396"/>
            <a:ext cx="2549471" cy="647024"/>
          </a:xfrm>
          <a:prstGeom prst="rect">
            <a:avLst/>
          </a:prstGeom>
          <a:solidFill>
            <a:schemeClr val="tx1">
              <a:lumMod val="65000"/>
              <a:lumOff val="35000"/>
              <a:alpha val="58000"/>
            </a:schemeClr>
          </a:solidFill>
          <a:ln w="63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21900" rIns="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BI-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Отчетность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Оперативная отчетность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 /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Dashboard’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ы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</p:txBody>
      </p:sp>
      <p:sp>
        <p:nvSpPr>
          <p:cNvPr id="10" name="Google Shape;4689;p1">
            <a:extLst>
              <a:ext uri="{FF2B5EF4-FFF2-40B4-BE49-F238E27FC236}">
                <a16:creationId xmlns:a16="http://schemas.microsoft.com/office/drawing/2014/main" id="{FDB8F579-4943-67F9-99D6-2EEC15AB6B48}"/>
              </a:ext>
            </a:extLst>
          </p:cNvPr>
          <p:cNvSpPr/>
          <p:nvPr/>
        </p:nvSpPr>
        <p:spPr>
          <a:xfrm>
            <a:off x="2306315" y="1558604"/>
            <a:ext cx="2872265" cy="2271202"/>
          </a:xfrm>
          <a:prstGeom prst="rect">
            <a:avLst/>
          </a:prstGeom>
          <a:solidFill>
            <a:schemeClr val="bg2">
              <a:lumMod val="95000"/>
            </a:schemeClr>
          </a:solidFill>
          <a:ln w="317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25" tIns="24350" rIns="60925" bIns="60925" anchor="t" anchorCtr="0">
            <a:noAutofit/>
          </a:bodyPr>
          <a:lstStyle/>
          <a:p>
            <a:pPr marL="9905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689;p1">
            <a:extLst>
              <a:ext uri="{FF2B5EF4-FFF2-40B4-BE49-F238E27FC236}">
                <a16:creationId xmlns:a16="http://schemas.microsoft.com/office/drawing/2014/main" id="{073A0BA6-9CE6-C524-DEFE-F3855C9CF721}"/>
              </a:ext>
            </a:extLst>
          </p:cNvPr>
          <p:cNvSpPr/>
          <p:nvPr/>
        </p:nvSpPr>
        <p:spPr>
          <a:xfrm>
            <a:off x="7837257" y="1558604"/>
            <a:ext cx="3152522" cy="2270377"/>
          </a:xfrm>
          <a:prstGeom prst="rect">
            <a:avLst/>
          </a:prstGeom>
          <a:solidFill>
            <a:schemeClr val="bg2">
              <a:lumMod val="95000"/>
            </a:schemeClr>
          </a:solidFill>
          <a:ln w="3175" cap="flat" cmpd="sng">
            <a:solidFill>
              <a:schemeClr val="bg2">
                <a:lumMod val="6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25" tIns="24350" rIns="60925" bIns="60925" anchor="t" anchorCtr="0">
            <a:noAutofit/>
          </a:bodyPr>
          <a:lstStyle/>
          <a:p>
            <a:pPr marL="9905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Прямоугольник 46">
            <a:extLst>
              <a:ext uri="{FF2B5EF4-FFF2-40B4-BE49-F238E27FC236}">
                <a16:creationId xmlns:a16="http://schemas.microsoft.com/office/drawing/2014/main" id="{439C040D-5EBF-8112-E620-B3E5F63DEB0F}"/>
              </a:ext>
            </a:extLst>
          </p:cNvPr>
          <p:cNvSpPr/>
          <p:nvPr/>
        </p:nvSpPr>
        <p:spPr>
          <a:xfrm>
            <a:off x="2777438" y="1610316"/>
            <a:ext cx="2054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SemiBold" pitchFamily="2" charset="0"/>
                <a:ea typeface="+mn-ea"/>
                <a:cs typeface="Arial"/>
              </a:rPr>
              <a:t>Управление доходностью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SemiBold" pitchFamily="2" charset="0"/>
              <a:ea typeface="+mn-ea"/>
              <a:cs typeface="Arial"/>
            </a:endParaRPr>
          </a:p>
        </p:txBody>
      </p:sp>
      <p:sp>
        <p:nvSpPr>
          <p:cNvPr id="13" name="Прямоугольник 47">
            <a:extLst>
              <a:ext uri="{FF2B5EF4-FFF2-40B4-BE49-F238E27FC236}">
                <a16:creationId xmlns:a16="http://schemas.microsoft.com/office/drawing/2014/main" id="{6B6EABB0-71E8-5691-EAC7-35D902F46CAB}"/>
              </a:ext>
            </a:extLst>
          </p:cNvPr>
          <p:cNvSpPr/>
          <p:nvPr/>
        </p:nvSpPr>
        <p:spPr>
          <a:xfrm>
            <a:off x="8337270" y="1608493"/>
            <a:ext cx="2111198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SemiBold" pitchFamily="2" charset="0"/>
                <a:ea typeface="+mn-ea"/>
                <a:cs typeface="Arial"/>
              </a:rPr>
              <a:t>Планирование поставок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SemiBold" pitchFamily="2" charset="0"/>
                <a:ea typeface="+mn-ea"/>
                <a:cs typeface="Arial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SemiBold" pitchFamily="2" charset="0"/>
                <a:ea typeface="+mn-ea"/>
                <a:cs typeface="Arial"/>
              </a:rPr>
              <a:t>и производства</a:t>
            </a:r>
          </a:p>
        </p:txBody>
      </p:sp>
      <p:sp>
        <p:nvSpPr>
          <p:cNvPr id="14" name="Google Shape;4689;p1">
            <a:extLst>
              <a:ext uri="{FF2B5EF4-FFF2-40B4-BE49-F238E27FC236}">
                <a16:creationId xmlns:a16="http://schemas.microsoft.com/office/drawing/2014/main" id="{D2252B16-11F5-0B91-D414-9CAA677B4E4C}"/>
              </a:ext>
            </a:extLst>
          </p:cNvPr>
          <p:cNvSpPr/>
          <p:nvPr/>
        </p:nvSpPr>
        <p:spPr>
          <a:xfrm>
            <a:off x="5291681" y="1556856"/>
            <a:ext cx="2432475" cy="2271202"/>
          </a:xfrm>
          <a:prstGeom prst="rect">
            <a:avLst/>
          </a:prstGeom>
          <a:solidFill>
            <a:schemeClr val="bg2">
              <a:lumMod val="95000"/>
            </a:schemeClr>
          </a:solidFill>
          <a:ln w="3175" cap="flat" cmpd="sng">
            <a:solidFill>
              <a:schemeClr val="bg2">
                <a:lumMod val="6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25" tIns="24350" rIns="60925" bIns="60925" anchor="t" anchorCtr="0">
            <a:noAutofit/>
          </a:bodyPr>
          <a:lstStyle/>
          <a:p>
            <a:pPr marL="9905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Прямоугольник 49">
            <a:extLst>
              <a:ext uri="{FF2B5EF4-FFF2-40B4-BE49-F238E27FC236}">
                <a16:creationId xmlns:a16="http://schemas.microsoft.com/office/drawing/2014/main" id="{63FFF94C-BDBD-874C-81E8-FDDA6CA54258}"/>
              </a:ext>
            </a:extLst>
          </p:cNvPr>
          <p:cNvSpPr/>
          <p:nvPr/>
        </p:nvSpPr>
        <p:spPr>
          <a:xfrm>
            <a:off x="5759976" y="1615523"/>
            <a:ext cx="1431713" cy="37165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SemiBold" pitchFamily="2" charset="0"/>
                <a:ea typeface="+mn-ea"/>
                <a:cs typeface="Arial"/>
                <a:sym typeface="Arial"/>
              </a:rPr>
              <a:t>Планирование спроса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SemiBold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F7EB93-95D1-397A-C014-195954A51999}"/>
              </a:ext>
            </a:extLst>
          </p:cNvPr>
          <p:cNvSpPr txBox="1"/>
          <p:nvPr/>
        </p:nvSpPr>
        <p:spPr>
          <a:xfrm>
            <a:off x="5816122" y="3367089"/>
            <a:ext cx="1578852" cy="244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Отдел планирования спроса</a:t>
            </a:r>
          </a:p>
        </p:txBody>
      </p:sp>
      <p:sp>
        <p:nvSpPr>
          <p:cNvPr id="19" name="Рисунок 8">
            <a:extLst>
              <a:ext uri="{FF2B5EF4-FFF2-40B4-BE49-F238E27FC236}">
                <a16:creationId xmlns:a16="http://schemas.microsoft.com/office/drawing/2014/main" id="{C7149639-35F3-CD97-E5CC-7ABB1C3F279B}"/>
              </a:ext>
            </a:extLst>
          </p:cNvPr>
          <p:cNvSpPr/>
          <p:nvPr/>
        </p:nvSpPr>
        <p:spPr>
          <a:xfrm>
            <a:off x="5566229" y="3405448"/>
            <a:ext cx="145862" cy="167753"/>
          </a:xfrm>
          <a:custGeom>
            <a:avLst/>
            <a:gdLst>
              <a:gd name="connsiteX0" fmla="*/ 1801978 w 3608832"/>
              <a:gd name="connsiteY0" fmla="*/ 1860499 h 4389120"/>
              <a:gd name="connsiteX1" fmla="*/ 890016 w 3608832"/>
              <a:gd name="connsiteY1" fmla="*/ 948538 h 4389120"/>
              <a:gd name="connsiteX2" fmla="*/ 1801978 w 3608832"/>
              <a:gd name="connsiteY2" fmla="*/ 36576 h 4389120"/>
              <a:gd name="connsiteX3" fmla="*/ 2713939 w 3608832"/>
              <a:gd name="connsiteY3" fmla="*/ 948538 h 4389120"/>
              <a:gd name="connsiteX4" fmla="*/ 1801978 w 3608832"/>
              <a:gd name="connsiteY4" fmla="*/ 1860499 h 4389120"/>
              <a:gd name="connsiteX5" fmla="*/ 1801978 w 3608832"/>
              <a:gd name="connsiteY5" fmla="*/ 231648 h 4389120"/>
              <a:gd name="connsiteX6" fmla="*/ 1085088 w 3608832"/>
              <a:gd name="connsiteY6" fmla="*/ 948538 h 4389120"/>
              <a:gd name="connsiteX7" fmla="*/ 1801978 w 3608832"/>
              <a:gd name="connsiteY7" fmla="*/ 1665427 h 4389120"/>
              <a:gd name="connsiteX8" fmla="*/ 2518867 w 3608832"/>
              <a:gd name="connsiteY8" fmla="*/ 948538 h 4389120"/>
              <a:gd name="connsiteX9" fmla="*/ 1801978 w 3608832"/>
              <a:gd name="connsiteY9" fmla="*/ 231648 h 4389120"/>
              <a:gd name="connsiteX10" fmla="*/ 3474720 w 3608832"/>
              <a:gd name="connsiteY10" fmla="*/ 4357421 h 4389120"/>
              <a:gd name="connsiteX11" fmla="*/ 134112 w 3608832"/>
              <a:gd name="connsiteY11" fmla="*/ 4357421 h 4389120"/>
              <a:gd name="connsiteX12" fmla="*/ 36576 w 3608832"/>
              <a:gd name="connsiteY12" fmla="*/ 4259885 h 4389120"/>
              <a:gd name="connsiteX13" fmla="*/ 36576 w 3608832"/>
              <a:gd name="connsiteY13" fmla="*/ 3903879 h 4389120"/>
              <a:gd name="connsiteX14" fmla="*/ 1806854 w 3608832"/>
              <a:gd name="connsiteY14" fmla="*/ 2133600 h 4389120"/>
              <a:gd name="connsiteX15" fmla="*/ 3577133 w 3608832"/>
              <a:gd name="connsiteY15" fmla="*/ 3903879 h 4389120"/>
              <a:gd name="connsiteX16" fmla="*/ 3577133 w 3608832"/>
              <a:gd name="connsiteY16" fmla="*/ 4259885 h 4389120"/>
              <a:gd name="connsiteX17" fmla="*/ 3474720 w 3608832"/>
              <a:gd name="connsiteY17" fmla="*/ 4357421 h 4389120"/>
              <a:gd name="connsiteX18" fmla="*/ 231648 w 3608832"/>
              <a:gd name="connsiteY18" fmla="*/ 4162349 h 4389120"/>
              <a:gd name="connsiteX19" fmla="*/ 3377184 w 3608832"/>
              <a:gd name="connsiteY19" fmla="*/ 4162349 h 4389120"/>
              <a:gd name="connsiteX20" fmla="*/ 3377184 w 3608832"/>
              <a:gd name="connsiteY20" fmla="*/ 3903879 h 4389120"/>
              <a:gd name="connsiteX21" fmla="*/ 1801978 w 3608832"/>
              <a:gd name="connsiteY21" fmla="*/ 2328672 h 4389120"/>
              <a:gd name="connsiteX22" fmla="*/ 231648 w 3608832"/>
              <a:gd name="connsiteY22" fmla="*/ 3908755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08832" h="4389120">
                <a:moveTo>
                  <a:pt x="1801978" y="1860499"/>
                </a:moveTo>
                <a:cubicBezTo>
                  <a:pt x="1299667" y="1860499"/>
                  <a:pt x="890016" y="1450848"/>
                  <a:pt x="890016" y="948538"/>
                </a:cubicBezTo>
                <a:cubicBezTo>
                  <a:pt x="890016" y="446227"/>
                  <a:pt x="1299667" y="36576"/>
                  <a:pt x="1801978" y="36576"/>
                </a:cubicBezTo>
                <a:cubicBezTo>
                  <a:pt x="2304288" y="36576"/>
                  <a:pt x="2713939" y="446227"/>
                  <a:pt x="2713939" y="948538"/>
                </a:cubicBezTo>
                <a:cubicBezTo>
                  <a:pt x="2713939" y="1450848"/>
                  <a:pt x="2304288" y="1860499"/>
                  <a:pt x="1801978" y="1860499"/>
                </a:cubicBezTo>
                <a:close/>
                <a:moveTo>
                  <a:pt x="1801978" y="231648"/>
                </a:moveTo>
                <a:cubicBezTo>
                  <a:pt x="1406957" y="231648"/>
                  <a:pt x="1085088" y="553517"/>
                  <a:pt x="1085088" y="948538"/>
                </a:cubicBezTo>
                <a:cubicBezTo>
                  <a:pt x="1085088" y="1343558"/>
                  <a:pt x="1406957" y="1665427"/>
                  <a:pt x="1801978" y="1665427"/>
                </a:cubicBezTo>
                <a:cubicBezTo>
                  <a:pt x="2196998" y="1665427"/>
                  <a:pt x="2518867" y="1343558"/>
                  <a:pt x="2518867" y="948538"/>
                </a:cubicBezTo>
                <a:cubicBezTo>
                  <a:pt x="2518867" y="553517"/>
                  <a:pt x="2196998" y="231648"/>
                  <a:pt x="1801978" y="231648"/>
                </a:cubicBezTo>
                <a:close/>
                <a:moveTo>
                  <a:pt x="3474720" y="4357421"/>
                </a:moveTo>
                <a:lnTo>
                  <a:pt x="134112" y="4357421"/>
                </a:lnTo>
                <a:cubicBezTo>
                  <a:pt x="80467" y="4357421"/>
                  <a:pt x="36576" y="4313530"/>
                  <a:pt x="36576" y="4259885"/>
                </a:cubicBezTo>
                <a:lnTo>
                  <a:pt x="36576" y="3903879"/>
                </a:lnTo>
                <a:cubicBezTo>
                  <a:pt x="36576" y="2928519"/>
                  <a:pt x="831494" y="2133600"/>
                  <a:pt x="1806854" y="2133600"/>
                </a:cubicBezTo>
                <a:cubicBezTo>
                  <a:pt x="2782214" y="2133600"/>
                  <a:pt x="3577133" y="2928519"/>
                  <a:pt x="3577133" y="3903879"/>
                </a:cubicBezTo>
                <a:lnTo>
                  <a:pt x="3577133" y="4259885"/>
                </a:lnTo>
                <a:cubicBezTo>
                  <a:pt x="3572256" y="4313530"/>
                  <a:pt x="3528365" y="4357421"/>
                  <a:pt x="3474720" y="4357421"/>
                </a:cubicBezTo>
                <a:close/>
                <a:moveTo>
                  <a:pt x="231648" y="4162349"/>
                </a:moveTo>
                <a:lnTo>
                  <a:pt x="3377184" y="4162349"/>
                </a:lnTo>
                <a:lnTo>
                  <a:pt x="3377184" y="3903879"/>
                </a:lnTo>
                <a:cubicBezTo>
                  <a:pt x="3377184" y="3035808"/>
                  <a:pt x="2670048" y="2328672"/>
                  <a:pt x="1801978" y="2328672"/>
                </a:cubicBezTo>
                <a:cubicBezTo>
                  <a:pt x="933907" y="2328672"/>
                  <a:pt x="231648" y="3040685"/>
                  <a:pt x="231648" y="390875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</p:txBody>
      </p:sp>
      <p:grpSp>
        <p:nvGrpSpPr>
          <p:cNvPr id="20" name="Группа 56">
            <a:extLst>
              <a:ext uri="{FF2B5EF4-FFF2-40B4-BE49-F238E27FC236}">
                <a16:creationId xmlns:a16="http://schemas.microsoft.com/office/drawing/2014/main" id="{9CA58D83-E535-B914-2681-835B02B462B3}"/>
              </a:ext>
            </a:extLst>
          </p:cNvPr>
          <p:cNvGrpSpPr/>
          <p:nvPr/>
        </p:nvGrpSpPr>
        <p:grpSpPr>
          <a:xfrm>
            <a:off x="2521222" y="3407196"/>
            <a:ext cx="1612484" cy="167753"/>
            <a:chOff x="2454110" y="4214268"/>
            <a:chExt cx="1612484" cy="16775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637F22-5D34-5A95-31DB-4E6861911E34}"/>
                </a:ext>
              </a:extLst>
            </p:cNvPr>
            <p:cNvSpPr txBox="1"/>
            <p:nvPr/>
          </p:nvSpPr>
          <p:spPr>
            <a:xfrm>
              <a:off x="2694674" y="4218601"/>
              <a:ext cx="1371920" cy="15908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Manrope Medium" pitchFamily="2" charset="0"/>
                  <a:ea typeface="+mn-ea"/>
                  <a:cs typeface="+mn-cs"/>
                </a:rPr>
                <a:t>Коммерческий отдел</a:t>
              </a:r>
            </a:p>
          </p:txBody>
        </p:sp>
        <p:sp>
          <p:nvSpPr>
            <p:cNvPr id="22" name="Рисунок 8">
              <a:extLst>
                <a:ext uri="{FF2B5EF4-FFF2-40B4-BE49-F238E27FC236}">
                  <a16:creationId xmlns:a16="http://schemas.microsoft.com/office/drawing/2014/main" id="{F66932B2-6229-D17E-C7A5-191195D90EDE}"/>
                </a:ext>
              </a:extLst>
            </p:cNvPr>
            <p:cNvSpPr/>
            <p:nvPr/>
          </p:nvSpPr>
          <p:spPr>
            <a:xfrm>
              <a:off x="2454110" y="4214268"/>
              <a:ext cx="145862" cy="167753"/>
            </a:xfrm>
            <a:custGeom>
              <a:avLst/>
              <a:gdLst>
                <a:gd name="connsiteX0" fmla="*/ 1801978 w 3608832"/>
                <a:gd name="connsiteY0" fmla="*/ 1860499 h 4389120"/>
                <a:gd name="connsiteX1" fmla="*/ 890016 w 3608832"/>
                <a:gd name="connsiteY1" fmla="*/ 948538 h 4389120"/>
                <a:gd name="connsiteX2" fmla="*/ 1801978 w 3608832"/>
                <a:gd name="connsiteY2" fmla="*/ 36576 h 4389120"/>
                <a:gd name="connsiteX3" fmla="*/ 2713939 w 3608832"/>
                <a:gd name="connsiteY3" fmla="*/ 948538 h 4389120"/>
                <a:gd name="connsiteX4" fmla="*/ 1801978 w 3608832"/>
                <a:gd name="connsiteY4" fmla="*/ 1860499 h 4389120"/>
                <a:gd name="connsiteX5" fmla="*/ 1801978 w 3608832"/>
                <a:gd name="connsiteY5" fmla="*/ 231648 h 4389120"/>
                <a:gd name="connsiteX6" fmla="*/ 1085088 w 3608832"/>
                <a:gd name="connsiteY6" fmla="*/ 948538 h 4389120"/>
                <a:gd name="connsiteX7" fmla="*/ 1801978 w 3608832"/>
                <a:gd name="connsiteY7" fmla="*/ 1665427 h 4389120"/>
                <a:gd name="connsiteX8" fmla="*/ 2518867 w 3608832"/>
                <a:gd name="connsiteY8" fmla="*/ 948538 h 4389120"/>
                <a:gd name="connsiteX9" fmla="*/ 1801978 w 3608832"/>
                <a:gd name="connsiteY9" fmla="*/ 231648 h 4389120"/>
                <a:gd name="connsiteX10" fmla="*/ 3474720 w 3608832"/>
                <a:gd name="connsiteY10" fmla="*/ 4357421 h 4389120"/>
                <a:gd name="connsiteX11" fmla="*/ 134112 w 3608832"/>
                <a:gd name="connsiteY11" fmla="*/ 4357421 h 4389120"/>
                <a:gd name="connsiteX12" fmla="*/ 36576 w 3608832"/>
                <a:gd name="connsiteY12" fmla="*/ 4259885 h 4389120"/>
                <a:gd name="connsiteX13" fmla="*/ 36576 w 3608832"/>
                <a:gd name="connsiteY13" fmla="*/ 3903879 h 4389120"/>
                <a:gd name="connsiteX14" fmla="*/ 1806854 w 3608832"/>
                <a:gd name="connsiteY14" fmla="*/ 2133600 h 4389120"/>
                <a:gd name="connsiteX15" fmla="*/ 3577133 w 3608832"/>
                <a:gd name="connsiteY15" fmla="*/ 3903879 h 4389120"/>
                <a:gd name="connsiteX16" fmla="*/ 3577133 w 3608832"/>
                <a:gd name="connsiteY16" fmla="*/ 4259885 h 4389120"/>
                <a:gd name="connsiteX17" fmla="*/ 3474720 w 3608832"/>
                <a:gd name="connsiteY17" fmla="*/ 4357421 h 4389120"/>
                <a:gd name="connsiteX18" fmla="*/ 231648 w 3608832"/>
                <a:gd name="connsiteY18" fmla="*/ 4162349 h 4389120"/>
                <a:gd name="connsiteX19" fmla="*/ 3377184 w 3608832"/>
                <a:gd name="connsiteY19" fmla="*/ 4162349 h 4389120"/>
                <a:gd name="connsiteX20" fmla="*/ 3377184 w 3608832"/>
                <a:gd name="connsiteY20" fmla="*/ 3903879 h 4389120"/>
                <a:gd name="connsiteX21" fmla="*/ 1801978 w 3608832"/>
                <a:gd name="connsiteY21" fmla="*/ 2328672 h 4389120"/>
                <a:gd name="connsiteX22" fmla="*/ 231648 w 3608832"/>
                <a:gd name="connsiteY22" fmla="*/ 3908755 h 438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08832" h="4389120">
                  <a:moveTo>
                    <a:pt x="1801978" y="1860499"/>
                  </a:moveTo>
                  <a:cubicBezTo>
                    <a:pt x="1299667" y="1860499"/>
                    <a:pt x="890016" y="1450848"/>
                    <a:pt x="890016" y="948538"/>
                  </a:cubicBezTo>
                  <a:cubicBezTo>
                    <a:pt x="890016" y="446227"/>
                    <a:pt x="1299667" y="36576"/>
                    <a:pt x="1801978" y="36576"/>
                  </a:cubicBezTo>
                  <a:cubicBezTo>
                    <a:pt x="2304288" y="36576"/>
                    <a:pt x="2713939" y="446227"/>
                    <a:pt x="2713939" y="948538"/>
                  </a:cubicBezTo>
                  <a:cubicBezTo>
                    <a:pt x="2713939" y="1450848"/>
                    <a:pt x="2304288" y="1860499"/>
                    <a:pt x="1801978" y="1860499"/>
                  </a:cubicBezTo>
                  <a:close/>
                  <a:moveTo>
                    <a:pt x="1801978" y="231648"/>
                  </a:moveTo>
                  <a:cubicBezTo>
                    <a:pt x="1406957" y="231648"/>
                    <a:pt x="1085088" y="553517"/>
                    <a:pt x="1085088" y="948538"/>
                  </a:cubicBezTo>
                  <a:cubicBezTo>
                    <a:pt x="1085088" y="1343558"/>
                    <a:pt x="1406957" y="1665427"/>
                    <a:pt x="1801978" y="1665427"/>
                  </a:cubicBezTo>
                  <a:cubicBezTo>
                    <a:pt x="2196998" y="1665427"/>
                    <a:pt x="2518867" y="1343558"/>
                    <a:pt x="2518867" y="948538"/>
                  </a:cubicBezTo>
                  <a:cubicBezTo>
                    <a:pt x="2518867" y="553517"/>
                    <a:pt x="2196998" y="231648"/>
                    <a:pt x="1801978" y="231648"/>
                  </a:cubicBezTo>
                  <a:close/>
                  <a:moveTo>
                    <a:pt x="3474720" y="4357421"/>
                  </a:moveTo>
                  <a:lnTo>
                    <a:pt x="134112" y="4357421"/>
                  </a:lnTo>
                  <a:cubicBezTo>
                    <a:pt x="80467" y="4357421"/>
                    <a:pt x="36576" y="4313530"/>
                    <a:pt x="36576" y="4259885"/>
                  </a:cubicBezTo>
                  <a:lnTo>
                    <a:pt x="36576" y="3903879"/>
                  </a:lnTo>
                  <a:cubicBezTo>
                    <a:pt x="36576" y="2928519"/>
                    <a:pt x="831494" y="2133600"/>
                    <a:pt x="1806854" y="2133600"/>
                  </a:cubicBezTo>
                  <a:cubicBezTo>
                    <a:pt x="2782214" y="2133600"/>
                    <a:pt x="3577133" y="2928519"/>
                    <a:pt x="3577133" y="3903879"/>
                  </a:cubicBezTo>
                  <a:lnTo>
                    <a:pt x="3577133" y="4259885"/>
                  </a:lnTo>
                  <a:cubicBezTo>
                    <a:pt x="3572256" y="4313530"/>
                    <a:pt x="3528365" y="4357421"/>
                    <a:pt x="3474720" y="4357421"/>
                  </a:cubicBezTo>
                  <a:close/>
                  <a:moveTo>
                    <a:pt x="231648" y="4162349"/>
                  </a:moveTo>
                  <a:lnTo>
                    <a:pt x="3377184" y="4162349"/>
                  </a:lnTo>
                  <a:lnTo>
                    <a:pt x="3377184" y="3903879"/>
                  </a:lnTo>
                  <a:cubicBezTo>
                    <a:pt x="3377184" y="3035808"/>
                    <a:pt x="2670048" y="2328672"/>
                    <a:pt x="1801978" y="2328672"/>
                  </a:cubicBezTo>
                  <a:cubicBezTo>
                    <a:pt x="933907" y="2328672"/>
                    <a:pt x="231648" y="3040685"/>
                    <a:pt x="231648" y="3908755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endParaRPr>
            </a:p>
          </p:txBody>
        </p:sp>
      </p:grpSp>
      <p:sp>
        <p:nvSpPr>
          <p:cNvPr id="23" name="Прямоугольник 59">
            <a:extLst>
              <a:ext uri="{FF2B5EF4-FFF2-40B4-BE49-F238E27FC236}">
                <a16:creationId xmlns:a16="http://schemas.microsoft.com/office/drawing/2014/main" id="{A764BF1A-8372-2E05-1271-9799BD0809D4}"/>
              </a:ext>
            </a:extLst>
          </p:cNvPr>
          <p:cNvSpPr/>
          <p:nvPr/>
        </p:nvSpPr>
        <p:spPr>
          <a:xfrm>
            <a:off x="2434467" y="2189577"/>
            <a:ext cx="826676" cy="491117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Стратегия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цен</a:t>
            </a:r>
          </a:p>
        </p:txBody>
      </p:sp>
      <p:sp>
        <p:nvSpPr>
          <p:cNvPr id="24" name="Прямоугольник 60">
            <a:extLst>
              <a:ext uri="{FF2B5EF4-FFF2-40B4-BE49-F238E27FC236}">
                <a16:creationId xmlns:a16="http://schemas.microsoft.com/office/drawing/2014/main" id="{B32340CC-E0E1-59AA-E62E-7D1A9677A9AE}"/>
              </a:ext>
            </a:extLst>
          </p:cNvPr>
          <p:cNvSpPr/>
          <p:nvPr/>
        </p:nvSpPr>
        <p:spPr>
          <a:xfrm>
            <a:off x="3323957" y="2189577"/>
            <a:ext cx="951924" cy="491117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Ценовая архитектура</a:t>
            </a:r>
          </a:p>
        </p:txBody>
      </p:sp>
      <p:sp>
        <p:nvSpPr>
          <p:cNvPr id="25" name="Прямоугольник 61">
            <a:extLst>
              <a:ext uri="{FF2B5EF4-FFF2-40B4-BE49-F238E27FC236}">
                <a16:creationId xmlns:a16="http://schemas.microsoft.com/office/drawing/2014/main" id="{7B4D385A-ECA4-118C-7AA9-6947491E225E}"/>
              </a:ext>
            </a:extLst>
          </p:cNvPr>
          <p:cNvSpPr/>
          <p:nvPr/>
        </p:nvSpPr>
        <p:spPr>
          <a:xfrm>
            <a:off x="2434467" y="2721283"/>
            <a:ext cx="826676" cy="491117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Промо</a:t>
            </a:r>
          </a:p>
        </p:txBody>
      </p:sp>
      <p:sp>
        <p:nvSpPr>
          <p:cNvPr id="26" name="Прямоугольник 62">
            <a:extLst>
              <a:ext uri="{FF2B5EF4-FFF2-40B4-BE49-F238E27FC236}">
                <a16:creationId xmlns:a16="http://schemas.microsoft.com/office/drawing/2014/main" id="{A591B22D-A85F-A6AC-BECE-BC366B5BFBBB}"/>
              </a:ext>
            </a:extLst>
          </p:cNvPr>
          <p:cNvSpPr/>
          <p:nvPr/>
        </p:nvSpPr>
        <p:spPr>
          <a:xfrm>
            <a:off x="3323957" y="2721283"/>
            <a:ext cx="951924" cy="491117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Ассортимент</a:t>
            </a:r>
          </a:p>
        </p:txBody>
      </p:sp>
      <p:sp>
        <p:nvSpPr>
          <p:cNvPr id="27" name="Прямоугольник 63">
            <a:extLst>
              <a:ext uri="{FF2B5EF4-FFF2-40B4-BE49-F238E27FC236}">
                <a16:creationId xmlns:a16="http://schemas.microsoft.com/office/drawing/2014/main" id="{5C92A3F2-612F-0895-FAAE-3DFDB5C464DE}"/>
              </a:ext>
            </a:extLst>
          </p:cNvPr>
          <p:cNvSpPr/>
          <p:nvPr/>
        </p:nvSpPr>
        <p:spPr>
          <a:xfrm>
            <a:off x="4340830" y="2189577"/>
            <a:ext cx="697043" cy="1022823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Торговые условия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C23722-0AD8-34D0-882E-622C12EBCDB2}"/>
              </a:ext>
            </a:extLst>
          </p:cNvPr>
          <p:cNvSpPr txBox="1"/>
          <p:nvPr/>
        </p:nvSpPr>
        <p:spPr>
          <a:xfrm>
            <a:off x="8458712" y="3399390"/>
            <a:ext cx="1932144" cy="1792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Отдел планирования поставок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5B1653-19E5-0698-D9CC-F97A370001E2}"/>
              </a:ext>
            </a:extLst>
          </p:cNvPr>
          <p:cNvSpPr txBox="1"/>
          <p:nvPr/>
        </p:nvSpPr>
        <p:spPr>
          <a:xfrm>
            <a:off x="8458712" y="3631720"/>
            <a:ext cx="2241787" cy="1565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Отдел планирования производства</a:t>
            </a:r>
          </a:p>
        </p:txBody>
      </p:sp>
      <p:sp>
        <p:nvSpPr>
          <p:cNvPr id="31" name="Рисунок 8">
            <a:extLst>
              <a:ext uri="{FF2B5EF4-FFF2-40B4-BE49-F238E27FC236}">
                <a16:creationId xmlns:a16="http://schemas.microsoft.com/office/drawing/2014/main" id="{DE994C9D-CA95-E85D-C36B-7575F707E576}"/>
              </a:ext>
            </a:extLst>
          </p:cNvPr>
          <p:cNvSpPr/>
          <p:nvPr/>
        </p:nvSpPr>
        <p:spPr>
          <a:xfrm>
            <a:off x="8129039" y="3620533"/>
            <a:ext cx="145862" cy="167753"/>
          </a:xfrm>
          <a:custGeom>
            <a:avLst/>
            <a:gdLst>
              <a:gd name="connsiteX0" fmla="*/ 1801978 w 3608832"/>
              <a:gd name="connsiteY0" fmla="*/ 1860499 h 4389120"/>
              <a:gd name="connsiteX1" fmla="*/ 890016 w 3608832"/>
              <a:gd name="connsiteY1" fmla="*/ 948538 h 4389120"/>
              <a:gd name="connsiteX2" fmla="*/ 1801978 w 3608832"/>
              <a:gd name="connsiteY2" fmla="*/ 36576 h 4389120"/>
              <a:gd name="connsiteX3" fmla="*/ 2713939 w 3608832"/>
              <a:gd name="connsiteY3" fmla="*/ 948538 h 4389120"/>
              <a:gd name="connsiteX4" fmla="*/ 1801978 w 3608832"/>
              <a:gd name="connsiteY4" fmla="*/ 1860499 h 4389120"/>
              <a:gd name="connsiteX5" fmla="*/ 1801978 w 3608832"/>
              <a:gd name="connsiteY5" fmla="*/ 231648 h 4389120"/>
              <a:gd name="connsiteX6" fmla="*/ 1085088 w 3608832"/>
              <a:gd name="connsiteY6" fmla="*/ 948538 h 4389120"/>
              <a:gd name="connsiteX7" fmla="*/ 1801978 w 3608832"/>
              <a:gd name="connsiteY7" fmla="*/ 1665427 h 4389120"/>
              <a:gd name="connsiteX8" fmla="*/ 2518867 w 3608832"/>
              <a:gd name="connsiteY8" fmla="*/ 948538 h 4389120"/>
              <a:gd name="connsiteX9" fmla="*/ 1801978 w 3608832"/>
              <a:gd name="connsiteY9" fmla="*/ 231648 h 4389120"/>
              <a:gd name="connsiteX10" fmla="*/ 3474720 w 3608832"/>
              <a:gd name="connsiteY10" fmla="*/ 4357421 h 4389120"/>
              <a:gd name="connsiteX11" fmla="*/ 134112 w 3608832"/>
              <a:gd name="connsiteY11" fmla="*/ 4357421 h 4389120"/>
              <a:gd name="connsiteX12" fmla="*/ 36576 w 3608832"/>
              <a:gd name="connsiteY12" fmla="*/ 4259885 h 4389120"/>
              <a:gd name="connsiteX13" fmla="*/ 36576 w 3608832"/>
              <a:gd name="connsiteY13" fmla="*/ 3903879 h 4389120"/>
              <a:gd name="connsiteX14" fmla="*/ 1806854 w 3608832"/>
              <a:gd name="connsiteY14" fmla="*/ 2133600 h 4389120"/>
              <a:gd name="connsiteX15" fmla="*/ 3577133 w 3608832"/>
              <a:gd name="connsiteY15" fmla="*/ 3903879 h 4389120"/>
              <a:gd name="connsiteX16" fmla="*/ 3577133 w 3608832"/>
              <a:gd name="connsiteY16" fmla="*/ 4259885 h 4389120"/>
              <a:gd name="connsiteX17" fmla="*/ 3474720 w 3608832"/>
              <a:gd name="connsiteY17" fmla="*/ 4357421 h 4389120"/>
              <a:gd name="connsiteX18" fmla="*/ 231648 w 3608832"/>
              <a:gd name="connsiteY18" fmla="*/ 4162349 h 4389120"/>
              <a:gd name="connsiteX19" fmla="*/ 3377184 w 3608832"/>
              <a:gd name="connsiteY19" fmla="*/ 4162349 h 4389120"/>
              <a:gd name="connsiteX20" fmla="*/ 3377184 w 3608832"/>
              <a:gd name="connsiteY20" fmla="*/ 3903879 h 4389120"/>
              <a:gd name="connsiteX21" fmla="*/ 1801978 w 3608832"/>
              <a:gd name="connsiteY21" fmla="*/ 2328672 h 4389120"/>
              <a:gd name="connsiteX22" fmla="*/ 231648 w 3608832"/>
              <a:gd name="connsiteY22" fmla="*/ 3908755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08832" h="4389120">
                <a:moveTo>
                  <a:pt x="1801978" y="1860499"/>
                </a:moveTo>
                <a:cubicBezTo>
                  <a:pt x="1299667" y="1860499"/>
                  <a:pt x="890016" y="1450848"/>
                  <a:pt x="890016" y="948538"/>
                </a:cubicBezTo>
                <a:cubicBezTo>
                  <a:pt x="890016" y="446227"/>
                  <a:pt x="1299667" y="36576"/>
                  <a:pt x="1801978" y="36576"/>
                </a:cubicBezTo>
                <a:cubicBezTo>
                  <a:pt x="2304288" y="36576"/>
                  <a:pt x="2713939" y="446227"/>
                  <a:pt x="2713939" y="948538"/>
                </a:cubicBezTo>
                <a:cubicBezTo>
                  <a:pt x="2713939" y="1450848"/>
                  <a:pt x="2304288" y="1860499"/>
                  <a:pt x="1801978" y="1860499"/>
                </a:cubicBezTo>
                <a:close/>
                <a:moveTo>
                  <a:pt x="1801978" y="231648"/>
                </a:moveTo>
                <a:cubicBezTo>
                  <a:pt x="1406957" y="231648"/>
                  <a:pt x="1085088" y="553517"/>
                  <a:pt x="1085088" y="948538"/>
                </a:cubicBezTo>
                <a:cubicBezTo>
                  <a:pt x="1085088" y="1343558"/>
                  <a:pt x="1406957" y="1665427"/>
                  <a:pt x="1801978" y="1665427"/>
                </a:cubicBezTo>
                <a:cubicBezTo>
                  <a:pt x="2196998" y="1665427"/>
                  <a:pt x="2518867" y="1343558"/>
                  <a:pt x="2518867" y="948538"/>
                </a:cubicBezTo>
                <a:cubicBezTo>
                  <a:pt x="2518867" y="553517"/>
                  <a:pt x="2196998" y="231648"/>
                  <a:pt x="1801978" y="231648"/>
                </a:cubicBezTo>
                <a:close/>
                <a:moveTo>
                  <a:pt x="3474720" y="4357421"/>
                </a:moveTo>
                <a:lnTo>
                  <a:pt x="134112" y="4357421"/>
                </a:lnTo>
                <a:cubicBezTo>
                  <a:pt x="80467" y="4357421"/>
                  <a:pt x="36576" y="4313530"/>
                  <a:pt x="36576" y="4259885"/>
                </a:cubicBezTo>
                <a:lnTo>
                  <a:pt x="36576" y="3903879"/>
                </a:lnTo>
                <a:cubicBezTo>
                  <a:pt x="36576" y="2928519"/>
                  <a:pt x="831494" y="2133600"/>
                  <a:pt x="1806854" y="2133600"/>
                </a:cubicBezTo>
                <a:cubicBezTo>
                  <a:pt x="2782214" y="2133600"/>
                  <a:pt x="3577133" y="2928519"/>
                  <a:pt x="3577133" y="3903879"/>
                </a:cubicBezTo>
                <a:lnTo>
                  <a:pt x="3577133" y="4259885"/>
                </a:lnTo>
                <a:cubicBezTo>
                  <a:pt x="3572256" y="4313530"/>
                  <a:pt x="3528365" y="4357421"/>
                  <a:pt x="3474720" y="4357421"/>
                </a:cubicBezTo>
                <a:close/>
                <a:moveTo>
                  <a:pt x="231648" y="4162349"/>
                </a:moveTo>
                <a:lnTo>
                  <a:pt x="3377184" y="4162349"/>
                </a:lnTo>
                <a:lnTo>
                  <a:pt x="3377184" y="3903879"/>
                </a:lnTo>
                <a:cubicBezTo>
                  <a:pt x="3377184" y="3035808"/>
                  <a:pt x="2670048" y="2328672"/>
                  <a:pt x="1801978" y="2328672"/>
                </a:cubicBezTo>
                <a:cubicBezTo>
                  <a:pt x="933907" y="2328672"/>
                  <a:pt x="231648" y="3040685"/>
                  <a:pt x="231648" y="390875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</p:txBody>
      </p:sp>
      <p:sp>
        <p:nvSpPr>
          <p:cNvPr id="32" name="Рисунок 8">
            <a:extLst>
              <a:ext uri="{FF2B5EF4-FFF2-40B4-BE49-F238E27FC236}">
                <a16:creationId xmlns:a16="http://schemas.microsoft.com/office/drawing/2014/main" id="{E381B2D5-70D0-FA9B-1195-C0CBD8350976}"/>
              </a:ext>
            </a:extLst>
          </p:cNvPr>
          <p:cNvSpPr/>
          <p:nvPr/>
        </p:nvSpPr>
        <p:spPr>
          <a:xfrm>
            <a:off x="8129039" y="3399624"/>
            <a:ext cx="145862" cy="167753"/>
          </a:xfrm>
          <a:custGeom>
            <a:avLst/>
            <a:gdLst>
              <a:gd name="connsiteX0" fmla="*/ 1801978 w 3608832"/>
              <a:gd name="connsiteY0" fmla="*/ 1860499 h 4389120"/>
              <a:gd name="connsiteX1" fmla="*/ 890016 w 3608832"/>
              <a:gd name="connsiteY1" fmla="*/ 948538 h 4389120"/>
              <a:gd name="connsiteX2" fmla="*/ 1801978 w 3608832"/>
              <a:gd name="connsiteY2" fmla="*/ 36576 h 4389120"/>
              <a:gd name="connsiteX3" fmla="*/ 2713939 w 3608832"/>
              <a:gd name="connsiteY3" fmla="*/ 948538 h 4389120"/>
              <a:gd name="connsiteX4" fmla="*/ 1801978 w 3608832"/>
              <a:gd name="connsiteY4" fmla="*/ 1860499 h 4389120"/>
              <a:gd name="connsiteX5" fmla="*/ 1801978 w 3608832"/>
              <a:gd name="connsiteY5" fmla="*/ 231648 h 4389120"/>
              <a:gd name="connsiteX6" fmla="*/ 1085088 w 3608832"/>
              <a:gd name="connsiteY6" fmla="*/ 948538 h 4389120"/>
              <a:gd name="connsiteX7" fmla="*/ 1801978 w 3608832"/>
              <a:gd name="connsiteY7" fmla="*/ 1665427 h 4389120"/>
              <a:gd name="connsiteX8" fmla="*/ 2518867 w 3608832"/>
              <a:gd name="connsiteY8" fmla="*/ 948538 h 4389120"/>
              <a:gd name="connsiteX9" fmla="*/ 1801978 w 3608832"/>
              <a:gd name="connsiteY9" fmla="*/ 231648 h 4389120"/>
              <a:gd name="connsiteX10" fmla="*/ 3474720 w 3608832"/>
              <a:gd name="connsiteY10" fmla="*/ 4357421 h 4389120"/>
              <a:gd name="connsiteX11" fmla="*/ 134112 w 3608832"/>
              <a:gd name="connsiteY11" fmla="*/ 4357421 h 4389120"/>
              <a:gd name="connsiteX12" fmla="*/ 36576 w 3608832"/>
              <a:gd name="connsiteY12" fmla="*/ 4259885 h 4389120"/>
              <a:gd name="connsiteX13" fmla="*/ 36576 w 3608832"/>
              <a:gd name="connsiteY13" fmla="*/ 3903879 h 4389120"/>
              <a:gd name="connsiteX14" fmla="*/ 1806854 w 3608832"/>
              <a:gd name="connsiteY14" fmla="*/ 2133600 h 4389120"/>
              <a:gd name="connsiteX15" fmla="*/ 3577133 w 3608832"/>
              <a:gd name="connsiteY15" fmla="*/ 3903879 h 4389120"/>
              <a:gd name="connsiteX16" fmla="*/ 3577133 w 3608832"/>
              <a:gd name="connsiteY16" fmla="*/ 4259885 h 4389120"/>
              <a:gd name="connsiteX17" fmla="*/ 3474720 w 3608832"/>
              <a:gd name="connsiteY17" fmla="*/ 4357421 h 4389120"/>
              <a:gd name="connsiteX18" fmla="*/ 231648 w 3608832"/>
              <a:gd name="connsiteY18" fmla="*/ 4162349 h 4389120"/>
              <a:gd name="connsiteX19" fmla="*/ 3377184 w 3608832"/>
              <a:gd name="connsiteY19" fmla="*/ 4162349 h 4389120"/>
              <a:gd name="connsiteX20" fmla="*/ 3377184 w 3608832"/>
              <a:gd name="connsiteY20" fmla="*/ 3903879 h 4389120"/>
              <a:gd name="connsiteX21" fmla="*/ 1801978 w 3608832"/>
              <a:gd name="connsiteY21" fmla="*/ 2328672 h 4389120"/>
              <a:gd name="connsiteX22" fmla="*/ 231648 w 3608832"/>
              <a:gd name="connsiteY22" fmla="*/ 3908755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608832" h="4389120">
                <a:moveTo>
                  <a:pt x="1801978" y="1860499"/>
                </a:moveTo>
                <a:cubicBezTo>
                  <a:pt x="1299667" y="1860499"/>
                  <a:pt x="890016" y="1450848"/>
                  <a:pt x="890016" y="948538"/>
                </a:cubicBezTo>
                <a:cubicBezTo>
                  <a:pt x="890016" y="446227"/>
                  <a:pt x="1299667" y="36576"/>
                  <a:pt x="1801978" y="36576"/>
                </a:cubicBezTo>
                <a:cubicBezTo>
                  <a:pt x="2304288" y="36576"/>
                  <a:pt x="2713939" y="446227"/>
                  <a:pt x="2713939" y="948538"/>
                </a:cubicBezTo>
                <a:cubicBezTo>
                  <a:pt x="2713939" y="1450848"/>
                  <a:pt x="2304288" y="1860499"/>
                  <a:pt x="1801978" y="1860499"/>
                </a:cubicBezTo>
                <a:close/>
                <a:moveTo>
                  <a:pt x="1801978" y="231648"/>
                </a:moveTo>
                <a:cubicBezTo>
                  <a:pt x="1406957" y="231648"/>
                  <a:pt x="1085088" y="553517"/>
                  <a:pt x="1085088" y="948538"/>
                </a:cubicBezTo>
                <a:cubicBezTo>
                  <a:pt x="1085088" y="1343558"/>
                  <a:pt x="1406957" y="1665427"/>
                  <a:pt x="1801978" y="1665427"/>
                </a:cubicBezTo>
                <a:cubicBezTo>
                  <a:pt x="2196998" y="1665427"/>
                  <a:pt x="2518867" y="1343558"/>
                  <a:pt x="2518867" y="948538"/>
                </a:cubicBezTo>
                <a:cubicBezTo>
                  <a:pt x="2518867" y="553517"/>
                  <a:pt x="2196998" y="231648"/>
                  <a:pt x="1801978" y="231648"/>
                </a:cubicBezTo>
                <a:close/>
                <a:moveTo>
                  <a:pt x="3474720" y="4357421"/>
                </a:moveTo>
                <a:lnTo>
                  <a:pt x="134112" y="4357421"/>
                </a:lnTo>
                <a:cubicBezTo>
                  <a:pt x="80467" y="4357421"/>
                  <a:pt x="36576" y="4313530"/>
                  <a:pt x="36576" y="4259885"/>
                </a:cubicBezTo>
                <a:lnTo>
                  <a:pt x="36576" y="3903879"/>
                </a:lnTo>
                <a:cubicBezTo>
                  <a:pt x="36576" y="2928519"/>
                  <a:pt x="831494" y="2133600"/>
                  <a:pt x="1806854" y="2133600"/>
                </a:cubicBezTo>
                <a:cubicBezTo>
                  <a:pt x="2782214" y="2133600"/>
                  <a:pt x="3577133" y="2928519"/>
                  <a:pt x="3577133" y="3903879"/>
                </a:cubicBezTo>
                <a:lnTo>
                  <a:pt x="3577133" y="4259885"/>
                </a:lnTo>
                <a:cubicBezTo>
                  <a:pt x="3572256" y="4313530"/>
                  <a:pt x="3528365" y="4357421"/>
                  <a:pt x="3474720" y="4357421"/>
                </a:cubicBezTo>
                <a:close/>
                <a:moveTo>
                  <a:pt x="231648" y="4162349"/>
                </a:moveTo>
                <a:lnTo>
                  <a:pt x="3377184" y="4162349"/>
                </a:lnTo>
                <a:lnTo>
                  <a:pt x="3377184" y="3903879"/>
                </a:lnTo>
                <a:cubicBezTo>
                  <a:pt x="3377184" y="3035808"/>
                  <a:pt x="2670048" y="2328672"/>
                  <a:pt x="1801978" y="2328672"/>
                </a:cubicBezTo>
                <a:cubicBezTo>
                  <a:pt x="933907" y="2328672"/>
                  <a:pt x="231648" y="3040685"/>
                  <a:pt x="231648" y="3908755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</p:txBody>
      </p:sp>
      <p:pic>
        <p:nvPicPr>
          <p:cNvPr id="33" name="Picture 44">
            <a:extLst>
              <a:ext uri="{FF2B5EF4-FFF2-40B4-BE49-F238E27FC236}">
                <a16:creationId xmlns:a16="http://schemas.microsoft.com/office/drawing/2014/main" id="{A8CC8286-AB45-69C2-F60B-C93C37455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042" y="4022107"/>
            <a:ext cx="293014" cy="287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1">
            <a:extLst>
              <a:ext uri="{FF2B5EF4-FFF2-40B4-BE49-F238E27FC236}">
                <a16:creationId xmlns:a16="http://schemas.microsoft.com/office/drawing/2014/main" id="{EE1B7F53-1DE8-335A-FBCB-9FD9B13E3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305" y="1618182"/>
            <a:ext cx="323054" cy="320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Рисунок 75">
            <a:extLst>
              <a:ext uri="{FF2B5EF4-FFF2-40B4-BE49-F238E27FC236}">
                <a16:creationId xmlns:a16="http://schemas.microsoft.com/office/drawing/2014/main" id="{46105970-9B30-52AC-B779-EBF69DA2E7F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482" y="1627122"/>
            <a:ext cx="337164" cy="331133"/>
          </a:xfrm>
          <a:prstGeom prst="rect">
            <a:avLst/>
          </a:prstGeom>
        </p:spPr>
      </p:pic>
      <p:pic>
        <p:nvPicPr>
          <p:cNvPr id="36" name="Рисунок 76">
            <a:extLst>
              <a:ext uri="{FF2B5EF4-FFF2-40B4-BE49-F238E27FC236}">
                <a16:creationId xmlns:a16="http://schemas.microsoft.com/office/drawing/2014/main" id="{55B55D2C-046A-B4BC-23BA-48B105CEC65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741" y="1607556"/>
            <a:ext cx="365000" cy="358473"/>
          </a:xfrm>
          <a:prstGeom prst="rect">
            <a:avLst/>
          </a:prstGeom>
        </p:spPr>
      </p:pic>
      <p:pic>
        <p:nvPicPr>
          <p:cNvPr id="37" name="Рисунок 77">
            <a:extLst>
              <a:ext uri="{FF2B5EF4-FFF2-40B4-BE49-F238E27FC236}">
                <a16:creationId xmlns:a16="http://schemas.microsoft.com/office/drawing/2014/main" id="{82D51175-7C60-FF76-8283-C9CEFD65573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03" y="2707474"/>
            <a:ext cx="300860" cy="29547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390375C-26B9-D46D-A935-3926D4B967B8}"/>
              </a:ext>
            </a:extLst>
          </p:cNvPr>
          <p:cNvSpPr txBox="1"/>
          <p:nvPr/>
        </p:nvSpPr>
        <p:spPr>
          <a:xfrm>
            <a:off x="946808" y="2986241"/>
            <a:ext cx="1194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Medium" pitchFamily="2" charset="0"/>
                <a:ea typeface="Arial"/>
                <a:cs typeface="Arial"/>
                <a:sym typeface="Arial"/>
              </a:rPr>
              <a:t>Интеграция</a:t>
            </a:r>
          </a:p>
        </p:txBody>
      </p:sp>
      <p:sp>
        <p:nvSpPr>
          <p:cNvPr id="39" name="Прямоугольник 80">
            <a:extLst>
              <a:ext uri="{FF2B5EF4-FFF2-40B4-BE49-F238E27FC236}">
                <a16:creationId xmlns:a16="http://schemas.microsoft.com/office/drawing/2014/main" id="{B90C6A47-41FA-029A-F8D7-B36A9E7F4618}"/>
              </a:ext>
            </a:extLst>
          </p:cNvPr>
          <p:cNvSpPr/>
          <p:nvPr/>
        </p:nvSpPr>
        <p:spPr>
          <a:xfrm>
            <a:off x="1745059" y="6373613"/>
            <a:ext cx="280181" cy="198319"/>
          </a:xfrm>
          <a:prstGeom prst="rect">
            <a:avLst/>
          </a:prstGeom>
          <a:solidFill>
            <a:schemeClr val="tx1"/>
          </a:solidFill>
          <a:ln w="31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3EE97F-058D-A829-3CDD-689A0C1CA1D2}"/>
              </a:ext>
            </a:extLst>
          </p:cNvPr>
          <p:cNvSpPr txBox="1"/>
          <p:nvPr/>
        </p:nvSpPr>
        <p:spPr>
          <a:xfrm>
            <a:off x="2025240" y="6302371"/>
            <a:ext cx="171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Интеграционный модуль на основе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Dat.ax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1" name="Прямоугольник 82">
            <a:extLst>
              <a:ext uri="{FF2B5EF4-FFF2-40B4-BE49-F238E27FC236}">
                <a16:creationId xmlns:a16="http://schemas.microsoft.com/office/drawing/2014/main" id="{DF753757-CAF7-F1B4-AEEF-5B8CF20FE986}"/>
              </a:ext>
            </a:extLst>
          </p:cNvPr>
          <p:cNvSpPr/>
          <p:nvPr/>
        </p:nvSpPr>
        <p:spPr>
          <a:xfrm>
            <a:off x="6592335" y="6373613"/>
            <a:ext cx="280181" cy="198319"/>
          </a:xfrm>
          <a:prstGeom prst="rect">
            <a:avLst/>
          </a:prstGeom>
          <a:solidFill>
            <a:srgbClr val="9A9A9A"/>
          </a:solidFill>
          <a:ln w="63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21900" rIns="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497095-C279-9AED-8C60-139A07714C88}"/>
              </a:ext>
            </a:extLst>
          </p:cNvPr>
          <p:cNvSpPr txBox="1"/>
          <p:nvPr/>
        </p:nvSpPr>
        <p:spPr>
          <a:xfrm>
            <a:off x="6872517" y="6357356"/>
            <a:ext cx="33714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Функциональные модули 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In.Plan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3" name="Прямоугольник 84">
            <a:extLst>
              <a:ext uri="{FF2B5EF4-FFF2-40B4-BE49-F238E27FC236}">
                <a16:creationId xmlns:a16="http://schemas.microsoft.com/office/drawing/2014/main" id="{F20D5239-9AA8-7755-4246-7AC7AC1C5B59}"/>
              </a:ext>
            </a:extLst>
          </p:cNvPr>
          <p:cNvSpPr/>
          <p:nvPr/>
        </p:nvSpPr>
        <p:spPr>
          <a:xfrm>
            <a:off x="8829105" y="6372473"/>
            <a:ext cx="280181" cy="198319"/>
          </a:xfrm>
          <a:prstGeom prst="rect">
            <a:avLst/>
          </a:prstGeom>
          <a:solidFill>
            <a:schemeClr val="tx1">
              <a:lumMod val="65000"/>
              <a:lumOff val="35000"/>
              <a:alpha val="58000"/>
            </a:schemeClr>
          </a:solidFill>
          <a:ln w="63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21900" rIns="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9516D3-54C6-6126-2FD6-BDAD8ABFFDDA}"/>
              </a:ext>
            </a:extLst>
          </p:cNvPr>
          <p:cNvSpPr txBox="1"/>
          <p:nvPr/>
        </p:nvSpPr>
        <p:spPr>
          <a:xfrm>
            <a:off x="9109289" y="6356216"/>
            <a:ext cx="20260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Платформенные модули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In.Plan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pic>
        <p:nvPicPr>
          <p:cNvPr id="45" name="Рисунок 88">
            <a:extLst>
              <a:ext uri="{FF2B5EF4-FFF2-40B4-BE49-F238E27FC236}">
                <a16:creationId xmlns:a16="http://schemas.microsoft.com/office/drawing/2014/main" id="{BF3A729F-B14B-BADD-C577-D37E57CE28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1923" y="102136"/>
            <a:ext cx="340830" cy="350298"/>
          </a:xfrm>
          <a:prstGeom prst="rect">
            <a:avLst/>
          </a:prstGeom>
        </p:spPr>
      </p:pic>
      <p:sp>
        <p:nvSpPr>
          <p:cNvPr id="46" name="Прямоугольник 89">
            <a:extLst>
              <a:ext uri="{FF2B5EF4-FFF2-40B4-BE49-F238E27FC236}">
                <a16:creationId xmlns:a16="http://schemas.microsoft.com/office/drawing/2014/main" id="{44E5E882-3733-4C43-FE5C-D316EE539AB0}"/>
              </a:ext>
            </a:extLst>
          </p:cNvPr>
          <p:cNvSpPr/>
          <p:nvPr/>
        </p:nvSpPr>
        <p:spPr>
          <a:xfrm>
            <a:off x="11271180" y="102136"/>
            <a:ext cx="1290765" cy="4836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n-ea"/>
                <a:cs typeface="+mn-cs"/>
              </a:rPr>
              <a:t>РЕЕСТР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n-ea"/>
                <a:cs typeface="+mn-cs"/>
              </a:rPr>
              <a:t>ПРОГРАММНОГО ОБЕСПЕЧЕНИЯ</a:t>
            </a:r>
          </a:p>
        </p:txBody>
      </p:sp>
      <p:grpSp>
        <p:nvGrpSpPr>
          <p:cNvPr id="47" name="Группа 87">
            <a:extLst>
              <a:ext uri="{FF2B5EF4-FFF2-40B4-BE49-F238E27FC236}">
                <a16:creationId xmlns:a16="http://schemas.microsoft.com/office/drawing/2014/main" id="{6FD74485-07AB-0A56-89DC-E427BCF0C25E}"/>
              </a:ext>
            </a:extLst>
          </p:cNvPr>
          <p:cNvGrpSpPr/>
          <p:nvPr/>
        </p:nvGrpSpPr>
        <p:grpSpPr>
          <a:xfrm>
            <a:off x="5741196" y="5041587"/>
            <a:ext cx="2185614" cy="179236"/>
            <a:chOff x="2523947" y="5826817"/>
            <a:chExt cx="2185614" cy="17923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80647E9-F1C1-27D5-2955-647864F242BA}"/>
                </a:ext>
              </a:extLst>
            </p:cNvPr>
            <p:cNvSpPr txBox="1"/>
            <p:nvPr/>
          </p:nvSpPr>
          <p:spPr>
            <a:xfrm>
              <a:off x="2777417" y="5826817"/>
              <a:ext cx="1932144" cy="17923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Manrope Medium" pitchFamily="2" charset="0"/>
                  <a:ea typeface="+mn-ea"/>
                  <a:cs typeface="+mn-cs"/>
                </a:rPr>
                <a:t>IT, </a:t>
              </a:r>
              <a:r>
                <a:rPr kumimoji="0" lang="ru-RU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Manrope Medium" pitchFamily="2" charset="0"/>
                  <a:ea typeface="+mn-ea"/>
                  <a:cs typeface="+mn-cs"/>
                </a:rPr>
                <a:t>Отдел аналитики</a:t>
              </a:r>
            </a:p>
          </p:txBody>
        </p:sp>
        <p:sp>
          <p:nvSpPr>
            <p:cNvPr id="49" name="Рисунок 8">
              <a:extLst>
                <a:ext uri="{FF2B5EF4-FFF2-40B4-BE49-F238E27FC236}">
                  <a16:creationId xmlns:a16="http://schemas.microsoft.com/office/drawing/2014/main" id="{F11F8B16-91F4-E019-7FC6-A79C8402ADA8}"/>
                </a:ext>
              </a:extLst>
            </p:cNvPr>
            <p:cNvSpPr/>
            <p:nvPr/>
          </p:nvSpPr>
          <p:spPr>
            <a:xfrm>
              <a:off x="2523947" y="5827051"/>
              <a:ext cx="145862" cy="167753"/>
            </a:xfrm>
            <a:custGeom>
              <a:avLst/>
              <a:gdLst>
                <a:gd name="connsiteX0" fmla="*/ 1801978 w 3608832"/>
                <a:gd name="connsiteY0" fmla="*/ 1860499 h 4389120"/>
                <a:gd name="connsiteX1" fmla="*/ 890016 w 3608832"/>
                <a:gd name="connsiteY1" fmla="*/ 948538 h 4389120"/>
                <a:gd name="connsiteX2" fmla="*/ 1801978 w 3608832"/>
                <a:gd name="connsiteY2" fmla="*/ 36576 h 4389120"/>
                <a:gd name="connsiteX3" fmla="*/ 2713939 w 3608832"/>
                <a:gd name="connsiteY3" fmla="*/ 948538 h 4389120"/>
                <a:gd name="connsiteX4" fmla="*/ 1801978 w 3608832"/>
                <a:gd name="connsiteY4" fmla="*/ 1860499 h 4389120"/>
                <a:gd name="connsiteX5" fmla="*/ 1801978 w 3608832"/>
                <a:gd name="connsiteY5" fmla="*/ 231648 h 4389120"/>
                <a:gd name="connsiteX6" fmla="*/ 1085088 w 3608832"/>
                <a:gd name="connsiteY6" fmla="*/ 948538 h 4389120"/>
                <a:gd name="connsiteX7" fmla="*/ 1801978 w 3608832"/>
                <a:gd name="connsiteY7" fmla="*/ 1665427 h 4389120"/>
                <a:gd name="connsiteX8" fmla="*/ 2518867 w 3608832"/>
                <a:gd name="connsiteY8" fmla="*/ 948538 h 4389120"/>
                <a:gd name="connsiteX9" fmla="*/ 1801978 w 3608832"/>
                <a:gd name="connsiteY9" fmla="*/ 231648 h 4389120"/>
                <a:gd name="connsiteX10" fmla="*/ 3474720 w 3608832"/>
                <a:gd name="connsiteY10" fmla="*/ 4357421 h 4389120"/>
                <a:gd name="connsiteX11" fmla="*/ 134112 w 3608832"/>
                <a:gd name="connsiteY11" fmla="*/ 4357421 h 4389120"/>
                <a:gd name="connsiteX12" fmla="*/ 36576 w 3608832"/>
                <a:gd name="connsiteY12" fmla="*/ 4259885 h 4389120"/>
                <a:gd name="connsiteX13" fmla="*/ 36576 w 3608832"/>
                <a:gd name="connsiteY13" fmla="*/ 3903879 h 4389120"/>
                <a:gd name="connsiteX14" fmla="*/ 1806854 w 3608832"/>
                <a:gd name="connsiteY14" fmla="*/ 2133600 h 4389120"/>
                <a:gd name="connsiteX15" fmla="*/ 3577133 w 3608832"/>
                <a:gd name="connsiteY15" fmla="*/ 3903879 h 4389120"/>
                <a:gd name="connsiteX16" fmla="*/ 3577133 w 3608832"/>
                <a:gd name="connsiteY16" fmla="*/ 4259885 h 4389120"/>
                <a:gd name="connsiteX17" fmla="*/ 3474720 w 3608832"/>
                <a:gd name="connsiteY17" fmla="*/ 4357421 h 4389120"/>
                <a:gd name="connsiteX18" fmla="*/ 231648 w 3608832"/>
                <a:gd name="connsiteY18" fmla="*/ 4162349 h 4389120"/>
                <a:gd name="connsiteX19" fmla="*/ 3377184 w 3608832"/>
                <a:gd name="connsiteY19" fmla="*/ 4162349 h 4389120"/>
                <a:gd name="connsiteX20" fmla="*/ 3377184 w 3608832"/>
                <a:gd name="connsiteY20" fmla="*/ 3903879 h 4389120"/>
                <a:gd name="connsiteX21" fmla="*/ 1801978 w 3608832"/>
                <a:gd name="connsiteY21" fmla="*/ 2328672 h 4389120"/>
                <a:gd name="connsiteX22" fmla="*/ 231648 w 3608832"/>
                <a:gd name="connsiteY22" fmla="*/ 3908755 h 438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08832" h="4389120">
                  <a:moveTo>
                    <a:pt x="1801978" y="1860499"/>
                  </a:moveTo>
                  <a:cubicBezTo>
                    <a:pt x="1299667" y="1860499"/>
                    <a:pt x="890016" y="1450848"/>
                    <a:pt x="890016" y="948538"/>
                  </a:cubicBezTo>
                  <a:cubicBezTo>
                    <a:pt x="890016" y="446227"/>
                    <a:pt x="1299667" y="36576"/>
                    <a:pt x="1801978" y="36576"/>
                  </a:cubicBezTo>
                  <a:cubicBezTo>
                    <a:pt x="2304288" y="36576"/>
                    <a:pt x="2713939" y="446227"/>
                    <a:pt x="2713939" y="948538"/>
                  </a:cubicBezTo>
                  <a:cubicBezTo>
                    <a:pt x="2713939" y="1450848"/>
                    <a:pt x="2304288" y="1860499"/>
                    <a:pt x="1801978" y="1860499"/>
                  </a:cubicBezTo>
                  <a:close/>
                  <a:moveTo>
                    <a:pt x="1801978" y="231648"/>
                  </a:moveTo>
                  <a:cubicBezTo>
                    <a:pt x="1406957" y="231648"/>
                    <a:pt x="1085088" y="553517"/>
                    <a:pt x="1085088" y="948538"/>
                  </a:cubicBezTo>
                  <a:cubicBezTo>
                    <a:pt x="1085088" y="1343558"/>
                    <a:pt x="1406957" y="1665427"/>
                    <a:pt x="1801978" y="1665427"/>
                  </a:cubicBezTo>
                  <a:cubicBezTo>
                    <a:pt x="2196998" y="1665427"/>
                    <a:pt x="2518867" y="1343558"/>
                    <a:pt x="2518867" y="948538"/>
                  </a:cubicBezTo>
                  <a:cubicBezTo>
                    <a:pt x="2518867" y="553517"/>
                    <a:pt x="2196998" y="231648"/>
                    <a:pt x="1801978" y="231648"/>
                  </a:cubicBezTo>
                  <a:close/>
                  <a:moveTo>
                    <a:pt x="3474720" y="4357421"/>
                  </a:moveTo>
                  <a:lnTo>
                    <a:pt x="134112" y="4357421"/>
                  </a:lnTo>
                  <a:cubicBezTo>
                    <a:pt x="80467" y="4357421"/>
                    <a:pt x="36576" y="4313530"/>
                    <a:pt x="36576" y="4259885"/>
                  </a:cubicBezTo>
                  <a:lnTo>
                    <a:pt x="36576" y="3903879"/>
                  </a:lnTo>
                  <a:cubicBezTo>
                    <a:pt x="36576" y="2928519"/>
                    <a:pt x="831494" y="2133600"/>
                    <a:pt x="1806854" y="2133600"/>
                  </a:cubicBezTo>
                  <a:cubicBezTo>
                    <a:pt x="2782214" y="2133600"/>
                    <a:pt x="3577133" y="2928519"/>
                    <a:pt x="3577133" y="3903879"/>
                  </a:cubicBezTo>
                  <a:lnTo>
                    <a:pt x="3577133" y="4259885"/>
                  </a:lnTo>
                  <a:cubicBezTo>
                    <a:pt x="3572256" y="4313530"/>
                    <a:pt x="3528365" y="4357421"/>
                    <a:pt x="3474720" y="4357421"/>
                  </a:cubicBezTo>
                  <a:close/>
                  <a:moveTo>
                    <a:pt x="231648" y="4162349"/>
                  </a:moveTo>
                  <a:lnTo>
                    <a:pt x="3377184" y="4162349"/>
                  </a:lnTo>
                  <a:lnTo>
                    <a:pt x="3377184" y="3903879"/>
                  </a:lnTo>
                  <a:cubicBezTo>
                    <a:pt x="3377184" y="3035808"/>
                    <a:pt x="2670048" y="2328672"/>
                    <a:pt x="1801978" y="2328672"/>
                  </a:cubicBezTo>
                  <a:cubicBezTo>
                    <a:pt x="933907" y="2328672"/>
                    <a:pt x="231648" y="3040685"/>
                    <a:pt x="231648" y="3908755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endParaRPr>
            </a:p>
          </p:txBody>
        </p:sp>
      </p:grpSp>
      <p:sp>
        <p:nvSpPr>
          <p:cNvPr id="50" name="Google Shape;4751;p1">
            <a:extLst>
              <a:ext uri="{FF2B5EF4-FFF2-40B4-BE49-F238E27FC236}">
                <a16:creationId xmlns:a16="http://schemas.microsoft.com/office/drawing/2014/main" id="{1E8FFC4E-03C3-FA76-3966-F71436ED182C}"/>
              </a:ext>
            </a:extLst>
          </p:cNvPr>
          <p:cNvSpPr/>
          <p:nvPr/>
        </p:nvSpPr>
        <p:spPr>
          <a:xfrm>
            <a:off x="5474473" y="2200295"/>
            <a:ext cx="2083678" cy="1008357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21900" rIns="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Планирование спроса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 (DP)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Процесс подготовки прогнозов и планов, Фабрика мат. методов:  классические и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ML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 модели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51" name="Google Shape;4689;p1">
            <a:extLst>
              <a:ext uri="{FF2B5EF4-FFF2-40B4-BE49-F238E27FC236}">
                <a16:creationId xmlns:a16="http://schemas.microsoft.com/office/drawing/2014/main" id="{6C32FC8E-7076-4F64-12B8-C41046FC536F}"/>
              </a:ext>
            </a:extLst>
          </p:cNvPr>
          <p:cNvSpPr/>
          <p:nvPr/>
        </p:nvSpPr>
        <p:spPr>
          <a:xfrm>
            <a:off x="1747507" y="6372472"/>
            <a:ext cx="277731" cy="198320"/>
          </a:xfrm>
          <a:prstGeom prst="rect">
            <a:avLst/>
          </a:prstGeom>
          <a:solidFill>
            <a:srgbClr val="D9D9D9"/>
          </a:solidFill>
          <a:ln w="31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+mn-cs"/>
              <a:sym typeface="Arial"/>
            </a:endParaRPr>
          </a:p>
        </p:txBody>
      </p:sp>
      <p:sp>
        <p:nvSpPr>
          <p:cNvPr id="52" name="Google Shape;4689;p1">
            <a:extLst>
              <a:ext uri="{FF2B5EF4-FFF2-40B4-BE49-F238E27FC236}">
                <a16:creationId xmlns:a16="http://schemas.microsoft.com/office/drawing/2014/main" id="{78D62ACE-1737-C930-373D-4FD37493D03D}"/>
              </a:ext>
            </a:extLst>
          </p:cNvPr>
          <p:cNvSpPr/>
          <p:nvPr/>
        </p:nvSpPr>
        <p:spPr>
          <a:xfrm>
            <a:off x="3804498" y="6372472"/>
            <a:ext cx="277731" cy="198320"/>
          </a:xfrm>
          <a:prstGeom prst="rect">
            <a:avLst/>
          </a:prstGeom>
          <a:solidFill>
            <a:schemeClr val="bg2">
              <a:lumMod val="95000"/>
            </a:schemeClr>
          </a:solidFill>
          <a:ln w="317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25" tIns="24350" rIns="60925" bIns="60925" anchor="t" anchorCtr="0">
            <a:noAutofit/>
          </a:bodyPr>
          <a:lstStyle/>
          <a:p>
            <a:pPr marL="9905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Arial"/>
              <a:cs typeface="Arial"/>
              <a:sym typeface="Arial"/>
            </a:endParaRPr>
          </a:p>
        </p:txBody>
      </p:sp>
      <p:sp>
        <p:nvSpPr>
          <p:cNvPr id="53" name="Прямоугольник 96">
            <a:extLst>
              <a:ext uri="{FF2B5EF4-FFF2-40B4-BE49-F238E27FC236}">
                <a16:creationId xmlns:a16="http://schemas.microsoft.com/office/drawing/2014/main" id="{34BA3DE7-FDDF-5B58-7AF3-B28C6F1FD1E4}"/>
              </a:ext>
            </a:extLst>
          </p:cNvPr>
          <p:cNvSpPr/>
          <p:nvPr/>
        </p:nvSpPr>
        <p:spPr>
          <a:xfrm>
            <a:off x="2434467" y="4340396"/>
            <a:ext cx="2549471" cy="647024"/>
          </a:xfrm>
          <a:prstGeom prst="rect">
            <a:avLst/>
          </a:prstGeom>
          <a:solidFill>
            <a:schemeClr val="tx1">
              <a:lumMod val="65000"/>
              <a:lumOff val="35000"/>
              <a:alpha val="58000"/>
            </a:schemeClr>
          </a:solidFill>
          <a:ln w="63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21900" rIns="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ИИ боты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На основе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NeuroCode.ax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28E4F1-CFB1-C6DC-8C23-1AFA0F0351C9}"/>
              </a:ext>
            </a:extLst>
          </p:cNvPr>
          <p:cNvSpPr txBox="1"/>
          <p:nvPr/>
        </p:nvSpPr>
        <p:spPr>
          <a:xfrm>
            <a:off x="4109038" y="6302371"/>
            <a:ext cx="241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Выделенная платформа, интегрируется в бесшовный процесс средствами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Dat.ax 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5" name="Прямоугольник 98">
            <a:extLst>
              <a:ext uri="{FF2B5EF4-FFF2-40B4-BE49-F238E27FC236}">
                <a16:creationId xmlns:a16="http://schemas.microsoft.com/office/drawing/2014/main" id="{BA827CEC-6542-443A-0D84-353776611E19}"/>
              </a:ext>
            </a:extLst>
          </p:cNvPr>
          <p:cNvSpPr/>
          <p:nvPr/>
        </p:nvSpPr>
        <p:spPr>
          <a:xfrm>
            <a:off x="2306315" y="5418200"/>
            <a:ext cx="8683464" cy="576321"/>
          </a:xfrm>
          <a:prstGeom prst="rect">
            <a:avLst/>
          </a:prstGeom>
          <a:solidFill>
            <a:schemeClr val="bg2">
              <a:lumMod val="95000"/>
            </a:schemeClr>
          </a:solidFill>
          <a:ln w="3175" cap="flat" cmpd="sng">
            <a:solidFill>
              <a:schemeClr val="bg2">
                <a:lumMod val="6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Варианты развертывания инфраструктуры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675656-C7E5-FFC6-CD41-4755C77AF1C7}"/>
              </a:ext>
            </a:extLst>
          </p:cNvPr>
          <p:cNvSpPr txBox="1"/>
          <p:nvPr/>
        </p:nvSpPr>
        <p:spPr>
          <a:xfrm>
            <a:off x="8682370" y="5767425"/>
            <a:ext cx="1932144" cy="1792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Облако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4F1BE9-9FEE-1BF8-A3AF-4815FA245687}"/>
              </a:ext>
            </a:extLst>
          </p:cNvPr>
          <p:cNvSpPr txBox="1"/>
          <p:nvPr/>
        </p:nvSpPr>
        <p:spPr>
          <a:xfrm>
            <a:off x="4286962" y="5766640"/>
            <a:ext cx="1932144" cy="1792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Manrope Medium" pitchFamily="2" charset="0"/>
                <a:ea typeface="+mn-ea"/>
                <a:cs typeface="+mn-cs"/>
              </a:rPr>
              <a:t>Онпрем</a:t>
            </a:r>
          </a:p>
        </p:txBody>
      </p:sp>
      <p:pic>
        <p:nvPicPr>
          <p:cNvPr id="58" name="Picture 38">
            <a:extLst>
              <a:ext uri="{FF2B5EF4-FFF2-40B4-BE49-F238E27FC236}">
                <a16:creationId xmlns:a16="http://schemas.microsoft.com/office/drawing/2014/main" id="{8FB4B8C4-ADD3-FB6F-AD22-9E6583BDA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03" y="5468038"/>
            <a:ext cx="324196" cy="324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9" name="Picture 46">
            <a:extLst>
              <a:ext uri="{FF2B5EF4-FFF2-40B4-BE49-F238E27FC236}">
                <a16:creationId xmlns:a16="http://schemas.microsoft.com/office/drawing/2014/main" id="{D36C8D22-17D0-59AF-D4D8-6ECF08A14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211" y="5468038"/>
            <a:ext cx="327405" cy="324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Прямоугольник 92">
            <a:extLst>
              <a:ext uri="{FF2B5EF4-FFF2-40B4-BE49-F238E27FC236}">
                <a16:creationId xmlns:a16="http://schemas.microsoft.com/office/drawing/2014/main" id="{24F1D0B8-BEA2-A350-DC10-A2C29FA06BC6}"/>
              </a:ext>
            </a:extLst>
          </p:cNvPr>
          <p:cNvSpPr/>
          <p:nvPr/>
        </p:nvSpPr>
        <p:spPr>
          <a:xfrm rot="16200000">
            <a:off x="9960454" y="2419326"/>
            <a:ext cx="1357310" cy="496506"/>
          </a:xfrm>
          <a:prstGeom prst="rect">
            <a:avLst/>
          </a:prstGeom>
          <a:solidFill>
            <a:srgbClr val="9A9A9A"/>
          </a:solidFill>
          <a:ln w="63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Оптимизатор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</a:rPr>
              <a:t>(OPT)</a:t>
            </a:r>
          </a:p>
        </p:txBody>
      </p:sp>
      <p:grpSp>
        <p:nvGrpSpPr>
          <p:cNvPr id="72" name="Group 26">
            <a:extLst>
              <a:ext uri="{FF2B5EF4-FFF2-40B4-BE49-F238E27FC236}">
                <a16:creationId xmlns:a16="http://schemas.microsoft.com/office/drawing/2014/main" id="{FA1A4F0B-7445-44BD-BC16-2EB0061C004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28944" y="1156173"/>
            <a:ext cx="1336706" cy="304889"/>
            <a:chOff x="6588" y="108"/>
            <a:chExt cx="890" cy="203"/>
          </a:xfrm>
        </p:grpSpPr>
        <p:sp>
          <p:nvSpPr>
            <p:cNvPr id="73" name="AutoShape 25">
              <a:extLst>
                <a:ext uri="{FF2B5EF4-FFF2-40B4-BE49-F238E27FC236}">
                  <a16:creationId xmlns:a16="http://schemas.microsoft.com/office/drawing/2014/main" id="{A218E954-7162-41E2-A8D5-02B3AB33EEB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588" y="108"/>
              <a:ext cx="890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60699F5F-2C7C-4646-8BD5-6E12F07548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67" y="110"/>
              <a:ext cx="37" cy="200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5" name="Freeform 28">
              <a:extLst>
                <a:ext uri="{FF2B5EF4-FFF2-40B4-BE49-F238E27FC236}">
                  <a16:creationId xmlns:a16="http://schemas.microsoft.com/office/drawing/2014/main" id="{04F52537-D90C-4B36-AE86-95D00FF4EA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0" y="155"/>
              <a:ext cx="152" cy="155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6" name="Freeform 29">
              <a:extLst>
                <a:ext uri="{FF2B5EF4-FFF2-40B4-BE49-F238E27FC236}">
                  <a16:creationId xmlns:a16="http://schemas.microsoft.com/office/drawing/2014/main" id="{6C04EF2E-4211-4A63-9462-D9A60C6946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70" y="118"/>
              <a:ext cx="160" cy="191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7" name="Freeform 30">
              <a:extLst>
                <a:ext uri="{FF2B5EF4-FFF2-40B4-BE49-F238E27FC236}">
                  <a16:creationId xmlns:a16="http://schemas.microsoft.com/office/drawing/2014/main" id="{04A5D9C8-07E4-4F91-8BD3-7AF47F7A2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0" y="107"/>
              <a:ext cx="34" cy="202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0C95F62B-66AB-4EF9-BBAC-FB0BB9830F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84" y="162"/>
              <a:ext cx="133" cy="149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9" name="Freeform 32">
              <a:extLst>
                <a:ext uri="{FF2B5EF4-FFF2-40B4-BE49-F238E27FC236}">
                  <a16:creationId xmlns:a16="http://schemas.microsoft.com/office/drawing/2014/main" id="{44C34F86-3A09-4A95-94EE-383E1E33F4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36" y="162"/>
              <a:ext cx="144" cy="147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80" name="Freeform 33">
              <a:extLst>
                <a:ext uri="{FF2B5EF4-FFF2-40B4-BE49-F238E27FC236}">
                  <a16:creationId xmlns:a16="http://schemas.microsoft.com/office/drawing/2014/main" id="{8429CF87-4C67-4756-9989-A2754C5BE0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06" y="270"/>
              <a:ext cx="39" cy="40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81" name="Freeform 34">
              <a:extLst>
                <a:ext uri="{FF2B5EF4-FFF2-40B4-BE49-F238E27FC236}">
                  <a16:creationId xmlns:a16="http://schemas.microsoft.com/office/drawing/2014/main" id="{47EC546B-DB23-42FC-B863-13B96B9E11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88" y="110"/>
              <a:ext cx="79" cy="200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</p:grpSp>
      <p:sp>
        <p:nvSpPr>
          <p:cNvPr id="71" name="Google Shape;4703;p1">
            <a:extLst>
              <a:ext uri="{FF2B5EF4-FFF2-40B4-BE49-F238E27FC236}">
                <a16:creationId xmlns:a16="http://schemas.microsoft.com/office/drawing/2014/main" id="{DB8A6778-5B70-4DF0-8FB0-83011968D566}"/>
              </a:ext>
            </a:extLst>
          </p:cNvPr>
          <p:cNvSpPr/>
          <p:nvPr/>
        </p:nvSpPr>
        <p:spPr>
          <a:xfrm>
            <a:off x="8012697" y="1983324"/>
            <a:ext cx="2287394" cy="288000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Планирование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сети поставок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 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</a:b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SNP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)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 (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вкл.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DRP + TLB)</a:t>
            </a:r>
          </a:p>
        </p:txBody>
      </p:sp>
      <p:sp>
        <p:nvSpPr>
          <p:cNvPr id="82" name="Google Shape;4704;p1">
            <a:extLst>
              <a:ext uri="{FF2B5EF4-FFF2-40B4-BE49-F238E27FC236}">
                <a16:creationId xmlns:a16="http://schemas.microsoft.com/office/drawing/2014/main" id="{09059C66-C98F-4E47-B4D0-7EE33C3F1827}"/>
              </a:ext>
            </a:extLst>
          </p:cNvPr>
          <p:cNvSpPr/>
          <p:nvPr/>
        </p:nvSpPr>
        <p:spPr>
          <a:xfrm>
            <a:off x="8015528" y="2341886"/>
            <a:ext cx="2287394" cy="288000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Мультиэшелонная оптимизация запасов 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MEIO)</a:t>
            </a:r>
          </a:p>
        </p:txBody>
      </p:sp>
      <p:sp>
        <p:nvSpPr>
          <p:cNvPr id="83" name="Google Shape;4705;p1">
            <a:extLst>
              <a:ext uri="{FF2B5EF4-FFF2-40B4-BE49-F238E27FC236}">
                <a16:creationId xmlns:a16="http://schemas.microsoft.com/office/drawing/2014/main" id="{E7FAFE18-E4B6-4BFC-B073-2E6234C2C01F}"/>
              </a:ext>
            </a:extLst>
          </p:cNvPr>
          <p:cNvSpPr/>
          <p:nvPr/>
        </p:nvSpPr>
        <p:spPr>
          <a:xfrm>
            <a:off x="8015528" y="3059011"/>
            <a:ext cx="2287394" cy="288000"/>
          </a:xfrm>
          <a:prstGeom prst="rect">
            <a:avLst/>
          </a:prstGeom>
          <a:solidFill>
            <a:srgbClr val="9A9A9A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Производственное планирование </a:t>
            </a:r>
            <a:b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</a:b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и графикование (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PS)</a:t>
            </a:r>
          </a:p>
        </p:txBody>
      </p:sp>
      <p:sp>
        <p:nvSpPr>
          <p:cNvPr id="84" name="Google Shape;4704;p1">
            <a:extLst>
              <a:ext uri="{FF2B5EF4-FFF2-40B4-BE49-F238E27FC236}">
                <a16:creationId xmlns:a16="http://schemas.microsoft.com/office/drawing/2014/main" id="{4A197AD7-7514-4E86-A59B-6E19EB94DB83}"/>
              </a:ext>
            </a:extLst>
          </p:cNvPr>
          <p:cNvSpPr/>
          <p:nvPr/>
        </p:nvSpPr>
        <p:spPr>
          <a:xfrm>
            <a:off x="8015528" y="2700448"/>
            <a:ext cx="2287394" cy="288000"/>
          </a:xfrm>
          <a:prstGeom prst="rect">
            <a:avLst/>
          </a:prstGeom>
          <a:solidFill>
            <a:schemeClr val="accent1"/>
          </a:solidFill>
          <a:ln w="31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0" rIns="3600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Планирование потребности в </a:t>
            </a:r>
            <a:r>
              <a:rPr kumimoji="0" lang="ru-RU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материалах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Medium" pitchFamily="2" charset="0"/>
                <a:ea typeface="+mn-ea"/>
                <a:cs typeface="Arial"/>
                <a:sym typeface="Arial"/>
              </a:rPr>
              <a:t>(MRP)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 Medium" pitchFamily="2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66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en-US" dirty="0"/>
              <a:t>MRP </a:t>
            </a:r>
            <a:r>
              <a:rPr lang="ru-RU" dirty="0"/>
              <a:t>и Основные бизнес-задачи</a:t>
            </a:r>
          </a:p>
        </p:txBody>
      </p:sp>
      <p:sp>
        <p:nvSpPr>
          <p:cNvPr id="160" name="AutoShape 2">
            <a:extLst>
              <a:ext uri="{FF2B5EF4-FFF2-40B4-BE49-F238E27FC236}">
                <a16:creationId xmlns:a16="http://schemas.microsoft.com/office/drawing/2014/main" id="{163FFA1B-25A9-412E-BF3D-B314BC0269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07770" y="2560881"/>
            <a:ext cx="3394796" cy="3157887"/>
          </a:xfrm>
          <a:prstGeom prst="triangle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sz="2800">
              <a:solidFill>
                <a:srgbClr val="FF0000"/>
              </a:solidFill>
            </a:endParaRPr>
          </a:p>
        </p:txBody>
      </p:sp>
      <p:sp>
        <p:nvSpPr>
          <p:cNvPr id="161" name="AutoShape 39">
            <a:extLst>
              <a:ext uri="{FF2B5EF4-FFF2-40B4-BE49-F238E27FC236}">
                <a16:creationId xmlns:a16="http://schemas.microsoft.com/office/drawing/2014/main" id="{F43FDDA1-A2A6-43B7-8E43-CBD8427696F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320935" y="2235105"/>
            <a:ext cx="7707727" cy="253146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ctr" anchorCtr="1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FB4B9"/>
              </a:buClr>
            </a:pPr>
            <a:r>
              <a:rPr lang="en-US" sz="1100" kern="0" dirty="0">
                <a:solidFill>
                  <a:schemeClr val="bg1"/>
                </a:solidFill>
                <a:ea typeface="ＭＳ Ｐゴシック" charset="0"/>
                <a:cs typeface="Arial"/>
              </a:rPr>
              <a:t>Lifecycle Planning</a:t>
            </a:r>
          </a:p>
        </p:txBody>
      </p:sp>
      <p:sp>
        <p:nvSpPr>
          <p:cNvPr id="162" name="AutoShape 6">
            <a:extLst>
              <a:ext uri="{FF2B5EF4-FFF2-40B4-BE49-F238E27FC236}">
                <a16:creationId xmlns:a16="http://schemas.microsoft.com/office/drawing/2014/main" id="{BB278F72-5AD9-4821-B221-4A2C2170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678" y="1383892"/>
            <a:ext cx="1952624" cy="434298"/>
          </a:xfrm>
          <a:prstGeom prst="chevron">
            <a:avLst>
              <a:gd name="adj" fmla="val 30159"/>
            </a:avLst>
          </a:prstGeom>
          <a:solidFill>
            <a:schemeClr val="bg2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9078" tIns="34539" rIns="69078" bIns="34539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de-DE" sz="1100" dirty="0"/>
              <a:t>Demand Planning</a:t>
            </a:r>
          </a:p>
        </p:txBody>
      </p:sp>
      <p:sp>
        <p:nvSpPr>
          <p:cNvPr id="163" name="AutoShape 6">
            <a:extLst>
              <a:ext uri="{FF2B5EF4-FFF2-40B4-BE49-F238E27FC236}">
                <a16:creationId xmlns:a16="http://schemas.microsoft.com/office/drawing/2014/main" id="{CB82BFF0-87C6-4BAD-B480-0A91DB68F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080" y="1386524"/>
            <a:ext cx="3828005" cy="434298"/>
          </a:xfrm>
          <a:prstGeom prst="chevron">
            <a:avLst>
              <a:gd name="adj" fmla="val 30159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ctr" anchorCtr="1">
            <a:no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FB4B9"/>
              </a:buClr>
            </a:pPr>
            <a:r>
              <a:rPr lang="en-US" altLang="de-DE" sz="1100" kern="0" dirty="0">
                <a:solidFill>
                  <a:schemeClr val="bg1"/>
                </a:solidFill>
                <a:ea typeface="ＭＳ Ｐゴシック" charset="0"/>
                <a:cs typeface="Arial"/>
              </a:rPr>
              <a:t>Supply Network Planning</a:t>
            </a:r>
          </a:p>
        </p:txBody>
      </p:sp>
      <p:sp>
        <p:nvSpPr>
          <p:cNvPr id="164" name="AutoShape 6">
            <a:extLst>
              <a:ext uri="{FF2B5EF4-FFF2-40B4-BE49-F238E27FC236}">
                <a16:creationId xmlns:a16="http://schemas.microsoft.com/office/drawing/2014/main" id="{055E4552-24B6-446D-BB81-1382C18F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330" y="1383892"/>
            <a:ext cx="1952624" cy="434298"/>
          </a:xfrm>
          <a:custGeom>
            <a:avLst/>
            <a:gdLst>
              <a:gd name="connsiteX0" fmla="*/ 0 w 1737360"/>
              <a:gd name="connsiteY0" fmla="*/ 0 h 384048"/>
              <a:gd name="connsiteX1" fmla="*/ 1621535 w 1737360"/>
              <a:gd name="connsiteY1" fmla="*/ 0 h 384048"/>
              <a:gd name="connsiteX2" fmla="*/ 1737360 w 1737360"/>
              <a:gd name="connsiteY2" fmla="*/ 192024 h 384048"/>
              <a:gd name="connsiteX3" fmla="*/ 1621535 w 1737360"/>
              <a:gd name="connsiteY3" fmla="*/ 384048 h 384048"/>
              <a:gd name="connsiteX4" fmla="*/ 0 w 1737360"/>
              <a:gd name="connsiteY4" fmla="*/ 384048 h 384048"/>
              <a:gd name="connsiteX5" fmla="*/ 115825 w 1737360"/>
              <a:gd name="connsiteY5" fmla="*/ 192024 h 384048"/>
              <a:gd name="connsiteX6" fmla="*/ 0 w 1737360"/>
              <a:gd name="connsiteY6" fmla="*/ 0 h 384048"/>
              <a:gd name="connsiteX0" fmla="*/ 0 w 1737360"/>
              <a:gd name="connsiteY0" fmla="*/ 0 h 384048"/>
              <a:gd name="connsiteX1" fmla="*/ 1621535 w 1737360"/>
              <a:gd name="connsiteY1" fmla="*/ 0 h 384048"/>
              <a:gd name="connsiteX2" fmla="*/ 1737360 w 1737360"/>
              <a:gd name="connsiteY2" fmla="*/ 192024 h 384048"/>
              <a:gd name="connsiteX3" fmla="*/ 1621535 w 1737360"/>
              <a:gd name="connsiteY3" fmla="*/ 384048 h 384048"/>
              <a:gd name="connsiteX4" fmla="*/ 0 w 1737360"/>
              <a:gd name="connsiteY4" fmla="*/ 384048 h 384048"/>
              <a:gd name="connsiteX5" fmla="*/ 0 w 1737360"/>
              <a:gd name="connsiteY5" fmla="*/ 0 h 38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7360" h="384048">
                <a:moveTo>
                  <a:pt x="0" y="0"/>
                </a:moveTo>
                <a:lnTo>
                  <a:pt x="1621535" y="0"/>
                </a:lnTo>
                <a:lnTo>
                  <a:pt x="1737360" y="192024"/>
                </a:lnTo>
                <a:lnTo>
                  <a:pt x="1621535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 anchor="ctr" anchorCtr="1">
            <a:no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FB4B9"/>
              </a:buClr>
            </a:pPr>
            <a:r>
              <a:rPr lang="en-US" altLang="de-DE" sz="1100" b="1" kern="0" dirty="0">
                <a:solidFill>
                  <a:schemeClr val="bg1"/>
                </a:solidFill>
                <a:ea typeface="ＭＳ Ｐゴシック" charset="0"/>
                <a:cs typeface="Arial"/>
              </a:rPr>
              <a:t>Material Requirements</a:t>
            </a:r>
            <a:br>
              <a:rPr lang="en-US" altLang="de-DE" sz="1100" b="1" kern="0" dirty="0">
                <a:solidFill>
                  <a:schemeClr val="bg1"/>
                </a:solidFill>
                <a:ea typeface="ＭＳ Ｐゴシック" charset="0"/>
                <a:cs typeface="Arial"/>
              </a:rPr>
            </a:br>
            <a:r>
              <a:rPr lang="en-US" altLang="de-DE" sz="1100" b="1" kern="0" dirty="0">
                <a:solidFill>
                  <a:schemeClr val="bg1"/>
                </a:solidFill>
                <a:ea typeface="ＭＳ Ｐゴシック" charset="0"/>
                <a:cs typeface="Arial"/>
              </a:rPr>
              <a:t>Planning</a:t>
            </a:r>
          </a:p>
        </p:txBody>
      </p:sp>
      <p:sp>
        <p:nvSpPr>
          <p:cNvPr id="165" name="AutoShape 39">
            <a:extLst>
              <a:ext uri="{FF2B5EF4-FFF2-40B4-BE49-F238E27FC236}">
                <a16:creationId xmlns:a16="http://schemas.microsoft.com/office/drawing/2014/main" id="{1BFC3B30-DACF-44A7-A43C-96FB43B02CF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2320935" y="1893454"/>
            <a:ext cx="7707727" cy="253146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ctr" anchorCtr="1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AFB4B9"/>
              </a:buClr>
            </a:pPr>
            <a:r>
              <a:rPr lang="en-US" sz="1100" kern="0" dirty="0">
                <a:solidFill>
                  <a:schemeClr val="bg1"/>
                </a:solidFill>
                <a:ea typeface="ＭＳ Ｐゴシック" charset="0"/>
                <a:cs typeface="Arial"/>
              </a:rPr>
              <a:t>Sales and Operations Planning</a:t>
            </a:r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6FCEE852-3FC9-4783-9188-E83A07281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593" y="3383578"/>
            <a:ext cx="3503150" cy="34489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9078" tIns="34539" rIns="69078" bIns="34539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100" dirty="0"/>
              <a:t>Supply Network Planning (SNP)</a:t>
            </a:r>
          </a:p>
        </p:txBody>
      </p:sp>
      <p:sp>
        <p:nvSpPr>
          <p:cNvPr id="167" name="Rectangle 4">
            <a:extLst>
              <a:ext uri="{FF2B5EF4-FFF2-40B4-BE49-F238E27FC236}">
                <a16:creationId xmlns:a16="http://schemas.microsoft.com/office/drawing/2014/main" id="{E8BC5297-5EF8-4C9C-A1F8-2F31FC0B0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593" y="2799780"/>
            <a:ext cx="3503150" cy="34489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9078" tIns="34539" rIns="69078" bIns="34539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100" dirty="0"/>
              <a:t>Demand Planning (DP)</a:t>
            </a:r>
          </a:p>
        </p:txBody>
      </p:sp>
      <p:sp>
        <p:nvSpPr>
          <p:cNvPr id="168" name="Rectangle 5">
            <a:extLst>
              <a:ext uri="{FF2B5EF4-FFF2-40B4-BE49-F238E27FC236}">
                <a16:creationId xmlns:a16="http://schemas.microsoft.com/office/drawing/2014/main" id="{A9E2B20B-0952-4514-923C-7AA1644CD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593" y="3967376"/>
            <a:ext cx="3503150" cy="34489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9078" tIns="34539" rIns="69078" bIns="34539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100" dirty="0"/>
              <a:t>Rough-cut Capacity Planning (SNP)</a:t>
            </a:r>
          </a:p>
        </p:txBody>
      </p:sp>
      <p:sp>
        <p:nvSpPr>
          <p:cNvPr id="169" name="Rectangle 7">
            <a:extLst>
              <a:ext uri="{FF2B5EF4-FFF2-40B4-BE49-F238E27FC236}">
                <a16:creationId xmlns:a16="http://schemas.microsoft.com/office/drawing/2014/main" id="{FEA16B27-83EF-4D88-97E4-36E7683DE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593" y="4551174"/>
            <a:ext cx="3503150" cy="34489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9078" tIns="34539" rIns="69078" bIns="34539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100" dirty="0"/>
              <a:t>Production Scheduling (PS)</a:t>
            </a:r>
          </a:p>
        </p:txBody>
      </p:sp>
      <p:sp>
        <p:nvSpPr>
          <p:cNvPr id="170" name="Text Box 18">
            <a:extLst>
              <a:ext uri="{FF2B5EF4-FFF2-40B4-BE49-F238E27FC236}">
                <a16:creationId xmlns:a16="http://schemas.microsoft.com/office/drawing/2014/main" id="{E540DDCE-314D-430F-8F84-30579ABB94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228608" y="2694998"/>
            <a:ext cx="3329004" cy="540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7008" tIns="27008" rIns="27008" bIns="27008" anchor="ctr" anchorCtr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dirty="0">
                <a:latin typeface="+mn-lt"/>
              </a:rPr>
              <a:t>Каковы ожидаемые объемы продаж?</a:t>
            </a:r>
            <a:endParaRPr lang="en-US" sz="1100" dirty="0">
              <a:latin typeface="+mn-lt"/>
            </a:endParaRPr>
          </a:p>
        </p:txBody>
      </p:sp>
      <p:sp>
        <p:nvSpPr>
          <p:cNvPr id="171" name="Text Box 19">
            <a:extLst>
              <a:ext uri="{FF2B5EF4-FFF2-40B4-BE49-F238E27FC236}">
                <a16:creationId xmlns:a16="http://schemas.microsoft.com/office/drawing/2014/main" id="{22AFCB32-1624-4A83-A7D3-B437823D233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228608" y="3266067"/>
            <a:ext cx="3329004" cy="5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7008" tIns="27008" rIns="27008" bIns="27008" anchor="ctr" anchorCtr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dirty="0">
                <a:latin typeface="+mn-lt"/>
              </a:rPr>
              <a:t>Покроют ли запасы</a:t>
            </a:r>
            <a:r>
              <a:rPr lang="en-US" sz="1100" dirty="0">
                <a:latin typeface="+mn-lt"/>
              </a:rPr>
              <a:t> FG </a:t>
            </a:r>
            <a:r>
              <a:rPr lang="ru-RU" sz="1100" dirty="0">
                <a:latin typeface="+mn-lt"/>
              </a:rPr>
              <a:t>спрос в следующем </a:t>
            </a:r>
            <a:br>
              <a:rPr lang="ru-RU" sz="1100" dirty="0">
                <a:latin typeface="+mn-lt"/>
              </a:rPr>
            </a:br>
            <a:r>
              <a:rPr lang="ru-RU" sz="1100" dirty="0">
                <a:latin typeface="+mn-lt"/>
              </a:rPr>
              <a:t>месяце? Горизонт года/18 месяцев</a:t>
            </a:r>
            <a:endParaRPr lang="en-US" sz="1100" dirty="0">
              <a:latin typeface="+mn-lt"/>
            </a:endParaRPr>
          </a:p>
        </p:txBody>
      </p:sp>
      <p:sp>
        <p:nvSpPr>
          <p:cNvPr id="172" name="Text Box 20">
            <a:extLst>
              <a:ext uri="{FF2B5EF4-FFF2-40B4-BE49-F238E27FC236}">
                <a16:creationId xmlns:a16="http://schemas.microsoft.com/office/drawing/2014/main" id="{E0485FF5-88C1-4E26-A72D-708681E99B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228608" y="3817648"/>
            <a:ext cx="3329004" cy="582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7008" tIns="27008" rIns="27008" bIns="27008" anchor="ctr" anchorCtr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dirty="0">
                <a:latin typeface="+mn-lt"/>
              </a:rPr>
              <a:t>Хватит ли мощностей на заводе на ближайшие недели в соответствии с уровнем спросом? Горизонт года/18 месяцев</a:t>
            </a:r>
            <a:endParaRPr lang="en-US" sz="1100" dirty="0">
              <a:latin typeface="+mn-lt"/>
            </a:endParaRPr>
          </a:p>
        </p:txBody>
      </p:sp>
      <p:sp>
        <p:nvSpPr>
          <p:cNvPr id="173" name="Text Box 21">
            <a:extLst>
              <a:ext uri="{FF2B5EF4-FFF2-40B4-BE49-F238E27FC236}">
                <a16:creationId xmlns:a16="http://schemas.microsoft.com/office/drawing/2014/main" id="{B32EC8DA-9FE4-4C24-A2EF-E64BA96F80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228608" y="4430916"/>
            <a:ext cx="3329004" cy="579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7008" tIns="27008" rIns="27008" bIns="27008" anchor="ctr" anchorCtr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dirty="0">
                <a:latin typeface="+mn-lt"/>
              </a:rPr>
              <a:t>Какая последовательность операций на производственных линиях является оптимальной?</a:t>
            </a:r>
            <a:endParaRPr lang="en-US" sz="1100" dirty="0">
              <a:latin typeface="+mn-lt"/>
            </a:endParaRPr>
          </a:p>
        </p:txBody>
      </p:sp>
      <p:sp>
        <p:nvSpPr>
          <p:cNvPr id="174" name="Rectangle 3">
            <a:extLst>
              <a:ext uri="{FF2B5EF4-FFF2-40B4-BE49-F238E27FC236}">
                <a16:creationId xmlns:a16="http://schemas.microsoft.com/office/drawing/2014/main" id="{B2525536-E0DB-44F2-B555-EDEBFF84A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3593" y="5134971"/>
            <a:ext cx="3503150" cy="34489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69078" tIns="34539" rIns="69078" bIns="34539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</a:rPr>
              <a:t>Material Requirements Planning (MRP)</a:t>
            </a:r>
          </a:p>
        </p:txBody>
      </p:sp>
      <p:sp>
        <p:nvSpPr>
          <p:cNvPr id="175" name="Text Box 19">
            <a:extLst>
              <a:ext uri="{FF2B5EF4-FFF2-40B4-BE49-F238E27FC236}">
                <a16:creationId xmlns:a16="http://schemas.microsoft.com/office/drawing/2014/main" id="{C26EB93F-6022-448E-8CA2-10401F1ED10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228608" y="5040411"/>
            <a:ext cx="3329004" cy="52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7008" tIns="27008" rIns="27008" bIns="27008" anchor="ctr" anchorCtr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dirty="0">
                <a:latin typeface="+mn-lt"/>
              </a:rPr>
              <a:t>Покроют ли запасы сырья и упаковки спрос? Сколько и у кого необходимо заказать?</a:t>
            </a:r>
            <a:endParaRPr lang="en-US" sz="1100" dirty="0">
              <a:latin typeface="+mn-lt"/>
            </a:endParaRPr>
          </a:p>
        </p:txBody>
      </p:sp>
      <p:sp>
        <p:nvSpPr>
          <p:cNvPr id="176" name="TextBox 44">
            <a:extLst>
              <a:ext uri="{FF2B5EF4-FFF2-40B4-BE49-F238E27FC236}">
                <a16:creationId xmlns:a16="http://schemas.microsoft.com/office/drawing/2014/main" id="{1D4FEBA8-430F-4EA9-9F78-B2D159079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733" y="1383892"/>
            <a:ext cx="133972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defPPr>
              <a:defRPr lang="ru-RU"/>
            </a:defPPr>
            <a:lvl1pPr>
              <a:lnSpc>
                <a:spcPct val="100000"/>
              </a:lnSpc>
              <a:buClrTx/>
              <a:buSzTx/>
              <a:buFontTx/>
              <a:buNone/>
              <a:defRPr sz="1600" b="1">
                <a:cs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ru-RU" altLang="de-DE" dirty="0"/>
              <a:t>Потребители</a:t>
            </a:r>
            <a:endParaRPr lang="en-US" altLang="de-DE" dirty="0"/>
          </a:p>
        </p:txBody>
      </p:sp>
      <p:sp>
        <p:nvSpPr>
          <p:cNvPr id="177" name="TextBox 40">
            <a:extLst>
              <a:ext uri="{FF2B5EF4-FFF2-40B4-BE49-F238E27FC236}">
                <a16:creationId xmlns:a16="http://schemas.microsoft.com/office/drawing/2014/main" id="{012B5C31-F0E5-4E09-91FC-D825E2B28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97" y="1383892"/>
            <a:ext cx="144302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ct val="105000"/>
              </a:lnSpc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ru-RU" altLang="de-DE" sz="1600" b="1" dirty="0">
                <a:latin typeface="+mn-lt"/>
              </a:rPr>
              <a:t>Поставщики</a:t>
            </a:r>
            <a:endParaRPr lang="en-US" altLang="de-DE" sz="1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408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69481" y="233455"/>
            <a:ext cx="1172276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ERP против In.Plan: MRP в ERP и в SCP</a:t>
            </a:r>
            <a:endParaRPr lang="ru-RU" dirty="0"/>
          </a:p>
        </p:txBody>
      </p:sp>
      <p:sp>
        <p:nvSpPr>
          <p:cNvPr id="20" name="Карточка SAP"/>
          <p:cNvSpPr/>
          <p:nvPr/>
        </p:nvSpPr>
        <p:spPr>
          <a:xfrm>
            <a:off x="380000" y="1470000"/>
            <a:ext cx="5470000" cy="4380000"/>
          </a:xfrm>
          <a:prstGeom prst="roundRect">
            <a:avLst>
              <a:gd name="adj" fmla="val 4000"/>
            </a:avLst>
          </a:prstGeom>
          <a:solidFill>
            <a:srgbClr val="F2F2F3"/>
          </a:solidFill>
          <a:ln w="12700">
            <a:solidFill>
              <a:srgbClr val="DCDCE0"/>
            </a:solidFill>
          </a:ln>
        </p:spPr>
        <p:txBody>
          <a:bodyPr rtlCol="0" anchor="t"/>
          <a:lstStyle/>
          <a:p>
            <a:endParaRPr lang="ru-RU"/>
          </a:p>
        </p:txBody>
      </p:sp>
      <p:sp>
        <p:nvSpPr>
          <p:cNvPr id="30" name="Карточка InPlan"/>
          <p:cNvSpPr/>
          <p:nvPr/>
        </p:nvSpPr>
        <p:spPr>
          <a:xfrm>
            <a:off x="6342000" y="1470000"/>
            <a:ext cx="5470000" cy="4380000"/>
          </a:xfrm>
          <a:prstGeom prst="roundRect">
            <a:avLst>
              <a:gd name="adj" fmla="val 4000"/>
            </a:avLst>
          </a:prstGeom>
          <a:solidFill>
            <a:srgbClr val="F4ECFD"/>
          </a:solidFill>
          <a:ln w="12700">
            <a:solidFill>
              <a:srgbClr val="E3D2FB"/>
            </a:solidFill>
          </a:ln>
        </p:spPr>
        <p:txBody>
          <a:bodyPr rtlCol="0" anchor="t"/>
          <a:lstStyle/>
          <a:p>
            <a:endParaRPr lang="ru-RU"/>
          </a:p>
        </p:txBody>
      </p:sp>
      <p:sp>
        <p:nvSpPr>
          <p:cNvPr id="21" name="SAP заголовок"/>
          <p:cNvSpPr txBox="1"/>
          <p:nvPr/>
        </p:nvSpPr>
        <p:spPr>
          <a:xfrm>
            <a:off x="640000" y="1620000"/>
            <a:ext cx="4960000" cy="4300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r>
              <a:rPr lang="en-US" sz="1800" b="1" dirty="0">
                <a:solidFill>
                  <a:srgbClr val="3F3F46"/>
                </a:solidFill>
                <a:latin typeface="Manrope" charset="0"/>
                <a:cs typeface="Manrope" charset="0"/>
              </a:rPr>
              <a:t>ERP</a:t>
            </a:r>
            <a:r>
              <a:rPr lang="ru-RU" sz="1800" b="1" dirty="0">
                <a:solidFill>
                  <a:srgbClr val="3F3F46"/>
                </a:solidFill>
                <a:latin typeface="Manrope" charset="0"/>
                <a:cs typeface="Manrope" charset="0"/>
              </a:rPr>
              <a:t> (например </a:t>
            </a:r>
            <a:r>
              <a:rPr lang="en-US" sz="1800" b="1" dirty="0">
                <a:solidFill>
                  <a:srgbClr val="3F3F46"/>
                </a:solidFill>
                <a:latin typeface="Manrope" charset="0"/>
                <a:cs typeface="Manrope" charset="0"/>
              </a:rPr>
              <a:t>SAP ERP)</a:t>
            </a:r>
          </a:p>
        </p:txBody>
      </p:sp>
      <p:sp>
        <p:nvSpPr>
          <p:cNvPr id="22" name="SAP подзаголовок"/>
          <p:cNvSpPr txBox="1"/>
          <p:nvPr/>
        </p:nvSpPr>
        <p:spPr>
          <a:xfrm>
            <a:off x="640000" y="2050000"/>
            <a:ext cx="4960000" cy="3400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r>
              <a:rPr lang="ru-RU" sz="1300" b="1">
                <a:solidFill>
                  <a:srgbClr val="6B6B72"/>
                </a:solidFill>
                <a:latin typeface="Manrope" charset="0"/>
                <a:cs typeface="Manrope" charset="0"/>
              </a:rPr>
              <a:t>MRP — часть ERP-системы</a:t>
            </a:r>
          </a:p>
        </p:txBody>
      </p:sp>
      <p:sp>
        <p:nvSpPr>
          <p:cNvPr id="23" name="SAP список"/>
          <p:cNvSpPr txBox="1"/>
          <p:nvPr/>
        </p:nvSpPr>
        <p:spPr>
          <a:xfrm>
            <a:off x="640000" y="2560000"/>
            <a:ext cx="4960000" cy="31600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pPr marL="228600" indent="-228600">
              <a:lnSpc>
                <a:spcPct val="104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1300" b="0" dirty="0">
                <a:solidFill>
                  <a:srgbClr val="3F3F46"/>
                </a:solidFill>
                <a:latin typeface="Manrope" charset="0"/>
                <a:cs typeface="Manrope" charset="0"/>
              </a:rPr>
              <a:t>Реализовано исторически, по представлениям 20-летней давности</a:t>
            </a:r>
          </a:p>
          <a:p>
            <a:pPr marL="228600" indent="-228600">
              <a:lnSpc>
                <a:spcPct val="104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1300" b="0" dirty="0">
                <a:solidFill>
                  <a:srgbClr val="3F3F46"/>
                </a:solidFill>
                <a:latin typeface="Manrope" charset="0"/>
                <a:cs typeface="Manrope" charset="0"/>
              </a:rPr>
              <a:t>Фокус на отдельном заводе, без сквозной оптимизации</a:t>
            </a:r>
          </a:p>
          <a:p>
            <a:pPr marL="228600" indent="-228600">
              <a:lnSpc>
                <a:spcPct val="104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sz="1300" b="0" dirty="0">
                <a:solidFill>
                  <a:srgbClr val="3F3F46"/>
                </a:solidFill>
                <a:latin typeface="Manrope" charset="0"/>
                <a:cs typeface="Manrope" charset="0"/>
              </a:rPr>
              <a:t>Большая база клиентов не даёт быстро менять базовые, краеугольные части ERP</a:t>
            </a:r>
          </a:p>
        </p:txBody>
      </p:sp>
      <p:sp>
        <p:nvSpPr>
          <p:cNvPr id="31" name="InPlan заголовок"/>
          <p:cNvSpPr txBox="1"/>
          <p:nvPr/>
        </p:nvSpPr>
        <p:spPr>
          <a:xfrm>
            <a:off x="6602000" y="1620000"/>
            <a:ext cx="4960000" cy="4300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r>
              <a:rPr lang="en-US" sz="1800" b="1">
                <a:solidFill>
                  <a:schemeClr val="accent1"/>
                </a:solidFill>
                <a:latin typeface="Manrope" charset="0"/>
                <a:cs typeface="Manrope" charset="0"/>
              </a:rPr>
              <a:t>In.Plan · SCP</a:t>
            </a:r>
          </a:p>
        </p:txBody>
      </p:sp>
      <p:sp>
        <p:nvSpPr>
          <p:cNvPr id="32" name="InPlan подзаголовок"/>
          <p:cNvSpPr txBox="1"/>
          <p:nvPr/>
        </p:nvSpPr>
        <p:spPr>
          <a:xfrm>
            <a:off x="6602000" y="2050000"/>
            <a:ext cx="4960000" cy="340000"/>
          </a:xfrm>
          <a:prstGeom prst="rect">
            <a:avLst/>
          </a:prstGeom>
        </p:spPr>
        <p:txBody>
          <a:bodyPr vert="horz" wrap="square" lIns="0" tIns="0" rIns="0" bIns="0" rtlCol="0" anchor="t"/>
          <a:lstStyle/>
          <a:p>
            <a:r>
              <a:rPr lang="ru-RU" sz="1300" b="1">
                <a:solidFill>
                  <a:schemeClr val="accent1"/>
                </a:solidFill>
                <a:latin typeface="Manrope" charset="0"/>
                <a:cs typeface="Manrope" charset="0"/>
              </a:rPr>
              <a:t>MRP — часть Supply Chain Planning</a:t>
            </a:r>
          </a:p>
        </p:txBody>
      </p:sp>
      <p:sp>
        <p:nvSpPr>
          <p:cNvPr id="41" name="Чип 1"/>
          <p:cNvSpPr/>
          <p:nvPr/>
        </p:nvSpPr>
        <p:spPr>
          <a:xfrm>
            <a:off x="6602000" y="2570000"/>
            <a:ext cx="64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D2FB"/>
            </a:solidFill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1" name="Иконка сеть поставок" descr="Линейная иконка сети поставок с узлами и связями"/>
          <p:cNvPicPr>
            <a:picLocks noChangeAspect="1"/>
          </p:cNvPicPr>
          <p:nvPr/>
        </p:nvPicPr>
        <p:blipFill>
          <a:blip r:embed="rId3"/>
          <a:srcRect t="2713" b="2713"/>
          <a:stretch>
            <a:fillRect/>
          </a:stretch>
        </p:blipFill>
        <p:spPr>
          <a:xfrm>
            <a:off x="6662000" y="2630000"/>
            <a:ext cx="520000" cy="520000"/>
          </a:xfrm>
          <a:prstGeom prst="rect">
            <a:avLst/>
          </a:prstGeom>
        </p:spPr>
      </p:pic>
      <p:sp>
        <p:nvSpPr>
          <p:cNvPr id="61" name="Текст 1"/>
          <p:cNvSpPr txBox="1"/>
          <p:nvPr/>
        </p:nvSpPr>
        <p:spPr>
          <a:xfrm>
            <a:off x="7380000" y="2540000"/>
            <a:ext cx="4302000" cy="700000"/>
          </a:xfrm>
          <a:prstGeom prst="rect">
            <a:avLst/>
          </a:prstGeom>
        </p:spPr>
        <p:txBody>
          <a:bodyPr vert="horz"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ru-RU" sz="1250" b="1">
                <a:solidFill>
                  <a:schemeClr val="accent1"/>
                </a:solidFill>
                <a:latin typeface="Manrope" charset="0"/>
                <a:cs typeface="Manrope" charset="0"/>
              </a:rPr>
              <a:t>Планирование на сети поставок. </a:t>
            </a:r>
            <a:r>
              <a:rPr lang="ru-RU" sz="1250" b="0">
                <a:solidFill>
                  <a:srgbClr val="2A2A2E"/>
                </a:solidFill>
                <a:latin typeface="Manrope" charset="0"/>
                <a:cs typeface="Manrope" charset="0"/>
              </a:rPr>
              <a:t>Учёт ограничений по мощностям и приоритетам по всей сети, а не в рамках завода</a:t>
            </a:r>
          </a:p>
        </p:txBody>
      </p:sp>
      <p:sp>
        <p:nvSpPr>
          <p:cNvPr id="42" name="Чип 2"/>
          <p:cNvSpPr/>
          <p:nvPr/>
        </p:nvSpPr>
        <p:spPr>
          <a:xfrm>
            <a:off x="6602000" y="4220207"/>
            <a:ext cx="64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D2FB"/>
            </a:solidFill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2" name="Иконка транспорт" descr="Линейная иконка погрузки грузового транспорт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000" y="4280207"/>
            <a:ext cx="520000" cy="520000"/>
          </a:xfrm>
          <a:prstGeom prst="rect">
            <a:avLst/>
          </a:prstGeom>
        </p:spPr>
      </p:pic>
      <p:sp>
        <p:nvSpPr>
          <p:cNvPr id="62" name="Текст 2"/>
          <p:cNvSpPr txBox="1"/>
          <p:nvPr/>
        </p:nvSpPr>
        <p:spPr>
          <a:xfrm>
            <a:off x="7380000" y="4190207"/>
            <a:ext cx="4302000" cy="700000"/>
          </a:xfrm>
          <a:prstGeom prst="rect">
            <a:avLst/>
          </a:prstGeom>
        </p:spPr>
        <p:txBody>
          <a:bodyPr vert="horz"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1250" b="1" dirty="0">
                <a:solidFill>
                  <a:schemeClr val="accent1"/>
                </a:solidFill>
                <a:latin typeface="Manrope" charset="0"/>
                <a:cs typeface="Manrope" charset="0"/>
              </a:rPr>
              <a:t>Truck Builder. </a:t>
            </a:r>
            <a:r>
              <a:rPr lang="ru-RU" sz="1250" b="0" dirty="0">
                <a:solidFill>
                  <a:srgbClr val="2A2A2E"/>
                </a:solidFill>
                <a:latin typeface="Manrope" charset="0"/>
                <a:cs typeface="Manrope" charset="0"/>
              </a:rPr>
              <a:t>Плановые заявки на закупку и перемещение с учётом грузоподъёмности транспорта</a:t>
            </a:r>
          </a:p>
        </p:txBody>
      </p:sp>
      <p:sp>
        <p:nvSpPr>
          <p:cNvPr id="43" name="Чип 3"/>
          <p:cNvSpPr/>
          <p:nvPr/>
        </p:nvSpPr>
        <p:spPr>
          <a:xfrm>
            <a:off x="6602000" y="3382256"/>
            <a:ext cx="640000" cy="640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3D2FB"/>
            </a:solidFill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3" name="Иконка слои" descr="Линейная иконка объединённых слоёв в единую платформу"/>
          <p:cNvPicPr>
            <a:picLocks noChangeAspect="1"/>
          </p:cNvPicPr>
          <p:nvPr/>
        </p:nvPicPr>
        <p:blipFill>
          <a:blip r:embed="rId5"/>
          <a:srcRect l="10878" r="10878"/>
          <a:stretch>
            <a:fillRect/>
          </a:stretch>
        </p:blipFill>
        <p:spPr>
          <a:xfrm>
            <a:off x="6662000" y="3442256"/>
            <a:ext cx="520000" cy="520000"/>
          </a:xfrm>
          <a:prstGeom prst="rect">
            <a:avLst/>
          </a:prstGeom>
        </p:spPr>
      </p:pic>
      <p:sp>
        <p:nvSpPr>
          <p:cNvPr id="63" name="Текст 3"/>
          <p:cNvSpPr txBox="1"/>
          <p:nvPr/>
        </p:nvSpPr>
        <p:spPr>
          <a:xfrm>
            <a:off x="7380000" y="3352256"/>
            <a:ext cx="4302000" cy="700000"/>
          </a:xfrm>
          <a:prstGeom prst="rect">
            <a:avLst/>
          </a:prstGeom>
        </p:spPr>
        <p:txBody>
          <a:bodyPr vert="horz"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ru-RU" sz="1250" b="1" dirty="0">
                <a:solidFill>
                  <a:schemeClr val="accent1"/>
                </a:solidFill>
                <a:latin typeface="Manrope" charset="0"/>
                <a:cs typeface="Manrope" charset="0"/>
              </a:rPr>
              <a:t>Единое пространство. </a:t>
            </a:r>
            <a:r>
              <a:rPr lang="ru-RU" sz="1250" b="0" dirty="0">
                <a:solidFill>
                  <a:srgbClr val="2A2A2E"/>
                </a:solidFill>
                <a:latin typeface="Manrope" charset="0"/>
                <a:cs typeface="Manrope" charset="0"/>
              </a:rPr>
              <a:t>Все процессы планирования в одной системе и едином информационном пространстве</a:t>
            </a:r>
          </a:p>
        </p:txBody>
      </p:sp>
      <p:sp>
        <p:nvSpPr>
          <p:cNvPr id="70" name="VS"/>
          <p:cNvSpPr/>
          <p:nvPr/>
        </p:nvSpPr>
        <p:spPr>
          <a:xfrm>
            <a:off x="5836000" y="3400000"/>
            <a:ext cx="520000" cy="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Manrope" charset="0"/>
                <a:cs typeface="Manrope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586407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EB775A-1508-2D57-6048-E52966176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31AD3-6CD1-2987-49D0-2F129E38E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процессов планирования</a:t>
            </a:r>
          </a:p>
        </p:txBody>
      </p:sp>
      <p:cxnSp>
        <p:nvCxnSpPr>
          <p:cNvPr id="4" name="Прямая соединительная линия 9">
            <a:extLst>
              <a:ext uri="{FF2B5EF4-FFF2-40B4-BE49-F238E27FC236}">
                <a16:creationId xmlns:a16="http://schemas.microsoft.com/office/drawing/2014/main" id="{E26DA9F9-A207-A141-D187-B610DF911082}"/>
              </a:ext>
            </a:extLst>
          </p:cNvPr>
          <p:cNvCxnSpPr>
            <a:cxnSpLocks/>
          </p:cNvCxnSpPr>
          <p:nvPr/>
        </p:nvCxnSpPr>
        <p:spPr>
          <a:xfrm>
            <a:off x="1488820" y="2639207"/>
            <a:ext cx="1002367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62">
            <a:extLst>
              <a:ext uri="{FF2B5EF4-FFF2-40B4-BE49-F238E27FC236}">
                <a16:creationId xmlns:a16="http://schemas.microsoft.com/office/drawing/2014/main" id="{FBDB44A3-03FB-FC9C-65B7-068498A3B57C}"/>
              </a:ext>
            </a:extLst>
          </p:cNvPr>
          <p:cNvCxnSpPr>
            <a:cxnSpLocks/>
          </p:cNvCxnSpPr>
          <p:nvPr/>
        </p:nvCxnSpPr>
        <p:spPr>
          <a:xfrm>
            <a:off x="1488820" y="4917512"/>
            <a:ext cx="10023676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87">
            <a:extLst>
              <a:ext uri="{FF2B5EF4-FFF2-40B4-BE49-F238E27FC236}">
                <a16:creationId xmlns:a16="http://schemas.microsoft.com/office/drawing/2014/main" id="{D9A0DE5F-5D5B-6356-5DF8-79208E5F7F2F}"/>
              </a:ext>
            </a:extLst>
          </p:cNvPr>
          <p:cNvSpPr txBox="1"/>
          <p:nvPr/>
        </p:nvSpPr>
        <p:spPr>
          <a:xfrm>
            <a:off x="338560" y="1836211"/>
            <a:ext cx="136436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Тактическое планирование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TextBox 87">
            <a:extLst>
              <a:ext uri="{FF2B5EF4-FFF2-40B4-BE49-F238E27FC236}">
                <a16:creationId xmlns:a16="http://schemas.microsoft.com/office/drawing/2014/main" id="{DFCFB8A3-5B88-9AAE-B4C5-215B50384B29}"/>
              </a:ext>
            </a:extLst>
          </p:cNvPr>
          <p:cNvSpPr txBox="1"/>
          <p:nvPr/>
        </p:nvSpPr>
        <p:spPr>
          <a:xfrm>
            <a:off x="298441" y="5351065"/>
            <a:ext cx="119037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lang="ru-RU" sz="1200" b="1" kern="0" dirty="0">
                <a:latin typeface="Manrope  "/>
                <a:ea typeface="Arial Unicode MS" pitchFamily="34" charset="-128"/>
                <a:cs typeface="Arial Unicode MS" pitchFamily="34" charset="-128"/>
              </a:rPr>
              <a:t>Детальное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 планирование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Прямоугольник 67">
            <a:extLst>
              <a:ext uri="{FF2B5EF4-FFF2-40B4-BE49-F238E27FC236}">
                <a16:creationId xmlns:a16="http://schemas.microsoft.com/office/drawing/2014/main" id="{11D6047D-8DEF-9A24-2CA6-78D05571BEBA}"/>
              </a:ext>
            </a:extLst>
          </p:cNvPr>
          <p:cNvSpPr/>
          <p:nvPr/>
        </p:nvSpPr>
        <p:spPr>
          <a:xfrm>
            <a:off x="1726226" y="2828453"/>
            <a:ext cx="3016854" cy="101671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Планирование спроса </a:t>
            </a:r>
            <a:r>
              <a:rPr lang="en-US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(DP)</a:t>
            </a:r>
            <a:endParaRPr lang="ru-RU" sz="1000" dirty="0">
              <a:solidFill>
                <a:schemeClr val="tx1"/>
              </a:solidFill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10" name="Прямоугольник 72">
            <a:extLst>
              <a:ext uri="{FF2B5EF4-FFF2-40B4-BE49-F238E27FC236}">
                <a16:creationId xmlns:a16="http://schemas.microsoft.com/office/drawing/2014/main" id="{F749696E-CB19-C208-8E84-4A0C03FE1094}"/>
              </a:ext>
            </a:extLst>
          </p:cNvPr>
          <p:cNvSpPr/>
          <p:nvPr/>
        </p:nvSpPr>
        <p:spPr>
          <a:xfrm>
            <a:off x="2080999" y="5358870"/>
            <a:ext cx="1328400" cy="5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Календарное планирование</a:t>
            </a:r>
          </a:p>
        </p:txBody>
      </p:sp>
      <p:cxnSp>
        <p:nvCxnSpPr>
          <p:cNvPr id="11" name="Соединитель: уступ 117">
            <a:extLst>
              <a:ext uri="{FF2B5EF4-FFF2-40B4-BE49-F238E27FC236}">
                <a16:creationId xmlns:a16="http://schemas.microsoft.com/office/drawing/2014/main" id="{6F75E9FC-A797-F05A-B612-CEACC63A15B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693411" y="2110624"/>
            <a:ext cx="173355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67">
            <a:extLst>
              <a:ext uri="{FF2B5EF4-FFF2-40B4-BE49-F238E27FC236}">
                <a16:creationId xmlns:a16="http://schemas.microsoft.com/office/drawing/2014/main" id="{E8C4D4BA-DB8A-D2CD-1C08-5F375D3E910B}"/>
              </a:ext>
            </a:extLst>
          </p:cNvPr>
          <p:cNvSpPr/>
          <p:nvPr/>
        </p:nvSpPr>
        <p:spPr>
          <a:xfrm>
            <a:off x="2366417" y="1838519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en-US" sz="900">
                <a:latin typeface="Manrope  "/>
                <a:cs typeface="Arial" panose="020B0604020202020204" pitchFamily="34" charset="0"/>
              </a:rPr>
              <a:t>Demand Review</a:t>
            </a:r>
            <a:endParaRPr lang="ru-RU" sz="900" dirty="0"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13" name="Прямоугольник 67">
            <a:extLst>
              <a:ext uri="{FF2B5EF4-FFF2-40B4-BE49-F238E27FC236}">
                <a16:creationId xmlns:a16="http://schemas.microsoft.com/office/drawing/2014/main" id="{3AE96832-D824-A9BB-D7B2-99FB68A65798}"/>
              </a:ext>
            </a:extLst>
          </p:cNvPr>
          <p:cNvSpPr/>
          <p:nvPr/>
        </p:nvSpPr>
        <p:spPr>
          <a:xfrm>
            <a:off x="3866766" y="1838519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en-US" sz="900" dirty="0">
                <a:latin typeface="Manrope  "/>
                <a:cs typeface="Arial" panose="020B0604020202020204" pitchFamily="34" charset="0"/>
              </a:rPr>
              <a:t>Supply Review</a:t>
            </a:r>
            <a:endParaRPr lang="ru-RU" sz="900" dirty="0"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14" name="Прямоугольник 67">
            <a:extLst>
              <a:ext uri="{FF2B5EF4-FFF2-40B4-BE49-F238E27FC236}">
                <a16:creationId xmlns:a16="http://schemas.microsoft.com/office/drawing/2014/main" id="{59300BB2-84E5-009A-7CE2-3D87230A9534}"/>
              </a:ext>
            </a:extLst>
          </p:cNvPr>
          <p:cNvSpPr/>
          <p:nvPr/>
        </p:nvSpPr>
        <p:spPr>
          <a:xfrm>
            <a:off x="5367115" y="1838519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en-US" sz="900" dirty="0">
                <a:latin typeface="Manrope  "/>
                <a:cs typeface="Arial" panose="020B0604020202020204" pitchFamily="34" charset="0"/>
              </a:rPr>
              <a:t>Pre-S&amp;OP</a:t>
            </a:r>
            <a:endParaRPr lang="ru-RU" sz="900" dirty="0"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15" name="Прямоугольник 67">
            <a:extLst>
              <a:ext uri="{FF2B5EF4-FFF2-40B4-BE49-F238E27FC236}">
                <a16:creationId xmlns:a16="http://schemas.microsoft.com/office/drawing/2014/main" id="{D9F180E5-8867-5BC5-1A80-896CC5EF61C6}"/>
              </a:ext>
            </a:extLst>
          </p:cNvPr>
          <p:cNvSpPr/>
          <p:nvPr/>
        </p:nvSpPr>
        <p:spPr>
          <a:xfrm>
            <a:off x="6867464" y="1838519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en-US" sz="900" dirty="0">
                <a:latin typeface="Manrope  "/>
                <a:cs typeface="Arial" panose="020B0604020202020204" pitchFamily="34" charset="0"/>
              </a:rPr>
              <a:t>Exec-S&amp;OP</a:t>
            </a:r>
            <a:endParaRPr lang="ru-RU" sz="900" dirty="0"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16" name="TextBox 87">
            <a:extLst>
              <a:ext uri="{FF2B5EF4-FFF2-40B4-BE49-F238E27FC236}">
                <a16:creationId xmlns:a16="http://schemas.microsoft.com/office/drawing/2014/main" id="{1CCBF4DB-A413-C470-DE0A-82052630939B}"/>
              </a:ext>
            </a:extLst>
          </p:cNvPr>
          <p:cNvSpPr txBox="1"/>
          <p:nvPr/>
        </p:nvSpPr>
        <p:spPr>
          <a:xfrm>
            <a:off x="338560" y="999991"/>
            <a:ext cx="202738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Стратегическое планирование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Прямоугольник 67">
            <a:extLst>
              <a:ext uri="{FF2B5EF4-FFF2-40B4-BE49-F238E27FC236}">
                <a16:creationId xmlns:a16="http://schemas.microsoft.com/office/drawing/2014/main" id="{F72770FB-DB5E-4834-CC17-DCD21950E480}"/>
              </a:ext>
            </a:extLst>
          </p:cNvPr>
          <p:cNvSpPr/>
          <p:nvPr/>
        </p:nvSpPr>
        <p:spPr>
          <a:xfrm>
            <a:off x="8471383" y="1838519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Финансовое планирование</a:t>
            </a:r>
          </a:p>
        </p:txBody>
      </p:sp>
      <p:sp>
        <p:nvSpPr>
          <p:cNvPr id="18" name="Прямоугольник 67">
            <a:extLst>
              <a:ext uri="{FF2B5EF4-FFF2-40B4-BE49-F238E27FC236}">
                <a16:creationId xmlns:a16="http://schemas.microsoft.com/office/drawing/2014/main" id="{73322C51-1128-0583-9867-C7492623E6F7}"/>
              </a:ext>
            </a:extLst>
          </p:cNvPr>
          <p:cNvSpPr/>
          <p:nvPr/>
        </p:nvSpPr>
        <p:spPr>
          <a:xfrm>
            <a:off x="4335748" y="918283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Моделирование сети поставок</a:t>
            </a:r>
          </a:p>
        </p:txBody>
      </p:sp>
      <p:sp>
        <p:nvSpPr>
          <p:cNvPr id="19" name="TextBox 87">
            <a:extLst>
              <a:ext uri="{FF2B5EF4-FFF2-40B4-BE49-F238E27FC236}">
                <a16:creationId xmlns:a16="http://schemas.microsoft.com/office/drawing/2014/main" id="{A7527F9C-40BA-22C2-BE48-BB661858DA2A}"/>
              </a:ext>
            </a:extLst>
          </p:cNvPr>
          <p:cNvSpPr txBox="1"/>
          <p:nvPr/>
        </p:nvSpPr>
        <p:spPr>
          <a:xfrm>
            <a:off x="298441" y="6076621"/>
            <a:ext cx="246359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Исполнение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0" name="Соединитель: уступ 117">
            <a:extLst>
              <a:ext uri="{FF2B5EF4-FFF2-40B4-BE49-F238E27FC236}">
                <a16:creationId xmlns:a16="http://schemas.microsoft.com/office/drawing/2014/main" id="{185B81A9-F2C6-69E7-4653-9A56900776D9}"/>
              </a:ext>
            </a:extLst>
          </p:cNvPr>
          <p:cNvCxnSpPr>
            <a:cxnSpLocks/>
          </p:cNvCxnSpPr>
          <p:nvPr/>
        </p:nvCxnSpPr>
        <p:spPr>
          <a:xfrm>
            <a:off x="5193760" y="2110624"/>
            <a:ext cx="173355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117">
            <a:extLst>
              <a:ext uri="{FF2B5EF4-FFF2-40B4-BE49-F238E27FC236}">
                <a16:creationId xmlns:a16="http://schemas.microsoft.com/office/drawing/2014/main" id="{0C1328DD-1A48-17D2-6614-9241C136D33A}"/>
              </a:ext>
            </a:extLst>
          </p:cNvPr>
          <p:cNvCxnSpPr>
            <a:cxnSpLocks/>
          </p:cNvCxnSpPr>
          <p:nvPr/>
        </p:nvCxnSpPr>
        <p:spPr>
          <a:xfrm>
            <a:off x="6694109" y="2110624"/>
            <a:ext cx="173355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117">
            <a:extLst>
              <a:ext uri="{FF2B5EF4-FFF2-40B4-BE49-F238E27FC236}">
                <a16:creationId xmlns:a16="http://schemas.microsoft.com/office/drawing/2014/main" id="{3C65F24B-DC97-15D5-FBB1-D9384A3E67A7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flipH="1">
            <a:off x="8194458" y="2110624"/>
            <a:ext cx="276925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67">
            <a:extLst>
              <a:ext uri="{FF2B5EF4-FFF2-40B4-BE49-F238E27FC236}">
                <a16:creationId xmlns:a16="http://schemas.microsoft.com/office/drawing/2014/main" id="{7DFA1286-6994-7EA0-AC28-70916A914AA3}"/>
              </a:ext>
            </a:extLst>
          </p:cNvPr>
          <p:cNvSpPr/>
          <p:nvPr/>
        </p:nvSpPr>
        <p:spPr>
          <a:xfrm>
            <a:off x="1825698" y="3180584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Сбор исторических данных и формирование стат. прогноза</a:t>
            </a:r>
          </a:p>
        </p:txBody>
      </p:sp>
      <p:sp>
        <p:nvSpPr>
          <p:cNvPr id="24" name="Прямоугольник 67">
            <a:extLst>
              <a:ext uri="{FF2B5EF4-FFF2-40B4-BE49-F238E27FC236}">
                <a16:creationId xmlns:a16="http://schemas.microsoft.com/office/drawing/2014/main" id="{2E593D4A-9B30-EABF-0866-EDB7858F67E0}"/>
              </a:ext>
            </a:extLst>
          </p:cNvPr>
          <p:cNvSpPr/>
          <p:nvPr/>
        </p:nvSpPr>
        <p:spPr>
          <a:xfrm>
            <a:off x="3316064" y="3180584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Обогащение и формирование консенсус-прогноза</a:t>
            </a:r>
          </a:p>
        </p:txBody>
      </p:sp>
      <p:cxnSp>
        <p:nvCxnSpPr>
          <p:cNvPr id="25" name="Соединитель: уступ 117">
            <a:extLst>
              <a:ext uri="{FF2B5EF4-FFF2-40B4-BE49-F238E27FC236}">
                <a16:creationId xmlns:a16="http://schemas.microsoft.com/office/drawing/2014/main" id="{F2E34D79-79AC-92C9-D670-E7178FBB424A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029914" y="2382728"/>
            <a:ext cx="0" cy="417852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117">
            <a:extLst>
              <a:ext uri="{FF2B5EF4-FFF2-40B4-BE49-F238E27FC236}">
                <a16:creationId xmlns:a16="http://schemas.microsoft.com/office/drawing/2014/main" id="{1A01E2AD-7096-009E-8B78-D31A19AB3AC0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3152692" y="3452689"/>
            <a:ext cx="163372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67">
            <a:extLst>
              <a:ext uri="{FF2B5EF4-FFF2-40B4-BE49-F238E27FC236}">
                <a16:creationId xmlns:a16="http://schemas.microsoft.com/office/drawing/2014/main" id="{DEDC2D29-E6EE-DFBE-C55C-27DD75DB07E4}"/>
              </a:ext>
            </a:extLst>
          </p:cNvPr>
          <p:cNvSpPr/>
          <p:nvPr/>
        </p:nvSpPr>
        <p:spPr>
          <a:xfrm>
            <a:off x="4999245" y="2828453"/>
            <a:ext cx="3016854" cy="101671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Планирование сети поставок (</a:t>
            </a:r>
            <a:r>
              <a:rPr lang="en-US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PP, DRP)</a:t>
            </a:r>
            <a:endParaRPr lang="ru-RU" sz="1000" dirty="0">
              <a:solidFill>
                <a:schemeClr val="tx1"/>
              </a:solidFill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28" name="Прямоугольник 67">
            <a:extLst>
              <a:ext uri="{FF2B5EF4-FFF2-40B4-BE49-F238E27FC236}">
                <a16:creationId xmlns:a16="http://schemas.microsoft.com/office/drawing/2014/main" id="{83574FAC-9394-C165-2AFA-A6B8256AFF64}"/>
              </a:ext>
            </a:extLst>
          </p:cNvPr>
          <p:cNvSpPr/>
          <p:nvPr/>
        </p:nvSpPr>
        <p:spPr>
          <a:xfrm>
            <a:off x="5098717" y="3180584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Анализ спроса,  диагностика плана  и возникших дефицитов</a:t>
            </a:r>
          </a:p>
        </p:txBody>
      </p:sp>
      <p:sp>
        <p:nvSpPr>
          <p:cNvPr id="29" name="Прямоугольник 67">
            <a:extLst>
              <a:ext uri="{FF2B5EF4-FFF2-40B4-BE49-F238E27FC236}">
                <a16:creationId xmlns:a16="http://schemas.microsoft.com/office/drawing/2014/main" id="{B01A1908-35E7-BA47-71BA-21503665A764}"/>
              </a:ext>
            </a:extLst>
          </p:cNvPr>
          <p:cNvSpPr/>
          <p:nvPr/>
        </p:nvSpPr>
        <p:spPr>
          <a:xfrm>
            <a:off x="6589083" y="3180584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Расчет плана пополнения и производства</a:t>
            </a:r>
          </a:p>
        </p:txBody>
      </p:sp>
      <p:cxnSp>
        <p:nvCxnSpPr>
          <p:cNvPr id="30" name="Соединитель: уступ 117">
            <a:extLst>
              <a:ext uri="{FF2B5EF4-FFF2-40B4-BE49-F238E27FC236}">
                <a16:creationId xmlns:a16="http://schemas.microsoft.com/office/drawing/2014/main" id="{E4DBA18D-145D-72E0-6543-E18EB9F919F2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6425711" y="3452689"/>
            <a:ext cx="163372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67">
            <a:extLst>
              <a:ext uri="{FF2B5EF4-FFF2-40B4-BE49-F238E27FC236}">
                <a16:creationId xmlns:a16="http://schemas.microsoft.com/office/drawing/2014/main" id="{239FE772-6E14-3763-4DF7-B2D0AD97EE42}"/>
              </a:ext>
            </a:extLst>
          </p:cNvPr>
          <p:cNvSpPr/>
          <p:nvPr/>
        </p:nvSpPr>
        <p:spPr>
          <a:xfrm>
            <a:off x="9134880" y="3176024"/>
            <a:ext cx="1326994" cy="5442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Планирование закупок сырья и материалов (</a:t>
            </a:r>
            <a:r>
              <a:rPr lang="en-US" sz="900" dirty="0">
                <a:latin typeface="Manrope  "/>
                <a:cs typeface="Arial" panose="020B0604020202020204" pitchFamily="34" charset="0"/>
              </a:rPr>
              <a:t>MRP)</a:t>
            </a:r>
            <a:endParaRPr lang="ru-RU" sz="900" dirty="0"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32" name="Прямоугольник 67">
            <a:extLst>
              <a:ext uri="{FF2B5EF4-FFF2-40B4-BE49-F238E27FC236}">
                <a16:creationId xmlns:a16="http://schemas.microsoft.com/office/drawing/2014/main" id="{A1A5EC50-3A73-8C98-1ABF-F721D2BA7514}"/>
              </a:ext>
            </a:extLst>
          </p:cNvPr>
          <p:cNvSpPr/>
          <p:nvPr/>
        </p:nvSpPr>
        <p:spPr>
          <a:xfrm>
            <a:off x="4170321" y="4158729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Сегментация и расчет рекомендаций по уровням запасов</a:t>
            </a:r>
          </a:p>
        </p:txBody>
      </p:sp>
      <p:cxnSp>
        <p:nvCxnSpPr>
          <p:cNvPr id="33" name="Соединитель: уступ 117">
            <a:extLst>
              <a:ext uri="{FF2B5EF4-FFF2-40B4-BE49-F238E27FC236}">
                <a16:creationId xmlns:a16="http://schemas.microsoft.com/office/drawing/2014/main" id="{B554869F-A451-E74B-37BD-9ECA60E7356B}"/>
              </a:ext>
            </a:extLst>
          </p:cNvPr>
          <p:cNvCxnSpPr>
            <a:cxnSpLocks/>
            <a:stCxn id="32" idx="3"/>
            <a:endCxn id="28" idx="2"/>
          </p:cNvCxnSpPr>
          <p:nvPr/>
        </p:nvCxnSpPr>
        <p:spPr>
          <a:xfrm flipV="1">
            <a:off x="5497315" y="3724793"/>
            <a:ext cx="264899" cy="706041"/>
          </a:xfrm>
          <a:prstGeom prst="bentConnector2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: уступ 117">
            <a:extLst>
              <a:ext uri="{FF2B5EF4-FFF2-40B4-BE49-F238E27FC236}">
                <a16:creationId xmlns:a16="http://schemas.microsoft.com/office/drawing/2014/main" id="{014ECA7B-6835-477A-76D8-B2A0ED8C1751}"/>
              </a:ext>
            </a:extLst>
          </p:cNvPr>
          <p:cNvCxnSpPr>
            <a:cxnSpLocks/>
            <a:stCxn id="24" idx="2"/>
            <a:endCxn id="32" idx="1"/>
          </p:cNvCxnSpPr>
          <p:nvPr/>
        </p:nvCxnSpPr>
        <p:spPr>
          <a:xfrm rot="16200000" flipH="1">
            <a:off x="3721921" y="3982433"/>
            <a:ext cx="706041" cy="190760"/>
          </a:xfrm>
          <a:prstGeom prst="bentConnector2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117">
            <a:extLst>
              <a:ext uri="{FF2B5EF4-FFF2-40B4-BE49-F238E27FC236}">
                <a16:creationId xmlns:a16="http://schemas.microsoft.com/office/drawing/2014/main" id="{EC43CB42-FCA3-0850-4830-B42C3D7EF2C8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7916077" y="3448129"/>
            <a:ext cx="1218803" cy="456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Соединитель: уступ 117">
            <a:extLst>
              <a:ext uri="{FF2B5EF4-FFF2-40B4-BE49-F238E27FC236}">
                <a16:creationId xmlns:a16="http://schemas.microsoft.com/office/drawing/2014/main" id="{AA4FAB05-F71C-864A-3FAE-D7B29A060FA8}"/>
              </a:ext>
            </a:extLst>
          </p:cNvPr>
          <p:cNvCxnSpPr>
            <a:cxnSpLocks/>
            <a:stCxn id="29" idx="2"/>
            <a:endCxn id="67" idx="0"/>
          </p:cNvCxnSpPr>
          <p:nvPr/>
        </p:nvCxnSpPr>
        <p:spPr>
          <a:xfrm rot="5400000">
            <a:off x="4783310" y="2616093"/>
            <a:ext cx="1360570" cy="3577971"/>
          </a:xfrm>
          <a:prstGeom prst="bentConnector3">
            <a:avLst>
              <a:gd name="adj1" fmla="val 75079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Соединитель: уступ 117">
            <a:extLst>
              <a:ext uri="{FF2B5EF4-FFF2-40B4-BE49-F238E27FC236}">
                <a16:creationId xmlns:a16="http://schemas.microsoft.com/office/drawing/2014/main" id="{C4573BAC-AD31-14DD-FB86-D7BC6668488E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>
            <a:off x="4643058" y="3452689"/>
            <a:ext cx="455659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: уступ 117">
            <a:extLst>
              <a:ext uri="{FF2B5EF4-FFF2-40B4-BE49-F238E27FC236}">
                <a16:creationId xmlns:a16="http://schemas.microsoft.com/office/drawing/2014/main" id="{41E4E068-7679-B31E-0074-86414A7095BF}"/>
              </a:ext>
            </a:extLst>
          </p:cNvPr>
          <p:cNvCxnSpPr>
            <a:cxnSpLocks/>
            <a:stCxn id="18" idx="2"/>
            <a:endCxn id="12" idx="0"/>
          </p:cNvCxnSpPr>
          <p:nvPr/>
        </p:nvCxnSpPr>
        <p:spPr>
          <a:xfrm rot="5400000">
            <a:off x="3826567" y="665840"/>
            <a:ext cx="376027" cy="1969331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Соединитель: уступ 117">
            <a:extLst>
              <a:ext uri="{FF2B5EF4-FFF2-40B4-BE49-F238E27FC236}">
                <a16:creationId xmlns:a16="http://schemas.microsoft.com/office/drawing/2014/main" id="{BC73AC19-169A-8FCD-A1F7-6140D77ED0F9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 rot="5400000">
            <a:off x="4576741" y="1416014"/>
            <a:ext cx="376027" cy="468982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Прямоугольник 67">
            <a:extLst>
              <a:ext uri="{FF2B5EF4-FFF2-40B4-BE49-F238E27FC236}">
                <a16:creationId xmlns:a16="http://schemas.microsoft.com/office/drawing/2014/main" id="{4C63EF95-B0FA-AB28-47DD-BD6D44A706D7}"/>
              </a:ext>
            </a:extLst>
          </p:cNvPr>
          <p:cNvSpPr/>
          <p:nvPr/>
        </p:nvSpPr>
        <p:spPr>
          <a:xfrm>
            <a:off x="2811700" y="918283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Планирование целей организации</a:t>
            </a:r>
          </a:p>
        </p:txBody>
      </p:sp>
      <p:cxnSp>
        <p:nvCxnSpPr>
          <p:cNvPr id="41" name="Соединитель: уступ 117">
            <a:extLst>
              <a:ext uri="{FF2B5EF4-FFF2-40B4-BE49-F238E27FC236}">
                <a16:creationId xmlns:a16="http://schemas.microsoft.com/office/drawing/2014/main" id="{47EE52E1-9F0C-B9F2-B921-A04CA1591B2F}"/>
              </a:ext>
            </a:extLst>
          </p:cNvPr>
          <p:cNvCxnSpPr>
            <a:cxnSpLocks/>
            <a:stCxn id="40" idx="3"/>
            <a:endCxn id="18" idx="1"/>
          </p:cNvCxnSpPr>
          <p:nvPr/>
        </p:nvCxnSpPr>
        <p:spPr>
          <a:xfrm>
            <a:off x="4138694" y="1190388"/>
            <a:ext cx="197054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Прямоугольник 67">
            <a:extLst>
              <a:ext uri="{FF2B5EF4-FFF2-40B4-BE49-F238E27FC236}">
                <a16:creationId xmlns:a16="http://schemas.microsoft.com/office/drawing/2014/main" id="{A591463F-0267-2CEF-A65E-A3E0D5E3CA35}"/>
              </a:ext>
            </a:extLst>
          </p:cNvPr>
          <p:cNvSpPr/>
          <p:nvPr/>
        </p:nvSpPr>
        <p:spPr>
          <a:xfrm>
            <a:off x="3007348" y="6222891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Подтверждение факта исполнения заказов</a:t>
            </a:r>
          </a:p>
        </p:txBody>
      </p:sp>
      <p:sp>
        <p:nvSpPr>
          <p:cNvPr id="43" name="Прямоугольник 67">
            <a:extLst>
              <a:ext uri="{FF2B5EF4-FFF2-40B4-BE49-F238E27FC236}">
                <a16:creationId xmlns:a16="http://schemas.microsoft.com/office/drawing/2014/main" id="{F7FFF728-C058-4A65-0712-84EDEC72B32D}"/>
              </a:ext>
            </a:extLst>
          </p:cNvPr>
          <p:cNvSpPr/>
          <p:nvPr/>
        </p:nvSpPr>
        <p:spPr>
          <a:xfrm>
            <a:off x="4798567" y="6222891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Учет Произведенных заказов</a:t>
            </a:r>
          </a:p>
        </p:txBody>
      </p:sp>
      <p:cxnSp>
        <p:nvCxnSpPr>
          <p:cNvPr id="44" name="Соединитель: уступ 117">
            <a:extLst>
              <a:ext uri="{FF2B5EF4-FFF2-40B4-BE49-F238E27FC236}">
                <a16:creationId xmlns:a16="http://schemas.microsoft.com/office/drawing/2014/main" id="{D97BE321-810D-8193-BA05-DF03DEBCDCB1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4334342" y="6494996"/>
            <a:ext cx="464225" cy="0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Прямоугольник 72">
            <a:extLst>
              <a:ext uri="{FF2B5EF4-FFF2-40B4-BE49-F238E27FC236}">
                <a16:creationId xmlns:a16="http://schemas.microsoft.com/office/drawing/2014/main" id="{737597D1-1B9B-9F06-863A-0F74CE57C76F}"/>
              </a:ext>
            </a:extLst>
          </p:cNvPr>
          <p:cNvSpPr/>
          <p:nvPr/>
        </p:nvSpPr>
        <p:spPr>
          <a:xfrm>
            <a:off x="7528894" y="5263932"/>
            <a:ext cx="1328400" cy="5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Планирование загрузки транспортных средств (</a:t>
            </a:r>
            <a:r>
              <a:rPr lang="en-US" sz="900" dirty="0">
                <a:latin typeface="Manrope  "/>
                <a:cs typeface="Arial" panose="020B0604020202020204" pitchFamily="34" charset="0"/>
              </a:rPr>
              <a:t>TLB)</a:t>
            </a:r>
            <a:endParaRPr lang="ru-RU" sz="900" dirty="0">
              <a:latin typeface="Manrope  "/>
              <a:cs typeface="Arial" panose="020B0604020202020204" pitchFamily="34" charset="0"/>
            </a:endParaRPr>
          </a:p>
        </p:txBody>
      </p:sp>
      <p:cxnSp>
        <p:nvCxnSpPr>
          <p:cNvPr id="46" name="Соединитель: уступ 117">
            <a:extLst>
              <a:ext uri="{FF2B5EF4-FFF2-40B4-BE49-F238E27FC236}">
                <a16:creationId xmlns:a16="http://schemas.microsoft.com/office/drawing/2014/main" id="{51A85C5F-71B7-87D5-8EE5-615D9972BEF6}"/>
              </a:ext>
            </a:extLst>
          </p:cNvPr>
          <p:cNvCxnSpPr>
            <a:cxnSpLocks/>
            <a:stCxn id="66" idx="2"/>
            <a:endCxn id="42" idx="1"/>
          </p:cNvCxnSpPr>
          <p:nvPr/>
        </p:nvCxnSpPr>
        <p:spPr>
          <a:xfrm rot="5400000">
            <a:off x="3346243" y="5563575"/>
            <a:ext cx="592526" cy="1270316"/>
          </a:xfrm>
          <a:prstGeom prst="bentConnector4">
            <a:avLst>
              <a:gd name="adj1" fmla="val 22532"/>
              <a:gd name="adj2" fmla="val 117996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уступ 117">
            <a:extLst>
              <a:ext uri="{FF2B5EF4-FFF2-40B4-BE49-F238E27FC236}">
                <a16:creationId xmlns:a16="http://schemas.microsoft.com/office/drawing/2014/main" id="{94A2CC6E-39EB-47AD-5EFF-2505C802C3DD}"/>
              </a:ext>
            </a:extLst>
          </p:cNvPr>
          <p:cNvCxnSpPr>
            <a:cxnSpLocks/>
            <a:stCxn id="67" idx="0"/>
            <a:endCxn id="31" idx="2"/>
          </p:cNvCxnSpPr>
          <p:nvPr/>
        </p:nvCxnSpPr>
        <p:spPr>
          <a:xfrm rot="5400000" flipH="1" flipV="1">
            <a:off x="6053928" y="1340914"/>
            <a:ext cx="1365130" cy="6123768"/>
          </a:xfrm>
          <a:prstGeom prst="bentConnector3">
            <a:avLst>
              <a:gd name="adj1" fmla="val 17141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: уступ 117">
            <a:extLst>
              <a:ext uri="{FF2B5EF4-FFF2-40B4-BE49-F238E27FC236}">
                <a16:creationId xmlns:a16="http://schemas.microsoft.com/office/drawing/2014/main" id="{57C78A8B-B604-D640-D68E-1BF42A0B7D8C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 rot="16200000" flipH="1">
            <a:off x="6953268" y="4024105"/>
            <a:ext cx="1539139" cy="940514"/>
          </a:xfrm>
          <a:prstGeom prst="bentConnector3">
            <a:avLst>
              <a:gd name="adj1" fmla="val 49284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67">
            <a:extLst>
              <a:ext uri="{FF2B5EF4-FFF2-40B4-BE49-F238E27FC236}">
                <a16:creationId xmlns:a16="http://schemas.microsoft.com/office/drawing/2014/main" id="{7DCAA49B-7BFB-7126-4F72-4902923BE9F7}"/>
              </a:ext>
            </a:extLst>
          </p:cNvPr>
          <p:cNvSpPr/>
          <p:nvPr/>
        </p:nvSpPr>
        <p:spPr>
          <a:xfrm>
            <a:off x="7530300" y="6054967"/>
            <a:ext cx="1326994" cy="544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Управление загрузкой транспортных средств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B22003-9F88-E338-631A-E3178D2CE423}"/>
              </a:ext>
            </a:extLst>
          </p:cNvPr>
          <p:cNvSpPr/>
          <p:nvPr/>
        </p:nvSpPr>
        <p:spPr>
          <a:xfrm>
            <a:off x="4775991" y="4054050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MEIO</a:t>
            </a:r>
            <a:endParaRPr lang="ru-RU" sz="900" b="1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8AA977-E3FE-E383-7E2A-99E60226AEFE}"/>
              </a:ext>
            </a:extLst>
          </p:cNvPr>
          <p:cNvSpPr/>
          <p:nvPr/>
        </p:nvSpPr>
        <p:spPr>
          <a:xfrm>
            <a:off x="3866766" y="2752950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DP</a:t>
            </a:r>
            <a:endParaRPr lang="ru-RU" sz="9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A9817A-95CE-66C4-1D1C-6254F85ACDBD}"/>
              </a:ext>
            </a:extLst>
          </p:cNvPr>
          <p:cNvSpPr/>
          <p:nvPr/>
        </p:nvSpPr>
        <p:spPr>
          <a:xfrm>
            <a:off x="7456308" y="2752950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SNP</a:t>
            </a:r>
            <a:endParaRPr lang="ru-RU" sz="900" b="1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C90FB5-36FB-9D38-AF81-9E774A1D3B81}"/>
              </a:ext>
            </a:extLst>
          </p:cNvPr>
          <p:cNvSpPr/>
          <p:nvPr/>
        </p:nvSpPr>
        <p:spPr>
          <a:xfrm>
            <a:off x="9857747" y="3040594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MRP</a:t>
            </a:r>
            <a:endParaRPr lang="ru-RU" sz="900" b="1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D077059-43C8-F808-D2F0-A529B6F471F7}"/>
              </a:ext>
            </a:extLst>
          </p:cNvPr>
          <p:cNvSpPr/>
          <p:nvPr/>
        </p:nvSpPr>
        <p:spPr>
          <a:xfrm>
            <a:off x="8267320" y="5137434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 err="1"/>
              <a:t>In</a:t>
            </a:r>
            <a:r>
              <a:rPr lang="en-US" sz="900" b="1" err="1"/>
              <a:t>.</a:t>
            </a:r>
            <a:r>
              <a:rPr lang="en-US" sz="900" b="1"/>
              <a:t>Plan</a:t>
            </a:r>
            <a:r>
              <a:rPr lang="en-US" sz="900" b="1" dirty="0"/>
              <a:t> SNP</a:t>
            </a:r>
            <a:endParaRPr lang="ru-RU" sz="900" b="1" dirty="0"/>
          </a:p>
        </p:txBody>
      </p:sp>
      <p:cxnSp>
        <p:nvCxnSpPr>
          <p:cNvPr id="55" name="Соединитель: уступ 117">
            <a:extLst>
              <a:ext uri="{FF2B5EF4-FFF2-40B4-BE49-F238E27FC236}">
                <a16:creationId xmlns:a16="http://schemas.microsoft.com/office/drawing/2014/main" id="{C3518457-795E-C131-3BDC-8CBB2952790B}"/>
              </a:ext>
            </a:extLst>
          </p:cNvPr>
          <p:cNvCxnSpPr>
            <a:cxnSpLocks/>
            <a:stCxn id="45" idx="2"/>
            <a:endCxn id="49" idx="0"/>
          </p:cNvCxnSpPr>
          <p:nvPr/>
        </p:nvCxnSpPr>
        <p:spPr>
          <a:xfrm>
            <a:off x="8193094" y="5807532"/>
            <a:ext cx="703" cy="247435"/>
          </a:xfrm>
          <a:prstGeom prst="straightConnector1">
            <a:avLst/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87">
            <a:extLst>
              <a:ext uri="{FF2B5EF4-FFF2-40B4-BE49-F238E27FC236}">
                <a16:creationId xmlns:a16="http://schemas.microsoft.com/office/drawing/2014/main" id="{1716F38B-60F8-ABE7-A42B-DAB4538C68F9}"/>
              </a:ext>
            </a:extLst>
          </p:cNvPr>
          <p:cNvSpPr txBox="1"/>
          <p:nvPr/>
        </p:nvSpPr>
        <p:spPr>
          <a:xfrm>
            <a:off x="338560" y="1385990"/>
            <a:ext cx="202738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2-5 </a:t>
            </a:r>
            <a:r>
              <a:rPr kumimoji="0" lang="ru-RU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лет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7" name="TextBox 87">
            <a:extLst>
              <a:ext uri="{FF2B5EF4-FFF2-40B4-BE49-F238E27FC236}">
                <a16:creationId xmlns:a16="http://schemas.microsoft.com/office/drawing/2014/main" id="{87835988-1D10-DFC7-FF18-0C226A0D5E03}"/>
              </a:ext>
            </a:extLst>
          </p:cNvPr>
          <p:cNvSpPr txBox="1"/>
          <p:nvPr/>
        </p:nvSpPr>
        <p:spPr>
          <a:xfrm>
            <a:off x="338560" y="2212802"/>
            <a:ext cx="202738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12</a:t>
            </a: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-</a:t>
            </a:r>
            <a:r>
              <a:rPr kumimoji="0" lang="ru-RU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18</a:t>
            </a:r>
            <a:r>
              <a:rPr kumimoji="0" lang="en-US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sz="1100" kern="0" dirty="0">
                <a:latin typeface="Manrope  "/>
                <a:ea typeface="Arial Unicode MS" pitchFamily="34" charset="-128"/>
                <a:cs typeface="Arial Unicode MS" pitchFamily="34" charset="-128"/>
              </a:rPr>
              <a:t>месяцев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8" name="TextBox 87">
            <a:extLst>
              <a:ext uri="{FF2B5EF4-FFF2-40B4-BE49-F238E27FC236}">
                <a16:creationId xmlns:a16="http://schemas.microsoft.com/office/drawing/2014/main" id="{4CC9B0F8-DDBC-638A-867F-AD6AADFE02C9}"/>
              </a:ext>
            </a:extLst>
          </p:cNvPr>
          <p:cNvSpPr txBox="1"/>
          <p:nvPr/>
        </p:nvSpPr>
        <p:spPr>
          <a:xfrm>
            <a:off x="338560" y="3893387"/>
            <a:ext cx="202738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10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3-6 месяцев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9" name="TextBox 87">
            <a:extLst>
              <a:ext uri="{FF2B5EF4-FFF2-40B4-BE49-F238E27FC236}">
                <a16:creationId xmlns:a16="http://schemas.microsoft.com/office/drawing/2014/main" id="{02936BE0-1D81-8871-B03D-5761BA7021EE}"/>
              </a:ext>
            </a:extLst>
          </p:cNvPr>
          <p:cNvSpPr txBox="1"/>
          <p:nvPr/>
        </p:nvSpPr>
        <p:spPr>
          <a:xfrm>
            <a:off x="338560" y="5746671"/>
            <a:ext cx="202738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2 недели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6D9B97-F1C3-0A7D-2607-41543B06DC3F}"/>
              </a:ext>
            </a:extLst>
          </p:cNvPr>
          <p:cNvSpPr/>
          <p:nvPr/>
        </p:nvSpPr>
        <p:spPr>
          <a:xfrm>
            <a:off x="4907726" y="832610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SCD</a:t>
            </a:r>
            <a:endParaRPr lang="ru-RU" sz="900" b="1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7645FA4-B847-749C-99D4-0DAEB851ABF2}"/>
              </a:ext>
            </a:extLst>
          </p:cNvPr>
          <p:cNvSpPr/>
          <p:nvPr/>
        </p:nvSpPr>
        <p:spPr>
          <a:xfrm>
            <a:off x="9134880" y="1746836"/>
            <a:ext cx="900000" cy="1861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EPM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28D037A-F53F-5731-6A2F-5B2A62CBEAC4}"/>
              </a:ext>
            </a:extLst>
          </p:cNvPr>
          <p:cNvSpPr/>
          <p:nvPr/>
        </p:nvSpPr>
        <p:spPr>
          <a:xfrm>
            <a:off x="8267319" y="5928084"/>
            <a:ext cx="900000" cy="1861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TMS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61BF28-95CF-4F0A-E74C-F5F7FC639201}"/>
              </a:ext>
            </a:extLst>
          </p:cNvPr>
          <p:cNvSpPr/>
          <p:nvPr/>
        </p:nvSpPr>
        <p:spPr>
          <a:xfrm>
            <a:off x="3776935" y="6103530"/>
            <a:ext cx="900000" cy="1861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MES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AE09C5-B4FE-5172-1EDC-503D2C3FBA27}"/>
              </a:ext>
            </a:extLst>
          </p:cNvPr>
          <p:cNvSpPr/>
          <p:nvPr/>
        </p:nvSpPr>
        <p:spPr>
          <a:xfrm>
            <a:off x="5556589" y="6103530"/>
            <a:ext cx="900000" cy="1861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ERP</a:t>
            </a:r>
            <a:endParaRPr lang="ru-RU" sz="900" b="1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EFDD3DD-5267-4778-45AB-BA303E2A10B7}"/>
              </a:ext>
            </a:extLst>
          </p:cNvPr>
          <p:cNvSpPr/>
          <p:nvPr/>
        </p:nvSpPr>
        <p:spPr>
          <a:xfrm>
            <a:off x="7279500" y="1731930"/>
            <a:ext cx="936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Platform</a:t>
            </a:r>
            <a:endParaRPr lang="ru-RU" sz="900" b="1" dirty="0"/>
          </a:p>
        </p:txBody>
      </p:sp>
      <p:sp>
        <p:nvSpPr>
          <p:cNvPr id="66" name="Прямоугольник 72">
            <a:extLst>
              <a:ext uri="{FF2B5EF4-FFF2-40B4-BE49-F238E27FC236}">
                <a16:creationId xmlns:a16="http://schemas.microsoft.com/office/drawing/2014/main" id="{C39C82F3-6B1F-A487-32CB-C0141A2C5063}"/>
              </a:ext>
            </a:extLst>
          </p:cNvPr>
          <p:cNvSpPr/>
          <p:nvPr/>
        </p:nvSpPr>
        <p:spPr>
          <a:xfrm>
            <a:off x="3613464" y="5358870"/>
            <a:ext cx="1328400" cy="54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" tIns="14400" rIns="14400" bIns="14400" rtlCol="0" anchor="ctr"/>
          <a:lstStyle/>
          <a:p>
            <a:pPr algn="ctr"/>
            <a:r>
              <a:rPr lang="ru-RU" sz="900" dirty="0">
                <a:latin typeface="Manrope  "/>
                <a:cs typeface="Arial" panose="020B0604020202020204" pitchFamily="34" charset="0"/>
              </a:rPr>
              <a:t>Графикование</a:t>
            </a:r>
          </a:p>
        </p:txBody>
      </p:sp>
      <p:sp>
        <p:nvSpPr>
          <p:cNvPr id="67" name="Прямоугольник 67">
            <a:extLst>
              <a:ext uri="{FF2B5EF4-FFF2-40B4-BE49-F238E27FC236}">
                <a16:creationId xmlns:a16="http://schemas.microsoft.com/office/drawing/2014/main" id="{52B143C0-3A9F-395B-5A81-712259BB1463}"/>
              </a:ext>
            </a:extLst>
          </p:cNvPr>
          <p:cNvSpPr/>
          <p:nvPr/>
        </p:nvSpPr>
        <p:spPr>
          <a:xfrm>
            <a:off x="1854719" y="5085363"/>
            <a:ext cx="3639779" cy="88496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Производственное планирование и графикование (</a:t>
            </a:r>
            <a:r>
              <a:rPr lang="en-US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PS)</a:t>
            </a:r>
            <a:endParaRPr lang="ru-RU" sz="1000" dirty="0">
              <a:solidFill>
                <a:schemeClr val="tx1"/>
              </a:solidFill>
              <a:latin typeface="Manrope  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F578FD-0B8E-B22B-5994-AE86ACD4E6FD}"/>
              </a:ext>
            </a:extLst>
          </p:cNvPr>
          <p:cNvSpPr/>
          <p:nvPr/>
        </p:nvSpPr>
        <p:spPr>
          <a:xfrm>
            <a:off x="4833818" y="4949442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PS</a:t>
            </a:r>
            <a:endParaRPr lang="ru-RU" sz="900" b="1" dirty="0"/>
          </a:p>
        </p:txBody>
      </p:sp>
      <p:cxnSp>
        <p:nvCxnSpPr>
          <p:cNvPr id="69" name="Соединитель: уступ 117">
            <a:extLst>
              <a:ext uri="{FF2B5EF4-FFF2-40B4-BE49-F238E27FC236}">
                <a16:creationId xmlns:a16="http://schemas.microsoft.com/office/drawing/2014/main" id="{6E78CBA8-7528-97CE-CF41-5E667A90390B}"/>
              </a:ext>
            </a:extLst>
          </p:cNvPr>
          <p:cNvCxnSpPr>
            <a:cxnSpLocks/>
            <a:stCxn id="43" idx="3"/>
            <a:endCxn id="67" idx="3"/>
          </p:cNvCxnSpPr>
          <p:nvPr/>
        </p:nvCxnSpPr>
        <p:spPr>
          <a:xfrm flipH="1" flipV="1">
            <a:off x="5494498" y="5527846"/>
            <a:ext cx="631063" cy="967150"/>
          </a:xfrm>
          <a:prstGeom prst="bentConnector3">
            <a:avLst>
              <a:gd name="adj1" fmla="val -72185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87">
            <a:extLst>
              <a:ext uri="{FF2B5EF4-FFF2-40B4-BE49-F238E27FC236}">
                <a16:creationId xmlns:a16="http://schemas.microsoft.com/office/drawing/2014/main" id="{D115C429-DB4D-8943-6960-DB5A254AF3F5}"/>
              </a:ext>
            </a:extLst>
          </p:cNvPr>
          <p:cNvSpPr txBox="1"/>
          <p:nvPr/>
        </p:nvSpPr>
        <p:spPr>
          <a:xfrm>
            <a:off x="298442" y="3467226"/>
            <a:ext cx="108757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Оперативное планирование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1" name="TextBox 87">
            <a:extLst>
              <a:ext uri="{FF2B5EF4-FFF2-40B4-BE49-F238E27FC236}">
                <a16:creationId xmlns:a16="http://schemas.microsoft.com/office/drawing/2014/main" id="{54387A69-BBF4-E626-8010-2C188188F9B7}"/>
              </a:ext>
            </a:extLst>
          </p:cNvPr>
          <p:cNvSpPr txBox="1"/>
          <p:nvPr/>
        </p:nvSpPr>
        <p:spPr>
          <a:xfrm>
            <a:off x="338560" y="3884773"/>
            <a:ext cx="202738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645" marR="0" lvl="0" algn="l" defTabSz="91421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tabLst/>
              <a:defRPr/>
            </a:pPr>
            <a:r>
              <a:rPr kumimoji="0" lang="ru-RU" sz="11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 "/>
                <a:ea typeface="Arial Unicode MS" pitchFamily="34" charset="-128"/>
                <a:cs typeface="Arial Unicode MS" pitchFamily="34" charset="-128"/>
              </a:rPr>
              <a:t>3-6 месяцев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 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842C2-4DF5-A62E-9ABC-5CF3CAB0D737}"/>
              </a:ext>
            </a:extLst>
          </p:cNvPr>
          <p:cNvSpPr/>
          <p:nvPr/>
        </p:nvSpPr>
        <p:spPr>
          <a:xfrm>
            <a:off x="4789174" y="1733173"/>
            <a:ext cx="900000" cy="18612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rIns="18000" rtlCol="0" anchor="ctr"/>
          <a:lstStyle/>
          <a:p>
            <a:pPr algn="ctr"/>
            <a:r>
              <a:rPr lang="en-US" sz="900" b="1" dirty="0"/>
              <a:t>In.Plan SNP</a:t>
            </a:r>
            <a:endParaRPr lang="ru-RU" sz="900" b="1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5BB765FA-4059-7786-9B8A-BDA102A0EA04}"/>
              </a:ext>
            </a:extLst>
          </p:cNvPr>
          <p:cNvCxnSpPr>
            <a:cxnSpLocks/>
            <a:stCxn id="13" idx="2"/>
            <a:endCxn id="31" idx="0"/>
          </p:cNvCxnSpPr>
          <p:nvPr/>
        </p:nvCxnSpPr>
        <p:spPr>
          <a:xfrm rot="16200000" flipH="1">
            <a:off x="6767672" y="145319"/>
            <a:ext cx="793296" cy="5268114"/>
          </a:xfrm>
          <a:prstGeom prst="bentConnector3">
            <a:avLst>
              <a:gd name="adj1" fmla="val 18465"/>
            </a:avLst>
          </a:prstGeom>
          <a:ln>
            <a:solidFill>
              <a:schemeClr val="tx2">
                <a:lumMod val="65000"/>
                <a:lumOff val="3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Прямоугольник 67">
            <a:extLst>
              <a:ext uri="{FF2B5EF4-FFF2-40B4-BE49-F238E27FC236}">
                <a16:creationId xmlns:a16="http://schemas.microsoft.com/office/drawing/2014/main" id="{07F6A523-1CFF-A0AA-6E8F-7EECDC68DD45}"/>
              </a:ext>
            </a:extLst>
          </p:cNvPr>
          <p:cNvSpPr/>
          <p:nvPr/>
        </p:nvSpPr>
        <p:spPr>
          <a:xfrm>
            <a:off x="1726227" y="1536705"/>
            <a:ext cx="6541092" cy="1041908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ru-RU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Планирование продаж и операций </a:t>
            </a:r>
            <a:r>
              <a:rPr lang="en-US" sz="1000" dirty="0">
                <a:solidFill>
                  <a:schemeClr val="tx1"/>
                </a:solidFill>
                <a:latin typeface="Manrope  "/>
                <a:cs typeface="Arial" panose="020B0604020202020204" pitchFamily="34" charset="0"/>
              </a:rPr>
              <a:t>(S&amp;OP)</a:t>
            </a:r>
            <a:endParaRPr lang="ru-RU" sz="1000" dirty="0">
              <a:solidFill>
                <a:schemeClr val="tx1"/>
              </a:solidFill>
              <a:latin typeface="Manrope  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734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dirty="0"/>
              <a:t>Функциональное покрытие блока </a:t>
            </a:r>
            <a:r>
              <a:rPr lang="en-US" dirty="0"/>
              <a:t>Material Requirements Planning</a:t>
            </a:r>
            <a:endParaRPr lang="ru-RU" dirty="0"/>
          </a:p>
        </p:txBody>
      </p:sp>
      <p:sp>
        <p:nvSpPr>
          <p:cNvPr id="97" name="Google Shape;4687;p1">
            <a:extLst>
              <a:ext uri="{FF2B5EF4-FFF2-40B4-BE49-F238E27FC236}">
                <a16:creationId xmlns:a16="http://schemas.microsoft.com/office/drawing/2014/main" id="{EE0D9DD9-6784-4E50-B491-02189AAA3F66}"/>
              </a:ext>
            </a:extLst>
          </p:cNvPr>
          <p:cNvSpPr/>
          <p:nvPr/>
        </p:nvSpPr>
        <p:spPr>
          <a:xfrm>
            <a:off x="3216058" y="1537345"/>
            <a:ext cx="5738702" cy="4508920"/>
          </a:xfrm>
          <a:prstGeom prst="rect">
            <a:avLst/>
          </a:prstGeom>
          <a:noFill/>
          <a:ln w="12700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25" tIns="12150" rIns="60925" bIns="609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  <a:tabLst/>
              <a:defRPr/>
            </a:pPr>
            <a:endParaRPr kumimoji="0" sz="9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  <a:ea typeface="Arial"/>
              <a:cs typeface="Arial"/>
              <a:sym typeface="Arial"/>
            </a:endParaRPr>
          </a:p>
        </p:txBody>
      </p:sp>
      <p:sp>
        <p:nvSpPr>
          <p:cNvPr id="98" name="Rectangle 133">
            <a:extLst>
              <a:ext uri="{FF2B5EF4-FFF2-40B4-BE49-F238E27FC236}">
                <a16:creationId xmlns:a16="http://schemas.microsoft.com/office/drawing/2014/main" id="{39ADC7A3-A6DE-415A-8C8B-1E7FA3DD23E4}"/>
              </a:ext>
            </a:extLst>
          </p:cNvPr>
          <p:cNvSpPr/>
          <p:nvPr/>
        </p:nvSpPr>
        <p:spPr>
          <a:xfrm>
            <a:off x="10226375" y="1571331"/>
            <a:ext cx="1589499" cy="4508920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</a:rPr>
              <a:t>Внешние системы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anrope (Основной текст)"/>
            </a:endParaRPr>
          </a:p>
        </p:txBody>
      </p:sp>
      <p:sp>
        <p:nvSpPr>
          <p:cNvPr id="99" name="Rectangle 85">
            <a:extLst>
              <a:ext uri="{FF2B5EF4-FFF2-40B4-BE49-F238E27FC236}">
                <a16:creationId xmlns:a16="http://schemas.microsoft.com/office/drawing/2014/main" id="{BEC499E9-37FF-4D99-95DE-331BF1B8F53E}"/>
              </a:ext>
            </a:extLst>
          </p:cNvPr>
          <p:cNvSpPr/>
          <p:nvPr/>
        </p:nvSpPr>
        <p:spPr>
          <a:xfrm>
            <a:off x="269481" y="1571331"/>
            <a:ext cx="1591200" cy="4508920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</a:rPr>
              <a:t>Внешние системы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anrope (Основной текст)"/>
            </a:endParaRPr>
          </a:p>
        </p:txBody>
      </p:sp>
      <p:sp>
        <p:nvSpPr>
          <p:cNvPr id="100" name="Прямоугольник: скругленные углы 229">
            <a:extLst>
              <a:ext uri="{FF2B5EF4-FFF2-40B4-BE49-F238E27FC236}">
                <a16:creationId xmlns:a16="http://schemas.microsoft.com/office/drawing/2014/main" id="{217B707A-1328-45F1-BDC2-4028BB1E73F7}"/>
              </a:ext>
            </a:extLst>
          </p:cNvPr>
          <p:cNvSpPr/>
          <p:nvPr/>
        </p:nvSpPr>
        <p:spPr>
          <a:xfrm>
            <a:off x="10373125" y="2256982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ERP</a:t>
            </a:r>
            <a:endParaRPr lang="ru-RU" sz="1200" b="1" kern="0" dirty="0" err="1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01" name="Прямоугольник: скругленные углы 230">
            <a:extLst>
              <a:ext uri="{FF2B5EF4-FFF2-40B4-BE49-F238E27FC236}">
                <a16:creationId xmlns:a16="http://schemas.microsoft.com/office/drawing/2014/main" id="{DBC4BFC1-85DD-4BD2-88C6-65811AE7C212}"/>
              </a:ext>
            </a:extLst>
          </p:cNvPr>
          <p:cNvSpPr/>
          <p:nvPr/>
        </p:nvSpPr>
        <p:spPr>
          <a:xfrm>
            <a:off x="10373125" y="3159119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WMS</a:t>
            </a:r>
            <a:endParaRPr lang="ru-RU" sz="1200" b="1" kern="0" dirty="0" err="1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02" name="Прямоугольник: скругленные углы 231">
            <a:extLst>
              <a:ext uri="{FF2B5EF4-FFF2-40B4-BE49-F238E27FC236}">
                <a16:creationId xmlns:a16="http://schemas.microsoft.com/office/drawing/2014/main" id="{B2B566E6-D6EA-4B97-A962-B999C06EE86B}"/>
              </a:ext>
            </a:extLst>
          </p:cNvPr>
          <p:cNvSpPr/>
          <p:nvPr/>
        </p:nvSpPr>
        <p:spPr>
          <a:xfrm>
            <a:off x="10373125" y="4061256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TMS</a:t>
            </a:r>
          </a:p>
        </p:txBody>
      </p:sp>
      <p:sp>
        <p:nvSpPr>
          <p:cNvPr id="103" name="Прямоугольник: скругленные углы 243">
            <a:extLst>
              <a:ext uri="{FF2B5EF4-FFF2-40B4-BE49-F238E27FC236}">
                <a16:creationId xmlns:a16="http://schemas.microsoft.com/office/drawing/2014/main" id="{169E1BD1-80ED-4F66-9816-F6C3C3D2731F}"/>
              </a:ext>
            </a:extLst>
          </p:cNvPr>
          <p:cNvSpPr/>
          <p:nvPr/>
        </p:nvSpPr>
        <p:spPr>
          <a:xfrm>
            <a:off x="3361687" y="4987745"/>
            <a:ext cx="5454251" cy="2469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r>
              <a:rPr lang="ru-RU" sz="900" kern="0">
                <a:solidFill>
                  <a:schemeClr val="tx1"/>
                </a:solidFill>
                <a:latin typeface="Manrope (Основной текст)"/>
                <a:cs typeface="Arial" panose="020B0604020202020204" pitchFamily="34" charset="0"/>
              </a:rPr>
              <a:t>Сценарное планирование</a:t>
            </a:r>
            <a:endParaRPr lang="ru-RU" sz="900" kern="0" dirty="0">
              <a:solidFill>
                <a:schemeClr val="tx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04" name="Прямоугольник: скругленные углы 244">
            <a:extLst>
              <a:ext uri="{FF2B5EF4-FFF2-40B4-BE49-F238E27FC236}">
                <a16:creationId xmlns:a16="http://schemas.microsoft.com/office/drawing/2014/main" id="{37A1FCF0-15C9-42A1-97B5-104F6D42E7AC}"/>
              </a:ext>
            </a:extLst>
          </p:cNvPr>
          <p:cNvSpPr/>
          <p:nvPr/>
        </p:nvSpPr>
        <p:spPr>
          <a:xfrm>
            <a:off x="3361687" y="4644072"/>
            <a:ext cx="5454251" cy="267709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r>
              <a:rPr lang="ru-RU" sz="900" kern="0" dirty="0">
                <a:solidFill>
                  <a:schemeClr val="tx1"/>
                </a:solidFill>
                <a:latin typeface="Manrope (Основной текст)"/>
                <a:cs typeface="Arial" panose="020B0604020202020204" pitchFamily="34" charset="0"/>
              </a:rPr>
              <a:t>Обработка предупреждений</a:t>
            </a:r>
          </a:p>
        </p:txBody>
      </p:sp>
      <p:sp>
        <p:nvSpPr>
          <p:cNvPr id="105" name="Прямоугольник: скругленные углы 66">
            <a:extLst>
              <a:ext uri="{FF2B5EF4-FFF2-40B4-BE49-F238E27FC236}">
                <a16:creationId xmlns:a16="http://schemas.microsoft.com/office/drawing/2014/main" id="{245E9C07-2960-4203-95D1-0EC4995B8C1E}"/>
              </a:ext>
            </a:extLst>
          </p:cNvPr>
          <p:cNvSpPr/>
          <p:nvPr/>
        </p:nvSpPr>
        <p:spPr>
          <a:xfrm>
            <a:off x="3361687" y="5331418"/>
            <a:ext cx="5454251" cy="24699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r>
              <a:rPr lang="ru-RU" sz="900" kern="0" dirty="0">
                <a:solidFill>
                  <a:schemeClr val="tx1"/>
                </a:solidFill>
                <a:latin typeface="Manrope (Основной текст)"/>
                <a:cs typeface="Arial" panose="020B0604020202020204" pitchFamily="34" charset="0"/>
              </a:rPr>
              <a:t>Согласование планов</a:t>
            </a:r>
          </a:p>
        </p:txBody>
      </p:sp>
      <p:sp>
        <p:nvSpPr>
          <p:cNvPr id="106" name="Rectangle: Rounded Corners 107">
            <a:extLst>
              <a:ext uri="{FF2B5EF4-FFF2-40B4-BE49-F238E27FC236}">
                <a16:creationId xmlns:a16="http://schemas.microsoft.com/office/drawing/2014/main" id="{2E09E077-98F7-42C9-913E-AD56DDC763F4}"/>
              </a:ext>
            </a:extLst>
          </p:cNvPr>
          <p:cNvSpPr/>
          <p:nvPr/>
        </p:nvSpPr>
        <p:spPr>
          <a:xfrm>
            <a:off x="7087992" y="1746796"/>
            <a:ext cx="1734118" cy="690675"/>
          </a:xfrm>
          <a:prstGeom prst="rect">
            <a:avLst/>
          </a:prstGeom>
          <a:noFill/>
          <a:ln w="12700" cap="flat" cmpd="sng" algn="ctr">
            <a:solidFill>
              <a:schemeClr val="accent1">
                <a:lumMod val="50000"/>
              </a:schemeClr>
            </a:solidFill>
            <a:prstDash val="solid"/>
          </a:ln>
          <a:effectLst/>
        </p:spPr>
        <p:txBody>
          <a:bodyPr vert="horz" rtlCol="0" anchor="t"/>
          <a:lstStyle/>
          <a:p>
            <a:pPr algn="ctr"/>
            <a:r>
              <a:rPr lang="en-US" sz="1050" b="1" kern="0" dirty="0">
                <a:latin typeface="Manrope (Основной текст)"/>
              </a:rPr>
              <a:t>MEIO</a:t>
            </a:r>
            <a:endParaRPr lang="ru-RU" sz="1050" b="1" kern="0" dirty="0">
              <a:latin typeface="Manrope (Основной текст)"/>
            </a:endParaRPr>
          </a:p>
          <a:p>
            <a:pPr algn="ctr"/>
            <a:endParaRPr lang="ru-RU" sz="1100" kern="0" dirty="0">
              <a:latin typeface="Manrope (Основной текст)"/>
            </a:endParaRPr>
          </a:p>
        </p:txBody>
      </p:sp>
      <p:cxnSp>
        <p:nvCxnSpPr>
          <p:cNvPr id="107" name="Straight Arrow Connector 105">
            <a:extLst>
              <a:ext uri="{FF2B5EF4-FFF2-40B4-BE49-F238E27FC236}">
                <a16:creationId xmlns:a16="http://schemas.microsoft.com/office/drawing/2014/main" id="{9D66AA8A-2F52-4EF0-979B-1E016EFFE199}"/>
              </a:ext>
            </a:extLst>
          </p:cNvPr>
          <p:cNvCxnSpPr>
            <a:cxnSpLocks/>
          </p:cNvCxnSpPr>
          <p:nvPr/>
        </p:nvCxnSpPr>
        <p:spPr>
          <a:xfrm>
            <a:off x="8954760" y="3244095"/>
            <a:ext cx="1272736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6">
            <a:extLst>
              <a:ext uri="{FF2B5EF4-FFF2-40B4-BE49-F238E27FC236}">
                <a16:creationId xmlns:a16="http://schemas.microsoft.com/office/drawing/2014/main" id="{2167CD01-90D3-4E92-893B-49F61DE06408}"/>
              </a:ext>
            </a:extLst>
          </p:cNvPr>
          <p:cNvCxnSpPr>
            <a:cxnSpLocks/>
          </p:cNvCxnSpPr>
          <p:nvPr/>
        </p:nvCxnSpPr>
        <p:spPr>
          <a:xfrm>
            <a:off x="8954760" y="3665760"/>
            <a:ext cx="1272736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7">
            <a:extLst>
              <a:ext uri="{FF2B5EF4-FFF2-40B4-BE49-F238E27FC236}">
                <a16:creationId xmlns:a16="http://schemas.microsoft.com/office/drawing/2014/main" id="{DFFC6E40-8C0C-4755-9FF3-AB38701789C1}"/>
              </a:ext>
            </a:extLst>
          </p:cNvPr>
          <p:cNvCxnSpPr>
            <a:cxnSpLocks/>
          </p:cNvCxnSpPr>
          <p:nvPr/>
        </p:nvCxnSpPr>
        <p:spPr>
          <a:xfrm>
            <a:off x="8954760" y="4040815"/>
            <a:ext cx="1272736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8">
            <a:extLst>
              <a:ext uri="{FF2B5EF4-FFF2-40B4-BE49-F238E27FC236}">
                <a16:creationId xmlns:a16="http://schemas.microsoft.com/office/drawing/2014/main" id="{FF8873A1-ADB7-4278-9895-590292E56431}"/>
              </a:ext>
            </a:extLst>
          </p:cNvPr>
          <p:cNvCxnSpPr>
            <a:cxnSpLocks/>
          </p:cNvCxnSpPr>
          <p:nvPr/>
        </p:nvCxnSpPr>
        <p:spPr>
          <a:xfrm>
            <a:off x="8954760" y="4386103"/>
            <a:ext cx="1272736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98494EF1-28CC-4721-B866-4A40185EF52E}"/>
              </a:ext>
            </a:extLst>
          </p:cNvPr>
          <p:cNvSpPr txBox="1"/>
          <p:nvPr/>
        </p:nvSpPr>
        <p:spPr>
          <a:xfrm>
            <a:off x="9085716" y="3380423"/>
            <a:ext cx="1010825" cy="28846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Заявки на перемещение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14D9FC2-D003-43A5-8146-CAC1B95E966D}"/>
              </a:ext>
            </a:extLst>
          </p:cNvPr>
          <p:cNvSpPr txBox="1"/>
          <p:nvPr/>
        </p:nvSpPr>
        <p:spPr>
          <a:xfrm>
            <a:off x="8954760" y="4147787"/>
            <a:ext cx="1272736" cy="21208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Данные для систем отчетности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FB7FAB7-950C-4625-B38F-09B0CB72CC39}"/>
              </a:ext>
            </a:extLst>
          </p:cNvPr>
          <p:cNvSpPr txBox="1"/>
          <p:nvPr/>
        </p:nvSpPr>
        <p:spPr>
          <a:xfrm>
            <a:off x="9037733" y="3036242"/>
            <a:ext cx="1041893" cy="24185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Заявки на закупку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89E4202-D992-47F2-83EE-D0650C195EE8}"/>
              </a:ext>
            </a:extLst>
          </p:cNvPr>
          <p:cNvSpPr txBox="1"/>
          <p:nvPr/>
        </p:nvSpPr>
        <p:spPr>
          <a:xfrm>
            <a:off x="8998977" y="3830171"/>
            <a:ext cx="1184302" cy="241853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Плановые заказы</a:t>
            </a:r>
          </a:p>
        </p:txBody>
      </p:sp>
      <p:cxnSp>
        <p:nvCxnSpPr>
          <p:cNvPr id="115" name="Straight Arrow Connector 63">
            <a:extLst>
              <a:ext uri="{FF2B5EF4-FFF2-40B4-BE49-F238E27FC236}">
                <a16:creationId xmlns:a16="http://schemas.microsoft.com/office/drawing/2014/main" id="{F77BE8FF-41E0-4811-88E6-F2782BC3C745}"/>
              </a:ext>
            </a:extLst>
          </p:cNvPr>
          <p:cNvCxnSpPr>
            <a:cxnSpLocks/>
          </p:cNvCxnSpPr>
          <p:nvPr/>
        </p:nvCxnSpPr>
        <p:spPr>
          <a:xfrm>
            <a:off x="1873345" y="3564458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63">
            <a:extLst>
              <a:ext uri="{FF2B5EF4-FFF2-40B4-BE49-F238E27FC236}">
                <a16:creationId xmlns:a16="http://schemas.microsoft.com/office/drawing/2014/main" id="{505B7455-D291-43B5-ADD1-D809389B117B}"/>
              </a:ext>
            </a:extLst>
          </p:cNvPr>
          <p:cNvCxnSpPr>
            <a:cxnSpLocks/>
          </p:cNvCxnSpPr>
          <p:nvPr/>
        </p:nvCxnSpPr>
        <p:spPr>
          <a:xfrm>
            <a:off x="1873345" y="3980094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57">
            <a:extLst>
              <a:ext uri="{FF2B5EF4-FFF2-40B4-BE49-F238E27FC236}">
                <a16:creationId xmlns:a16="http://schemas.microsoft.com/office/drawing/2014/main" id="{8017282E-A617-4508-AF2A-8447DC365B67}"/>
              </a:ext>
            </a:extLst>
          </p:cNvPr>
          <p:cNvCxnSpPr>
            <a:cxnSpLocks/>
          </p:cNvCxnSpPr>
          <p:nvPr/>
        </p:nvCxnSpPr>
        <p:spPr>
          <a:xfrm>
            <a:off x="1873345" y="4395730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57">
            <a:extLst>
              <a:ext uri="{FF2B5EF4-FFF2-40B4-BE49-F238E27FC236}">
                <a16:creationId xmlns:a16="http://schemas.microsoft.com/office/drawing/2014/main" id="{7D019AF4-2CF5-40BF-85EB-7A99AB9DDBBB}"/>
              </a:ext>
            </a:extLst>
          </p:cNvPr>
          <p:cNvCxnSpPr>
            <a:cxnSpLocks/>
          </p:cNvCxnSpPr>
          <p:nvPr/>
        </p:nvCxnSpPr>
        <p:spPr>
          <a:xfrm>
            <a:off x="1873345" y="4811366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57">
            <a:extLst>
              <a:ext uri="{FF2B5EF4-FFF2-40B4-BE49-F238E27FC236}">
                <a16:creationId xmlns:a16="http://schemas.microsoft.com/office/drawing/2014/main" id="{99679FF5-6EE8-4031-BD32-CD642874E4CB}"/>
              </a:ext>
            </a:extLst>
          </p:cNvPr>
          <p:cNvCxnSpPr>
            <a:cxnSpLocks/>
          </p:cNvCxnSpPr>
          <p:nvPr/>
        </p:nvCxnSpPr>
        <p:spPr>
          <a:xfrm>
            <a:off x="1873345" y="5227002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57">
            <a:extLst>
              <a:ext uri="{FF2B5EF4-FFF2-40B4-BE49-F238E27FC236}">
                <a16:creationId xmlns:a16="http://schemas.microsoft.com/office/drawing/2014/main" id="{D17846A3-BB80-428B-B462-5912CF4F9457}"/>
              </a:ext>
            </a:extLst>
          </p:cNvPr>
          <p:cNvCxnSpPr>
            <a:cxnSpLocks/>
          </p:cNvCxnSpPr>
          <p:nvPr/>
        </p:nvCxnSpPr>
        <p:spPr>
          <a:xfrm>
            <a:off x="1873345" y="5614930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57">
            <a:extLst>
              <a:ext uri="{FF2B5EF4-FFF2-40B4-BE49-F238E27FC236}">
                <a16:creationId xmlns:a16="http://schemas.microsoft.com/office/drawing/2014/main" id="{F01F425A-26AC-4F7D-AC17-5A2A93BE17E3}"/>
              </a:ext>
            </a:extLst>
          </p:cNvPr>
          <p:cNvCxnSpPr>
            <a:cxnSpLocks/>
          </p:cNvCxnSpPr>
          <p:nvPr/>
        </p:nvCxnSpPr>
        <p:spPr>
          <a:xfrm>
            <a:off x="1873345" y="5965915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60">
            <a:extLst>
              <a:ext uri="{FF2B5EF4-FFF2-40B4-BE49-F238E27FC236}">
                <a16:creationId xmlns:a16="http://schemas.microsoft.com/office/drawing/2014/main" id="{8D46362A-BE79-4781-A5E7-4A0DBAFE7718}"/>
              </a:ext>
            </a:extLst>
          </p:cNvPr>
          <p:cNvCxnSpPr>
            <a:cxnSpLocks/>
          </p:cNvCxnSpPr>
          <p:nvPr/>
        </p:nvCxnSpPr>
        <p:spPr>
          <a:xfrm>
            <a:off x="1873345" y="2733186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60">
            <a:extLst>
              <a:ext uri="{FF2B5EF4-FFF2-40B4-BE49-F238E27FC236}">
                <a16:creationId xmlns:a16="http://schemas.microsoft.com/office/drawing/2014/main" id="{25A55A6E-F22F-45F2-A012-D7BA6E82638E}"/>
              </a:ext>
            </a:extLst>
          </p:cNvPr>
          <p:cNvCxnSpPr>
            <a:cxnSpLocks/>
          </p:cNvCxnSpPr>
          <p:nvPr/>
        </p:nvCxnSpPr>
        <p:spPr>
          <a:xfrm>
            <a:off x="1873345" y="2317550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EA9D3B5-1842-44F7-A8B7-B273F9D7C422}"/>
              </a:ext>
            </a:extLst>
          </p:cNvPr>
          <p:cNvSpPr txBox="1"/>
          <p:nvPr/>
        </p:nvSpPr>
        <p:spPr>
          <a:xfrm>
            <a:off x="1884058" y="2162431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Остатки ГП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6103111-C76F-4836-B3AD-17B05F380B8F}"/>
              </a:ext>
            </a:extLst>
          </p:cNvPr>
          <p:cNvSpPr txBox="1"/>
          <p:nvPr/>
        </p:nvSpPr>
        <p:spPr>
          <a:xfrm>
            <a:off x="1884058" y="2571242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Остатки сырья и ПФ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561395-ADE5-40A7-9BBD-B71318F376EA}"/>
              </a:ext>
            </a:extLst>
          </p:cNvPr>
          <p:cNvSpPr txBox="1"/>
          <p:nvPr/>
        </p:nvSpPr>
        <p:spPr>
          <a:xfrm>
            <a:off x="1884058" y="3402630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Ресурсы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C6B7520-7A1B-4680-B12F-A60AF705258D}"/>
              </a:ext>
            </a:extLst>
          </p:cNvPr>
          <p:cNvSpPr txBox="1"/>
          <p:nvPr/>
        </p:nvSpPr>
        <p:spPr>
          <a:xfrm>
            <a:off x="1884058" y="3772502"/>
            <a:ext cx="1332000" cy="144000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kern="0" dirty="0">
                <a:latin typeface="Manrope (Основной текст)"/>
              </a:rPr>
              <a:t>З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аказы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клиентов и заказы н</a:t>
            </a:r>
            <a:r>
              <a:rPr lang="ru-RU" sz="800" kern="0" dirty="0">
                <a:latin typeface="Manrope (Основной текст)"/>
              </a:rPr>
              <a:t>а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поставку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BCFF0E-ED8F-4A1A-AE1B-76086E7D2528}"/>
              </a:ext>
            </a:extLst>
          </p:cNvPr>
          <p:cNvSpPr txBox="1"/>
          <p:nvPr/>
        </p:nvSpPr>
        <p:spPr>
          <a:xfrm>
            <a:off x="1884058" y="1746796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Мастер данные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6723E2-C201-43FF-9DF3-C599DA2FFF15}"/>
              </a:ext>
            </a:extLst>
          </p:cNvPr>
          <p:cNvSpPr txBox="1"/>
          <p:nvPr/>
        </p:nvSpPr>
        <p:spPr>
          <a:xfrm>
            <a:off x="1884058" y="4243327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Товары в пути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21E17A5-7EE3-4681-BF31-71FA61FB52CC}"/>
              </a:ext>
            </a:extLst>
          </p:cNvPr>
          <p:cNvSpPr txBox="1"/>
          <p:nvPr/>
        </p:nvSpPr>
        <p:spPr>
          <a:xfrm>
            <a:off x="1884058" y="4658963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Цепи поставок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E707952-472A-460C-9D69-44913732D1EE}"/>
              </a:ext>
            </a:extLst>
          </p:cNvPr>
          <p:cNvSpPr txBox="1"/>
          <p:nvPr/>
        </p:nvSpPr>
        <p:spPr>
          <a:xfrm>
            <a:off x="1884058" y="5064162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BOM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и тех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карты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12FC3D6-D3B4-484B-B666-1A83F2236979}"/>
              </a:ext>
            </a:extLst>
          </p:cNvPr>
          <p:cNvSpPr txBox="1"/>
          <p:nvPr/>
        </p:nvSpPr>
        <p:spPr>
          <a:xfrm>
            <a:off x="1884058" y="5452089"/>
            <a:ext cx="1332000" cy="144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Доступные мощности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2713920-4FF2-47AE-AABD-40176AFC7176}"/>
              </a:ext>
            </a:extLst>
          </p:cNvPr>
          <p:cNvSpPr txBox="1"/>
          <p:nvPr/>
        </p:nvSpPr>
        <p:spPr>
          <a:xfrm>
            <a:off x="1884058" y="5808425"/>
            <a:ext cx="1332000" cy="144000"/>
          </a:xfrm>
          <a:prstGeom prst="rect">
            <a:avLst/>
          </a:prstGeom>
          <a:noFill/>
          <a:ln w="28575" cap="flat" cmpd="sng" algn="ctr">
            <a:noFill/>
            <a:prstDash val="solid"/>
            <a:headEnd type="none" w="med" len="med"/>
            <a:tailEnd type="triangle" w="med" len="med"/>
          </a:ln>
          <a:effectLst/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WIP</a:t>
            </a:r>
            <a:endParaRPr kumimoji="0" lang="ru-RU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</a:endParaRPr>
          </a:p>
        </p:txBody>
      </p:sp>
      <p:cxnSp>
        <p:nvCxnSpPr>
          <p:cNvPr id="134" name="Straight Arrow Connector 60">
            <a:extLst>
              <a:ext uri="{FF2B5EF4-FFF2-40B4-BE49-F238E27FC236}">
                <a16:creationId xmlns:a16="http://schemas.microsoft.com/office/drawing/2014/main" id="{7B1FF340-7951-40D1-BB7C-431A8431F6BB}"/>
              </a:ext>
            </a:extLst>
          </p:cNvPr>
          <p:cNvCxnSpPr>
            <a:cxnSpLocks/>
          </p:cNvCxnSpPr>
          <p:nvPr/>
        </p:nvCxnSpPr>
        <p:spPr>
          <a:xfrm>
            <a:off x="1884058" y="1901914"/>
            <a:ext cx="135447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Rectangle: Rounded Corners 120">
            <a:extLst>
              <a:ext uri="{FF2B5EF4-FFF2-40B4-BE49-F238E27FC236}">
                <a16:creationId xmlns:a16="http://schemas.microsoft.com/office/drawing/2014/main" id="{063DB96A-6964-4948-8F17-7AAB07301FEB}"/>
              </a:ext>
            </a:extLst>
          </p:cNvPr>
          <p:cNvSpPr/>
          <p:nvPr/>
        </p:nvSpPr>
        <p:spPr>
          <a:xfrm>
            <a:off x="3370637" y="2789480"/>
            <a:ext cx="2671897" cy="1763841"/>
          </a:xfrm>
          <a:prstGeom prst="rect">
            <a:avLst/>
          </a:prstGeom>
          <a:noFill/>
          <a:ln w="12700" cap="flat" cmpd="sng" algn="ctr">
            <a:solidFill>
              <a:srgbClr val="48007F"/>
            </a:solidFill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SNP</a:t>
            </a:r>
            <a:endParaRPr kumimoji="0" lang="ru-RU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</a:endParaRPr>
          </a:p>
        </p:txBody>
      </p:sp>
      <p:sp>
        <p:nvSpPr>
          <p:cNvPr id="136" name="Прямоугольник: скругленные углы 239">
            <a:extLst>
              <a:ext uri="{FF2B5EF4-FFF2-40B4-BE49-F238E27FC236}">
                <a16:creationId xmlns:a16="http://schemas.microsoft.com/office/drawing/2014/main" id="{D02C3335-1C72-41BD-B34A-8FECA6C6F8F0}"/>
              </a:ext>
            </a:extLst>
          </p:cNvPr>
          <p:cNvSpPr/>
          <p:nvPr/>
        </p:nvSpPr>
        <p:spPr>
          <a:xfrm>
            <a:off x="3494298" y="3152204"/>
            <a:ext cx="1165873" cy="5473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  <a:cs typeface="Arial" panose="020B0604020202020204" pitchFamily="34" charset="0"/>
              </a:rPr>
              <a:t>Получение прогноза и учет заказов клиентов</a:t>
            </a:r>
          </a:p>
        </p:txBody>
      </p:sp>
      <p:sp>
        <p:nvSpPr>
          <p:cNvPr id="137" name="Прямоугольник: скругленные углы 241">
            <a:extLst>
              <a:ext uri="{FF2B5EF4-FFF2-40B4-BE49-F238E27FC236}">
                <a16:creationId xmlns:a16="http://schemas.microsoft.com/office/drawing/2014/main" id="{A6200BF2-D562-43C3-99E0-E54DF46149AF}"/>
              </a:ext>
            </a:extLst>
          </p:cNvPr>
          <p:cNvSpPr/>
          <p:nvPr/>
        </p:nvSpPr>
        <p:spPr>
          <a:xfrm>
            <a:off x="4775438" y="3157885"/>
            <a:ext cx="1165873" cy="5473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  <a:cs typeface="Arial" panose="020B0604020202020204" pitchFamily="34" charset="0"/>
              </a:rPr>
              <a:t>Расчет плана без ограничений по мощностям</a:t>
            </a:r>
          </a:p>
        </p:txBody>
      </p:sp>
      <p:sp>
        <p:nvSpPr>
          <p:cNvPr id="138" name="Прямоугольник: скругленные углы 242">
            <a:extLst>
              <a:ext uri="{FF2B5EF4-FFF2-40B4-BE49-F238E27FC236}">
                <a16:creationId xmlns:a16="http://schemas.microsoft.com/office/drawing/2014/main" id="{53C096CD-F6DA-4354-9C84-BDAC953BF4F2}"/>
              </a:ext>
            </a:extLst>
          </p:cNvPr>
          <p:cNvSpPr/>
          <p:nvPr/>
        </p:nvSpPr>
        <p:spPr>
          <a:xfrm>
            <a:off x="4775438" y="3909326"/>
            <a:ext cx="1165873" cy="5473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  <a:cs typeface="Arial" panose="020B0604020202020204" pitchFamily="34" charset="0"/>
              </a:rPr>
              <a:t>Расчет ограниченного плана производства</a:t>
            </a:r>
          </a:p>
        </p:txBody>
      </p:sp>
      <p:sp>
        <p:nvSpPr>
          <p:cNvPr id="139" name="Rectangle: Rounded Corners 120">
            <a:extLst>
              <a:ext uri="{FF2B5EF4-FFF2-40B4-BE49-F238E27FC236}">
                <a16:creationId xmlns:a16="http://schemas.microsoft.com/office/drawing/2014/main" id="{C7891DF8-FC23-4F17-9E46-B7BD4E3F0961}"/>
              </a:ext>
            </a:extLst>
          </p:cNvPr>
          <p:cNvSpPr/>
          <p:nvPr/>
        </p:nvSpPr>
        <p:spPr>
          <a:xfrm>
            <a:off x="7280697" y="2770471"/>
            <a:ext cx="1541412" cy="839634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latin typeface="Manrope (Основной текст)"/>
              </a:rPr>
              <a:t>MRP</a:t>
            </a:r>
            <a:endParaRPr kumimoji="0" lang="ru-RU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</a:endParaRPr>
          </a:p>
        </p:txBody>
      </p:sp>
      <p:sp>
        <p:nvSpPr>
          <p:cNvPr id="140" name="Прямоугольник: скругленные углы 65">
            <a:extLst>
              <a:ext uri="{FF2B5EF4-FFF2-40B4-BE49-F238E27FC236}">
                <a16:creationId xmlns:a16="http://schemas.microsoft.com/office/drawing/2014/main" id="{63E13C7B-F78B-4C3F-A2F5-46DA239CDB3E}"/>
              </a:ext>
            </a:extLst>
          </p:cNvPr>
          <p:cNvSpPr/>
          <p:nvPr/>
        </p:nvSpPr>
        <p:spPr>
          <a:xfrm>
            <a:off x="7457600" y="3923279"/>
            <a:ext cx="1165873" cy="54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ctr"/>
          <a:lstStyle/>
          <a:p>
            <a:pPr algn="ctr"/>
            <a:r>
              <a:rPr lang="ru-RU" sz="900" kern="0" dirty="0">
                <a:solidFill>
                  <a:schemeClr val="tx1"/>
                </a:solidFill>
                <a:latin typeface="Manrope (Основной текст)"/>
                <a:cs typeface="Arial" panose="020B0604020202020204" pitchFamily="34" charset="0"/>
              </a:rPr>
              <a:t>Посменное планирование производства</a:t>
            </a:r>
          </a:p>
        </p:txBody>
      </p:sp>
      <p:sp>
        <p:nvSpPr>
          <p:cNvPr id="141" name="Прямоугольник: скругленные углы 68">
            <a:extLst>
              <a:ext uri="{FF2B5EF4-FFF2-40B4-BE49-F238E27FC236}">
                <a16:creationId xmlns:a16="http://schemas.microsoft.com/office/drawing/2014/main" id="{F9FAAEA6-31E5-4E17-A55A-CD1E2AFC94A8}"/>
              </a:ext>
            </a:extLst>
          </p:cNvPr>
          <p:cNvSpPr/>
          <p:nvPr/>
        </p:nvSpPr>
        <p:spPr>
          <a:xfrm>
            <a:off x="7457774" y="2987976"/>
            <a:ext cx="1165873" cy="54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  <a:cs typeface="Arial" panose="020B0604020202020204" pitchFamily="34" charset="0"/>
              </a:rPr>
              <a:t>Расчет потребности в сырье и упаковке </a:t>
            </a:r>
          </a:p>
        </p:txBody>
      </p:sp>
      <p:sp>
        <p:nvSpPr>
          <p:cNvPr id="142" name="Прямоугольник: скругленные углы 239">
            <a:extLst>
              <a:ext uri="{FF2B5EF4-FFF2-40B4-BE49-F238E27FC236}">
                <a16:creationId xmlns:a16="http://schemas.microsoft.com/office/drawing/2014/main" id="{247A9D46-0D4D-49A8-9010-3032C8221505}"/>
              </a:ext>
            </a:extLst>
          </p:cNvPr>
          <p:cNvSpPr/>
          <p:nvPr/>
        </p:nvSpPr>
        <p:spPr>
          <a:xfrm>
            <a:off x="3494298" y="3909326"/>
            <a:ext cx="1165873" cy="54731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nrope (Основной текст)"/>
                <a:cs typeface="Arial" panose="020B0604020202020204" pitchFamily="34" charset="0"/>
              </a:rPr>
              <a:t>Расчет неограниченного плана пополнения</a:t>
            </a:r>
          </a:p>
        </p:txBody>
      </p:sp>
      <p:sp>
        <p:nvSpPr>
          <p:cNvPr id="143" name="Прямоугольник: скругленные углы 231">
            <a:extLst>
              <a:ext uri="{FF2B5EF4-FFF2-40B4-BE49-F238E27FC236}">
                <a16:creationId xmlns:a16="http://schemas.microsoft.com/office/drawing/2014/main" id="{44AC1147-A96E-452B-95C7-0069479CC94D}"/>
              </a:ext>
            </a:extLst>
          </p:cNvPr>
          <p:cNvSpPr/>
          <p:nvPr/>
        </p:nvSpPr>
        <p:spPr>
          <a:xfrm>
            <a:off x="10373125" y="4963393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Etc.</a:t>
            </a:r>
            <a:endParaRPr lang="ru-RU" sz="1200" b="1" kern="0" dirty="0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44" name="Прямоугольник: скругленные углы 229">
            <a:extLst>
              <a:ext uri="{FF2B5EF4-FFF2-40B4-BE49-F238E27FC236}">
                <a16:creationId xmlns:a16="http://schemas.microsoft.com/office/drawing/2014/main" id="{4A25861F-5F39-44FF-8CF1-C12CEF3C8AF4}"/>
              </a:ext>
            </a:extLst>
          </p:cNvPr>
          <p:cNvSpPr/>
          <p:nvPr/>
        </p:nvSpPr>
        <p:spPr>
          <a:xfrm>
            <a:off x="421609" y="2256982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ERP</a:t>
            </a:r>
            <a:endParaRPr lang="ru-RU" sz="1200" b="1" kern="0" dirty="0" err="1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45" name="Прямоугольник: скругленные углы 230">
            <a:extLst>
              <a:ext uri="{FF2B5EF4-FFF2-40B4-BE49-F238E27FC236}">
                <a16:creationId xmlns:a16="http://schemas.microsoft.com/office/drawing/2014/main" id="{845B8A3F-E61F-463A-B0FB-B2B7F57A8A5C}"/>
              </a:ext>
            </a:extLst>
          </p:cNvPr>
          <p:cNvSpPr/>
          <p:nvPr/>
        </p:nvSpPr>
        <p:spPr>
          <a:xfrm>
            <a:off x="421609" y="3159119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BW</a:t>
            </a:r>
            <a:endParaRPr lang="ru-RU" sz="1200" b="1" kern="0" dirty="0" err="1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46" name="Прямоугольник: скругленные углы 231">
            <a:extLst>
              <a:ext uri="{FF2B5EF4-FFF2-40B4-BE49-F238E27FC236}">
                <a16:creationId xmlns:a16="http://schemas.microsoft.com/office/drawing/2014/main" id="{81A6B151-80C1-4843-92A9-6EE5CA5E3D02}"/>
              </a:ext>
            </a:extLst>
          </p:cNvPr>
          <p:cNvSpPr/>
          <p:nvPr/>
        </p:nvSpPr>
        <p:spPr>
          <a:xfrm>
            <a:off x="421609" y="4061256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Data Lake</a:t>
            </a:r>
            <a:endParaRPr lang="ru-RU" sz="1200" b="1" kern="0" dirty="0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47" name="Прямоугольник: скругленные углы 231">
            <a:extLst>
              <a:ext uri="{FF2B5EF4-FFF2-40B4-BE49-F238E27FC236}">
                <a16:creationId xmlns:a16="http://schemas.microsoft.com/office/drawing/2014/main" id="{21CE4992-1891-471E-BBE3-A6CA79F0060D}"/>
              </a:ext>
            </a:extLst>
          </p:cNvPr>
          <p:cNvSpPr/>
          <p:nvPr/>
        </p:nvSpPr>
        <p:spPr>
          <a:xfrm>
            <a:off x="421609" y="4963393"/>
            <a:ext cx="1296000" cy="7776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ysDot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1200" b="1" kern="0" dirty="0">
                <a:solidFill>
                  <a:schemeClr val="bg1"/>
                </a:solidFill>
                <a:latin typeface="Manrope (Основной текст)"/>
                <a:cs typeface="Arial" panose="020B0604020202020204" pitchFamily="34" charset="0"/>
              </a:rPr>
              <a:t>Etc.</a:t>
            </a:r>
            <a:endParaRPr lang="ru-RU" sz="1200" b="1" kern="0" dirty="0">
              <a:solidFill>
                <a:schemeClr val="bg1"/>
              </a:solidFill>
              <a:latin typeface="Manrope (Основной текст)"/>
              <a:cs typeface="Arial" panose="020B0604020202020204" pitchFamily="34" charset="0"/>
            </a:endParaRPr>
          </a:p>
        </p:txBody>
      </p:sp>
      <p:sp>
        <p:nvSpPr>
          <p:cNvPr id="149" name="Rectangle: Rounded Corners 120">
            <a:extLst>
              <a:ext uri="{FF2B5EF4-FFF2-40B4-BE49-F238E27FC236}">
                <a16:creationId xmlns:a16="http://schemas.microsoft.com/office/drawing/2014/main" id="{D2F32761-8162-471E-8B17-EE4A8BF5C42B}"/>
              </a:ext>
            </a:extLst>
          </p:cNvPr>
          <p:cNvSpPr/>
          <p:nvPr/>
        </p:nvSpPr>
        <p:spPr>
          <a:xfrm>
            <a:off x="3382850" y="1734996"/>
            <a:ext cx="1734118" cy="687571"/>
          </a:xfrm>
          <a:prstGeom prst="rect">
            <a:avLst/>
          </a:prstGeom>
          <a:noFill/>
          <a:ln w="12700" cap="flat" cmpd="sng" algn="ctr">
            <a:solidFill>
              <a:schemeClr val="accent1">
                <a:lumMod val="50000"/>
              </a:schemeClr>
            </a:solidFill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Demand Planning</a:t>
            </a:r>
            <a:endParaRPr kumimoji="0" lang="ru-RU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</a:endParaRPr>
          </a:p>
        </p:txBody>
      </p:sp>
      <p:cxnSp>
        <p:nvCxnSpPr>
          <p:cNvPr id="150" name="Соединитель: уступ 149">
            <a:extLst>
              <a:ext uri="{FF2B5EF4-FFF2-40B4-BE49-F238E27FC236}">
                <a16:creationId xmlns:a16="http://schemas.microsoft.com/office/drawing/2014/main" id="{826E813D-84BF-408F-8A0C-B047D8A61B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94791" y="2377684"/>
            <a:ext cx="366913" cy="456677"/>
          </a:xfrm>
          <a:prstGeom prst="bentConnector3">
            <a:avLst>
              <a:gd name="adj1" fmla="val 52694"/>
            </a:avLst>
          </a:prstGeom>
          <a:noFill/>
          <a:ln w="22225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672D5F65-7E01-4AF2-BECC-57A7AC4C64E7}"/>
              </a:ext>
            </a:extLst>
          </p:cNvPr>
          <p:cNvSpPr txBox="1"/>
          <p:nvPr/>
        </p:nvSpPr>
        <p:spPr>
          <a:xfrm>
            <a:off x="3583909" y="2187815"/>
            <a:ext cx="1332000" cy="14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900" kern="0" dirty="0">
                <a:latin typeface="Manrope (Основной текст)"/>
              </a:rPr>
              <a:t>П</a:t>
            </a:r>
            <a:r>
              <a:rPr kumimoji="0" lang="ru-R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рогноз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</a:t>
            </a: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спроса</a:t>
            </a:r>
          </a:p>
        </p:txBody>
      </p:sp>
      <p:cxnSp>
        <p:nvCxnSpPr>
          <p:cNvPr id="152" name="Прямая со стрелкой 151">
            <a:extLst>
              <a:ext uri="{FF2B5EF4-FFF2-40B4-BE49-F238E27FC236}">
                <a16:creationId xmlns:a16="http://schemas.microsoft.com/office/drawing/2014/main" id="{5D9AEB62-4869-466F-9453-F83DCF1A2E11}"/>
              </a:ext>
            </a:extLst>
          </p:cNvPr>
          <p:cNvCxnSpPr>
            <a:cxnSpLocks/>
          </p:cNvCxnSpPr>
          <p:nvPr/>
        </p:nvCxnSpPr>
        <p:spPr>
          <a:xfrm>
            <a:off x="6047609" y="4067446"/>
            <a:ext cx="1410165" cy="1"/>
          </a:xfrm>
          <a:prstGeom prst="straightConnector1">
            <a:avLst/>
          </a:prstGeom>
          <a:noFill/>
          <a:ln w="22225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9969C02-9619-44C9-9783-CC5ADA7DA53A}"/>
              </a:ext>
            </a:extLst>
          </p:cNvPr>
          <p:cNvSpPr txBox="1"/>
          <p:nvPr/>
        </p:nvSpPr>
        <p:spPr>
          <a:xfrm>
            <a:off x="6204383" y="3700276"/>
            <a:ext cx="965515" cy="424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kern="0" dirty="0">
                <a:latin typeface="Manrope (Основной текст)"/>
              </a:rPr>
              <a:t>П</a:t>
            </a:r>
            <a:r>
              <a:rPr kumimoji="0" lang="ru-RU" sz="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лановые</a:t>
            </a: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заказы на производство</a:t>
            </a:r>
          </a:p>
        </p:txBody>
      </p:sp>
      <p:cxnSp>
        <p:nvCxnSpPr>
          <p:cNvPr id="154" name="Соединитель: уступ 153">
            <a:extLst>
              <a:ext uri="{FF2B5EF4-FFF2-40B4-BE49-F238E27FC236}">
                <a16:creationId xmlns:a16="http://schemas.microsoft.com/office/drawing/2014/main" id="{802DEE67-976A-47E3-B3B0-E0A6920B9A36}"/>
              </a:ext>
            </a:extLst>
          </p:cNvPr>
          <p:cNvCxnSpPr>
            <a:cxnSpLocks/>
            <a:endCxn id="141" idx="1"/>
          </p:cNvCxnSpPr>
          <p:nvPr/>
        </p:nvCxnSpPr>
        <p:spPr>
          <a:xfrm flipV="1">
            <a:off x="6047609" y="3261635"/>
            <a:ext cx="1410165" cy="745420"/>
          </a:xfrm>
          <a:prstGeom prst="bentConnector3">
            <a:avLst>
              <a:gd name="adj1" fmla="val 5177"/>
            </a:avLst>
          </a:prstGeom>
          <a:noFill/>
          <a:ln w="22225" cap="flat" cmpd="sng" algn="ctr">
            <a:solidFill>
              <a:schemeClr val="accent1">
                <a:lumMod val="50000"/>
              </a:schemeClr>
            </a:solidFill>
            <a:prstDash val="dash"/>
            <a:headEnd type="none" w="med" len="med"/>
            <a:tailEnd type="triangle" w="med" len="med"/>
          </a:ln>
          <a:effectLst/>
        </p:spPr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FBA53A8-653F-4DD0-A677-7C9FD948ECCC}"/>
              </a:ext>
            </a:extLst>
          </p:cNvPr>
          <p:cNvSpPr txBox="1"/>
          <p:nvPr/>
        </p:nvSpPr>
        <p:spPr>
          <a:xfrm>
            <a:off x="6166195" y="2989582"/>
            <a:ext cx="1041893" cy="24185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Потребности </a:t>
            </a:r>
            <a:b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</a:br>
            <a:r>
              <a:rPr kumimoji="0" lang="ru-RU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на закупку</a:t>
            </a:r>
          </a:p>
        </p:txBody>
      </p:sp>
      <p:cxnSp>
        <p:nvCxnSpPr>
          <p:cNvPr id="156" name="Соединитель: уступ 155">
            <a:extLst>
              <a:ext uri="{FF2B5EF4-FFF2-40B4-BE49-F238E27FC236}">
                <a16:creationId xmlns:a16="http://schemas.microsoft.com/office/drawing/2014/main" id="{9B0B9F44-DC29-41F3-9185-136815B4E8AC}"/>
              </a:ext>
            </a:extLst>
          </p:cNvPr>
          <p:cNvCxnSpPr>
            <a:cxnSpLocks/>
          </p:cNvCxnSpPr>
          <p:nvPr/>
        </p:nvCxnSpPr>
        <p:spPr>
          <a:xfrm rot="5400000">
            <a:off x="6154815" y="989243"/>
            <a:ext cx="352009" cy="3248465"/>
          </a:xfrm>
          <a:prstGeom prst="bentConnector3">
            <a:avLst>
              <a:gd name="adj1" fmla="val 50000"/>
            </a:avLst>
          </a:prstGeom>
          <a:noFill/>
          <a:ln w="22225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13424CD9-3AEE-4348-9225-98CF41684728}"/>
              </a:ext>
            </a:extLst>
          </p:cNvPr>
          <p:cNvSpPr txBox="1"/>
          <p:nvPr/>
        </p:nvSpPr>
        <p:spPr>
          <a:xfrm>
            <a:off x="7192498" y="2146394"/>
            <a:ext cx="1525105" cy="21511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900" kern="0" dirty="0">
                <a:latin typeface="Manrope (Основной текст)"/>
              </a:rPr>
              <a:t>Р</a:t>
            </a:r>
            <a:r>
              <a:rPr kumimoji="0" lang="ru-R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екомендации</a:t>
            </a:r>
            <a:r>
              <a:rPr kumimoji="0" lang="ru-R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anrope (Основной текст)"/>
              </a:rPr>
              <a:t> </a:t>
            </a:r>
            <a:r>
              <a:rPr lang="ru-RU" sz="900" kern="0" dirty="0">
                <a:latin typeface="Manrope (Основной текст)"/>
              </a:rPr>
              <a:t>по уровням запасов</a:t>
            </a:r>
            <a:endParaRPr kumimoji="0" lang="ru-RU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5483B2F-8FF5-48FD-BAE0-C833B6715131}"/>
              </a:ext>
            </a:extLst>
          </p:cNvPr>
          <p:cNvGrpSpPr/>
          <p:nvPr/>
        </p:nvGrpSpPr>
        <p:grpSpPr>
          <a:xfrm>
            <a:off x="5537164" y="1703167"/>
            <a:ext cx="1130941" cy="258647"/>
            <a:chOff x="9556523" y="409639"/>
            <a:chExt cx="1339704" cy="306391"/>
          </a:xfrm>
        </p:grpSpPr>
        <p:sp>
          <p:nvSpPr>
            <p:cNvPr id="71" name="AutoShape 25">
              <a:extLst>
                <a:ext uri="{FF2B5EF4-FFF2-40B4-BE49-F238E27FC236}">
                  <a16:creationId xmlns:a16="http://schemas.microsoft.com/office/drawing/2014/main" id="{731AD522-642D-417E-8179-920A3079C68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9556523" y="411141"/>
              <a:ext cx="1336700" cy="3048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2" name="Freeform 27">
              <a:extLst>
                <a:ext uri="{FF2B5EF4-FFF2-40B4-BE49-F238E27FC236}">
                  <a16:creationId xmlns:a16="http://schemas.microsoft.com/office/drawing/2014/main" id="{A907C29E-CBFA-4C3B-B847-79E18B1DC2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75174" y="414145"/>
              <a:ext cx="55571" cy="300383"/>
            </a:xfrm>
            <a:custGeom>
              <a:avLst/>
              <a:gdLst>
                <a:gd name="T0" fmla="*/ 0 w 285"/>
                <a:gd name="T1" fmla="*/ 1530 h 1530"/>
                <a:gd name="T2" fmla="*/ 0 w 285"/>
                <a:gd name="T3" fmla="*/ 1530 h 1530"/>
                <a:gd name="T4" fmla="*/ 285 w 285"/>
                <a:gd name="T5" fmla="*/ 1530 h 1530"/>
                <a:gd name="T6" fmla="*/ 285 w 285"/>
                <a:gd name="T7" fmla="*/ 0 h 1530"/>
                <a:gd name="T8" fmla="*/ 0 w 285"/>
                <a:gd name="T9" fmla="*/ 0 h 1530"/>
                <a:gd name="T10" fmla="*/ 0 w 285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" h="1530">
                  <a:moveTo>
                    <a:pt x="0" y="1530"/>
                  </a:moveTo>
                  <a:lnTo>
                    <a:pt x="0" y="1530"/>
                  </a:lnTo>
                  <a:lnTo>
                    <a:pt x="285" y="1530"/>
                  </a:lnTo>
                  <a:lnTo>
                    <a:pt x="285" y="0"/>
                  </a:lnTo>
                  <a:lnTo>
                    <a:pt x="0" y="0"/>
                  </a:lnTo>
                  <a:lnTo>
                    <a:pt x="0" y="153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3" name="Freeform 28">
              <a:extLst>
                <a:ext uri="{FF2B5EF4-FFF2-40B4-BE49-F238E27FC236}">
                  <a16:creationId xmlns:a16="http://schemas.microsoft.com/office/drawing/2014/main" id="{C8D1BEFE-67C3-4789-939E-8F024C6400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69794" y="481731"/>
              <a:ext cx="228290" cy="232797"/>
            </a:xfrm>
            <a:custGeom>
              <a:avLst/>
              <a:gdLst>
                <a:gd name="T0" fmla="*/ 1097 w 1161"/>
                <a:gd name="T1" fmla="*/ 223 h 1186"/>
                <a:gd name="T2" fmla="*/ 1097 w 1161"/>
                <a:gd name="T3" fmla="*/ 223 h 1186"/>
                <a:gd name="T4" fmla="*/ 921 w 1161"/>
                <a:gd name="T5" fmla="*/ 55 h 1186"/>
                <a:gd name="T6" fmla="*/ 669 w 1161"/>
                <a:gd name="T7" fmla="*/ 0 h 1186"/>
                <a:gd name="T8" fmla="*/ 396 w 1161"/>
                <a:gd name="T9" fmla="*/ 60 h 1186"/>
                <a:gd name="T10" fmla="*/ 263 w 1161"/>
                <a:gd name="T11" fmla="*/ 165 h 1186"/>
                <a:gd name="T12" fmla="*/ 263 w 1161"/>
                <a:gd name="T13" fmla="*/ 13 h 1186"/>
                <a:gd name="T14" fmla="*/ 0 w 1161"/>
                <a:gd name="T15" fmla="*/ 13 h 1186"/>
                <a:gd name="T16" fmla="*/ 0 w 1161"/>
                <a:gd name="T17" fmla="*/ 1186 h 1186"/>
                <a:gd name="T18" fmla="*/ 276 w 1161"/>
                <a:gd name="T19" fmla="*/ 1186 h 1186"/>
                <a:gd name="T20" fmla="*/ 276 w 1161"/>
                <a:gd name="T21" fmla="*/ 593 h 1186"/>
                <a:gd name="T22" fmla="*/ 317 w 1161"/>
                <a:gd name="T23" fmla="*/ 396 h 1186"/>
                <a:gd name="T24" fmla="*/ 433 w 1161"/>
                <a:gd name="T25" fmla="*/ 279 h 1186"/>
                <a:gd name="T26" fmla="*/ 605 w 1161"/>
                <a:gd name="T27" fmla="*/ 239 h 1186"/>
                <a:gd name="T28" fmla="*/ 811 w 1161"/>
                <a:gd name="T29" fmla="*/ 316 h 1186"/>
                <a:gd name="T30" fmla="*/ 885 w 1161"/>
                <a:gd name="T31" fmla="*/ 549 h 1186"/>
                <a:gd name="T32" fmla="*/ 885 w 1161"/>
                <a:gd name="T33" fmla="*/ 1186 h 1186"/>
                <a:gd name="T34" fmla="*/ 1161 w 1161"/>
                <a:gd name="T35" fmla="*/ 1186 h 1186"/>
                <a:gd name="T36" fmla="*/ 1161 w 1161"/>
                <a:gd name="T37" fmla="*/ 514 h 1186"/>
                <a:gd name="T38" fmla="*/ 1097 w 1161"/>
                <a:gd name="T39" fmla="*/ 223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1" h="1186">
                  <a:moveTo>
                    <a:pt x="1097" y="223"/>
                  </a:moveTo>
                  <a:lnTo>
                    <a:pt x="1097" y="223"/>
                  </a:lnTo>
                  <a:cubicBezTo>
                    <a:pt x="1054" y="147"/>
                    <a:pt x="996" y="91"/>
                    <a:pt x="921" y="55"/>
                  </a:cubicBezTo>
                  <a:cubicBezTo>
                    <a:pt x="847" y="18"/>
                    <a:pt x="763" y="0"/>
                    <a:pt x="669" y="0"/>
                  </a:cubicBezTo>
                  <a:cubicBezTo>
                    <a:pt x="566" y="0"/>
                    <a:pt x="475" y="20"/>
                    <a:pt x="396" y="60"/>
                  </a:cubicBezTo>
                  <a:cubicBezTo>
                    <a:pt x="343" y="87"/>
                    <a:pt x="299" y="122"/>
                    <a:pt x="263" y="165"/>
                  </a:cubicBezTo>
                  <a:lnTo>
                    <a:pt x="263" y="13"/>
                  </a:lnTo>
                  <a:lnTo>
                    <a:pt x="0" y="13"/>
                  </a:lnTo>
                  <a:lnTo>
                    <a:pt x="0" y="1186"/>
                  </a:lnTo>
                  <a:lnTo>
                    <a:pt x="276" y="1186"/>
                  </a:lnTo>
                  <a:lnTo>
                    <a:pt x="276" y="593"/>
                  </a:lnTo>
                  <a:cubicBezTo>
                    <a:pt x="276" y="514"/>
                    <a:pt x="290" y="448"/>
                    <a:pt x="317" y="396"/>
                  </a:cubicBezTo>
                  <a:cubicBezTo>
                    <a:pt x="344" y="344"/>
                    <a:pt x="383" y="305"/>
                    <a:pt x="433" y="279"/>
                  </a:cubicBezTo>
                  <a:cubicBezTo>
                    <a:pt x="483" y="252"/>
                    <a:pt x="540" y="239"/>
                    <a:pt x="605" y="239"/>
                  </a:cubicBezTo>
                  <a:cubicBezTo>
                    <a:pt x="693" y="239"/>
                    <a:pt x="762" y="265"/>
                    <a:pt x="811" y="316"/>
                  </a:cubicBezTo>
                  <a:cubicBezTo>
                    <a:pt x="860" y="367"/>
                    <a:pt x="885" y="445"/>
                    <a:pt x="885" y="549"/>
                  </a:cubicBezTo>
                  <a:lnTo>
                    <a:pt x="885" y="1186"/>
                  </a:lnTo>
                  <a:lnTo>
                    <a:pt x="1161" y="1186"/>
                  </a:lnTo>
                  <a:lnTo>
                    <a:pt x="1161" y="514"/>
                  </a:lnTo>
                  <a:cubicBezTo>
                    <a:pt x="1161" y="395"/>
                    <a:pt x="1139" y="298"/>
                    <a:pt x="1097" y="22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4" name="Freeform 29">
              <a:extLst>
                <a:ext uri="{FF2B5EF4-FFF2-40B4-BE49-F238E27FC236}">
                  <a16:creationId xmlns:a16="http://schemas.microsoft.com/office/drawing/2014/main" id="{58E97070-4FFE-46DB-96F9-78FD66CAEE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30253" y="426160"/>
              <a:ext cx="240306" cy="286866"/>
            </a:xfrm>
            <a:custGeom>
              <a:avLst/>
              <a:gdLst>
                <a:gd name="T0" fmla="*/ 862 w 1228"/>
                <a:gd name="T1" fmla="*/ 734 h 1461"/>
                <a:gd name="T2" fmla="*/ 862 w 1228"/>
                <a:gd name="T3" fmla="*/ 734 h 1461"/>
                <a:gd name="T4" fmla="*/ 591 w 1228"/>
                <a:gd name="T5" fmla="*/ 810 h 1461"/>
                <a:gd name="T6" fmla="*/ 272 w 1228"/>
                <a:gd name="T7" fmla="*/ 810 h 1461"/>
                <a:gd name="T8" fmla="*/ 272 w 1228"/>
                <a:gd name="T9" fmla="*/ 230 h 1461"/>
                <a:gd name="T10" fmla="*/ 591 w 1228"/>
                <a:gd name="T11" fmla="*/ 230 h 1461"/>
                <a:gd name="T12" fmla="*/ 862 w 1228"/>
                <a:gd name="T13" fmla="*/ 305 h 1461"/>
                <a:gd name="T14" fmla="*/ 953 w 1228"/>
                <a:gd name="T15" fmla="*/ 520 h 1461"/>
                <a:gd name="T16" fmla="*/ 862 w 1228"/>
                <a:gd name="T17" fmla="*/ 734 h 1461"/>
                <a:gd name="T18" fmla="*/ 937 w 1228"/>
                <a:gd name="T19" fmla="*/ 63 h 1461"/>
                <a:gd name="T20" fmla="*/ 937 w 1228"/>
                <a:gd name="T21" fmla="*/ 63 h 1461"/>
                <a:gd name="T22" fmla="*/ 603 w 1228"/>
                <a:gd name="T23" fmla="*/ 0 h 1461"/>
                <a:gd name="T24" fmla="*/ 0 w 1228"/>
                <a:gd name="T25" fmla="*/ 0 h 1461"/>
                <a:gd name="T26" fmla="*/ 0 w 1228"/>
                <a:gd name="T27" fmla="*/ 1461 h 1461"/>
                <a:gd name="T28" fmla="*/ 272 w 1228"/>
                <a:gd name="T29" fmla="*/ 1461 h 1461"/>
                <a:gd name="T30" fmla="*/ 272 w 1228"/>
                <a:gd name="T31" fmla="*/ 1039 h 1461"/>
                <a:gd name="T32" fmla="*/ 603 w 1228"/>
                <a:gd name="T33" fmla="*/ 1039 h 1461"/>
                <a:gd name="T34" fmla="*/ 937 w 1228"/>
                <a:gd name="T35" fmla="*/ 977 h 1461"/>
                <a:gd name="T36" fmla="*/ 1152 w 1228"/>
                <a:gd name="T37" fmla="*/ 797 h 1461"/>
                <a:gd name="T38" fmla="*/ 1228 w 1228"/>
                <a:gd name="T39" fmla="*/ 520 h 1461"/>
                <a:gd name="T40" fmla="*/ 1152 w 1228"/>
                <a:gd name="T41" fmla="*/ 242 h 1461"/>
                <a:gd name="T42" fmla="*/ 937 w 1228"/>
                <a:gd name="T43" fmla="*/ 63 h 1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28" h="1461">
                  <a:moveTo>
                    <a:pt x="862" y="734"/>
                  </a:moveTo>
                  <a:lnTo>
                    <a:pt x="862" y="734"/>
                  </a:lnTo>
                  <a:cubicBezTo>
                    <a:pt x="801" y="784"/>
                    <a:pt x="711" y="810"/>
                    <a:pt x="591" y="810"/>
                  </a:cubicBezTo>
                  <a:lnTo>
                    <a:pt x="272" y="810"/>
                  </a:lnTo>
                  <a:lnTo>
                    <a:pt x="272" y="230"/>
                  </a:lnTo>
                  <a:lnTo>
                    <a:pt x="591" y="230"/>
                  </a:lnTo>
                  <a:cubicBezTo>
                    <a:pt x="711" y="230"/>
                    <a:pt x="801" y="255"/>
                    <a:pt x="862" y="305"/>
                  </a:cubicBezTo>
                  <a:cubicBezTo>
                    <a:pt x="923" y="355"/>
                    <a:pt x="953" y="427"/>
                    <a:pt x="953" y="520"/>
                  </a:cubicBezTo>
                  <a:cubicBezTo>
                    <a:pt x="953" y="612"/>
                    <a:pt x="923" y="683"/>
                    <a:pt x="862" y="734"/>
                  </a:cubicBezTo>
                  <a:close/>
                  <a:moveTo>
                    <a:pt x="937" y="63"/>
                  </a:moveTo>
                  <a:lnTo>
                    <a:pt x="937" y="63"/>
                  </a:lnTo>
                  <a:cubicBezTo>
                    <a:pt x="845" y="21"/>
                    <a:pt x="733" y="0"/>
                    <a:pt x="603" y="0"/>
                  </a:cubicBezTo>
                  <a:lnTo>
                    <a:pt x="0" y="0"/>
                  </a:lnTo>
                  <a:lnTo>
                    <a:pt x="0" y="1461"/>
                  </a:lnTo>
                  <a:lnTo>
                    <a:pt x="272" y="1461"/>
                  </a:lnTo>
                  <a:lnTo>
                    <a:pt x="272" y="1039"/>
                  </a:lnTo>
                  <a:lnTo>
                    <a:pt x="603" y="1039"/>
                  </a:lnTo>
                  <a:cubicBezTo>
                    <a:pt x="733" y="1039"/>
                    <a:pt x="845" y="1019"/>
                    <a:pt x="937" y="977"/>
                  </a:cubicBezTo>
                  <a:cubicBezTo>
                    <a:pt x="1030" y="935"/>
                    <a:pt x="1102" y="875"/>
                    <a:pt x="1152" y="797"/>
                  </a:cubicBezTo>
                  <a:cubicBezTo>
                    <a:pt x="1203" y="719"/>
                    <a:pt x="1228" y="627"/>
                    <a:pt x="1228" y="520"/>
                  </a:cubicBezTo>
                  <a:cubicBezTo>
                    <a:pt x="1228" y="413"/>
                    <a:pt x="1203" y="320"/>
                    <a:pt x="1152" y="242"/>
                  </a:cubicBezTo>
                  <a:cubicBezTo>
                    <a:pt x="1102" y="164"/>
                    <a:pt x="1030" y="105"/>
                    <a:pt x="937" y="6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5" name="Freeform 30">
              <a:extLst>
                <a:ext uri="{FF2B5EF4-FFF2-40B4-BE49-F238E27FC236}">
                  <a16:creationId xmlns:a16="http://schemas.microsoft.com/office/drawing/2014/main" id="{2B0C52CA-4F31-4F7C-8E48-EBBC6C4A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85577" y="409639"/>
              <a:ext cx="51065" cy="303387"/>
            </a:xfrm>
            <a:custGeom>
              <a:avLst/>
              <a:gdLst>
                <a:gd name="T0" fmla="*/ 0 w 262"/>
                <a:gd name="T1" fmla="*/ 1547 h 1547"/>
                <a:gd name="T2" fmla="*/ 0 w 262"/>
                <a:gd name="T3" fmla="*/ 1547 h 1547"/>
                <a:gd name="T4" fmla="*/ 262 w 262"/>
                <a:gd name="T5" fmla="*/ 1547 h 1547"/>
                <a:gd name="T6" fmla="*/ 262 w 262"/>
                <a:gd name="T7" fmla="*/ 0 h 1547"/>
                <a:gd name="T8" fmla="*/ 0 w 262"/>
                <a:gd name="T9" fmla="*/ 0 h 1547"/>
                <a:gd name="T10" fmla="*/ 0 w 262"/>
                <a:gd name="T11" fmla="*/ 1547 h 1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2" h="1547">
                  <a:moveTo>
                    <a:pt x="0" y="1547"/>
                  </a:moveTo>
                  <a:lnTo>
                    <a:pt x="0" y="1547"/>
                  </a:lnTo>
                  <a:lnTo>
                    <a:pt x="262" y="1547"/>
                  </a:lnTo>
                  <a:lnTo>
                    <a:pt x="262" y="0"/>
                  </a:lnTo>
                  <a:lnTo>
                    <a:pt x="0" y="0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6" name="Freeform 31">
              <a:extLst>
                <a:ext uri="{FF2B5EF4-FFF2-40B4-BE49-F238E27FC236}">
                  <a16:creationId xmlns:a16="http://schemas.microsoft.com/office/drawing/2014/main" id="{557B9E69-B0F4-416C-806E-BCDFBCF9C7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451662" y="492244"/>
              <a:ext cx="199754" cy="223786"/>
            </a:xfrm>
            <a:custGeom>
              <a:avLst/>
              <a:gdLst>
                <a:gd name="T0" fmla="*/ 644 w 1016"/>
                <a:gd name="T1" fmla="*/ 908 h 1142"/>
                <a:gd name="T2" fmla="*/ 644 w 1016"/>
                <a:gd name="T3" fmla="*/ 908 h 1142"/>
                <a:gd name="T4" fmla="*/ 471 w 1016"/>
                <a:gd name="T5" fmla="*/ 952 h 1142"/>
                <a:gd name="T6" fmla="*/ 314 w 1016"/>
                <a:gd name="T7" fmla="*/ 910 h 1142"/>
                <a:gd name="T8" fmla="*/ 257 w 1016"/>
                <a:gd name="T9" fmla="*/ 797 h 1142"/>
                <a:gd name="T10" fmla="*/ 303 w 1016"/>
                <a:gd name="T11" fmla="*/ 692 h 1142"/>
                <a:gd name="T12" fmla="*/ 484 w 1016"/>
                <a:gd name="T13" fmla="*/ 649 h 1142"/>
                <a:gd name="T14" fmla="*/ 754 w 1016"/>
                <a:gd name="T15" fmla="*/ 649 h 1142"/>
                <a:gd name="T16" fmla="*/ 754 w 1016"/>
                <a:gd name="T17" fmla="*/ 778 h 1142"/>
                <a:gd name="T18" fmla="*/ 644 w 1016"/>
                <a:gd name="T19" fmla="*/ 908 h 1142"/>
                <a:gd name="T20" fmla="*/ 883 w 1016"/>
                <a:gd name="T21" fmla="*/ 116 h 1142"/>
                <a:gd name="T22" fmla="*/ 883 w 1016"/>
                <a:gd name="T23" fmla="*/ 116 h 1142"/>
                <a:gd name="T24" fmla="*/ 507 w 1016"/>
                <a:gd name="T25" fmla="*/ 0 h 1142"/>
                <a:gd name="T26" fmla="*/ 248 w 1016"/>
                <a:gd name="T27" fmla="*/ 35 h 1142"/>
                <a:gd name="T28" fmla="*/ 33 w 1016"/>
                <a:gd name="T29" fmla="*/ 138 h 1142"/>
                <a:gd name="T30" fmla="*/ 136 w 1016"/>
                <a:gd name="T31" fmla="*/ 328 h 1142"/>
                <a:gd name="T32" fmla="*/ 290 w 1016"/>
                <a:gd name="T33" fmla="*/ 246 h 1142"/>
                <a:gd name="T34" fmla="*/ 475 w 1016"/>
                <a:gd name="T35" fmla="*/ 217 h 1142"/>
                <a:gd name="T36" fmla="*/ 685 w 1016"/>
                <a:gd name="T37" fmla="*/ 281 h 1142"/>
                <a:gd name="T38" fmla="*/ 754 w 1016"/>
                <a:gd name="T39" fmla="*/ 459 h 1142"/>
                <a:gd name="T40" fmla="*/ 754 w 1016"/>
                <a:gd name="T41" fmla="*/ 476 h 1142"/>
                <a:gd name="T42" fmla="*/ 465 w 1016"/>
                <a:gd name="T43" fmla="*/ 476 h 1142"/>
                <a:gd name="T44" fmla="*/ 192 w 1016"/>
                <a:gd name="T45" fmla="*/ 520 h 1142"/>
                <a:gd name="T46" fmla="*/ 45 w 1016"/>
                <a:gd name="T47" fmla="*/ 639 h 1142"/>
                <a:gd name="T48" fmla="*/ 0 w 1016"/>
                <a:gd name="T49" fmla="*/ 808 h 1142"/>
                <a:gd name="T50" fmla="*/ 51 w 1016"/>
                <a:gd name="T51" fmla="*/ 980 h 1142"/>
                <a:gd name="T52" fmla="*/ 197 w 1016"/>
                <a:gd name="T53" fmla="*/ 1099 h 1142"/>
                <a:gd name="T54" fmla="*/ 417 w 1016"/>
                <a:gd name="T55" fmla="*/ 1142 h 1142"/>
                <a:gd name="T56" fmla="*/ 663 w 1016"/>
                <a:gd name="T57" fmla="*/ 1087 h 1142"/>
                <a:gd name="T58" fmla="*/ 769 w 1016"/>
                <a:gd name="T59" fmla="*/ 992 h 1142"/>
                <a:gd name="T60" fmla="*/ 769 w 1016"/>
                <a:gd name="T61" fmla="*/ 1127 h 1142"/>
                <a:gd name="T62" fmla="*/ 1016 w 1016"/>
                <a:gd name="T63" fmla="*/ 1127 h 1142"/>
                <a:gd name="T64" fmla="*/ 1016 w 1016"/>
                <a:gd name="T65" fmla="*/ 474 h 1142"/>
                <a:gd name="T66" fmla="*/ 883 w 1016"/>
                <a:gd name="T67" fmla="*/ 116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6" h="1142">
                  <a:moveTo>
                    <a:pt x="644" y="908"/>
                  </a:moveTo>
                  <a:lnTo>
                    <a:pt x="644" y="908"/>
                  </a:lnTo>
                  <a:cubicBezTo>
                    <a:pt x="593" y="937"/>
                    <a:pt x="535" y="952"/>
                    <a:pt x="471" y="952"/>
                  </a:cubicBezTo>
                  <a:cubicBezTo>
                    <a:pt x="404" y="952"/>
                    <a:pt x="352" y="938"/>
                    <a:pt x="314" y="910"/>
                  </a:cubicBezTo>
                  <a:cubicBezTo>
                    <a:pt x="276" y="882"/>
                    <a:pt x="257" y="845"/>
                    <a:pt x="257" y="797"/>
                  </a:cubicBezTo>
                  <a:cubicBezTo>
                    <a:pt x="257" y="755"/>
                    <a:pt x="273" y="720"/>
                    <a:pt x="303" y="692"/>
                  </a:cubicBezTo>
                  <a:cubicBezTo>
                    <a:pt x="334" y="663"/>
                    <a:pt x="394" y="649"/>
                    <a:pt x="484" y="649"/>
                  </a:cubicBezTo>
                  <a:lnTo>
                    <a:pt x="754" y="649"/>
                  </a:lnTo>
                  <a:lnTo>
                    <a:pt x="754" y="778"/>
                  </a:lnTo>
                  <a:cubicBezTo>
                    <a:pt x="732" y="835"/>
                    <a:pt x="695" y="879"/>
                    <a:pt x="644" y="908"/>
                  </a:cubicBezTo>
                  <a:close/>
                  <a:moveTo>
                    <a:pt x="883" y="116"/>
                  </a:moveTo>
                  <a:lnTo>
                    <a:pt x="883" y="116"/>
                  </a:lnTo>
                  <a:cubicBezTo>
                    <a:pt x="794" y="39"/>
                    <a:pt x="669" y="0"/>
                    <a:pt x="507" y="0"/>
                  </a:cubicBezTo>
                  <a:cubicBezTo>
                    <a:pt x="417" y="0"/>
                    <a:pt x="331" y="12"/>
                    <a:pt x="248" y="35"/>
                  </a:cubicBezTo>
                  <a:cubicBezTo>
                    <a:pt x="165" y="57"/>
                    <a:pt x="93" y="92"/>
                    <a:pt x="33" y="138"/>
                  </a:cubicBezTo>
                  <a:lnTo>
                    <a:pt x="136" y="328"/>
                  </a:lnTo>
                  <a:cubicBezTo>
                    <a:pt x="178" y="293"/>
                    <a:pt x="229" y="266"/>
                    <a:pt x="290" y="246"/>
                  </a:cubicBezTo>
                  <a:cubicBezTo>
                    <a:pt x="351" y="227"/>
                    <a:pt x="412" y="217"/>
                    <a:pt x="475" y="217"/>
                  </a:cubicBezTo>
                  <a:cubicBezTo>
                    <a:pt x="569" y="217"/>
                    <a:pt x="639" y="238"/>
                    <a:pt x="685" y="281"/>
                  </a:cubicBezTo>
                  <a:cubicBezTo>
                    <a:pt x="731" y="323"/>
                    <a:pt x="754" y="383"/>
                    <a:pt x="754" y="459"/>
                  </a:cubicBezTo>
                  <a:lnTo>
                    <a:pt x="754" y="476"/>
                  </a:lnTo>
                  <a:lnTo>
                    <a:pt x="465" y="476"/>
                  </a:lnTo>
                  <a:cubicBezTo>
                    <a:pt x="352" y="476"/>
                    <a:pt x="261" y="490"/>
                    <a:pt x="192" y="520"/>
                  </a:cubicBezTo>
                  <a:cubicBezTo>
                    <a:pt x="124" y="549"/>
                    <a:pt x="75" y="589"/>
                    <a:pt x="45" y="639"/>
                  </a:cubicBezTo>
                  <a:cubicBezTo>
                    <a:pt x="15" y="689"/>
                    <a:pt x="0" y="745"/>
                    <a:pt x="0" y="808"/>
                  </a:cubicBezTo>
                  <a:cubicBezTo>
                    <a:pt x="0" y="872"/>
                    <a:pt x="17" y="929"/>
                    <a:pt x="51" y="980"/>
                  </a:cubicBezTo>
                  <a:cubicBezTo>
                    <a:pt x="85" y="1031"/>
                    <a:pt x="134" y="1070"/>
                    <a:pt x="197" y="1099"/>
                  </a:cubicBezTo>
                  <a:cubicBezTo>
                    <a:pt x="259" y="1127"/>
                    <a:pt x="333" y="1142"/>
                    <a:pt x="417" y="1142"/>
                  </a:cubicBezTo>
                  <a:cubicBezTo>
                    <a:pt x="516" y="1142"/>
                    <a:pt x="598" y="1123"/>
                    <a:pt x="663" y="1087"/>
                  </a:cubicBezTo>
                  <a:cubicBezTo>
                    <a:pt x="707" y="1062"/>
                    <a:pt x="743" y="1031"/>
                    <a:pt x="769" y="992"/>
                  </a:cubicBezTo>
                  <a:lnTo>
                    <a:pt x="769" y="1127"/>
                  </a:lnTo>
                  <a:lnTo>
                    <a:pt x="1016" y="1127"/>
                  </a:lnTo>
                  <a:lnTo>
                    <a:pt x="1016" y="474"/>
                  </a:lnTo>
                  <a:cubicBezTo>
                    <a:pt x="1016" y="312"/>
                    <a:pt x="971" y="193"/>
                    <a:pt x="883" y="11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7" name="Freeform 32">
              <a:extLst>
                <a:ext uri="{FF2B5EF4-FFF2-40B4-BE49-F238E27FC236}">
                  <a16:creationId xmlns:a16="http://schemas.microsoft.com/office/drawing/2014/main" id="{B901DEDD-C182-451D-A0BE-C53BB1A6B1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9952" y="492244"/>
              <a:ext cx="216275" cy="220782"/>
            </a:xfrm>
            <a:custGeom>
              <a:avLst/>
              <a:gdLst>
                <a:gd name="T0" fmla="*/ 1041 w 1102"/>
                <a:gd name="T1" fmla="*/ 212 h 1127"/>
                <a:gd name="T2" fmla="*/ 1041 w 1102"/>
                <a:gd name="T3" fmla="*/ 212 h 1127"/>
                <a:gd name="T4" fmla="*/ 874 w 1102"/>
                <a:gd name="T5" fmla="*/ 52 h 1127"/>
                <a:gd name="T6" fmla="*/ 634 w 1102"/>
                <a:gd name="T7" fmla="*/ 0 h 1127"/>
                <a:gd name="T8" fmla="*/ 376 w 1102"/>
                <a:gd name="T9" fmla="*/ 57 h 1127"/>
                <a:gd name="T10" fmla="*/ 249 w 1102"/>
                <a:gd name="T11" fmla="*/ 157 h 1127"/>
                <a:gd name="T12" fmla="*/ 249 w 1102"/>
                <a:gd name="T13" fmla="*/ 13 h 1127"/>
                <a:gd name="T14" fmla="*/ 0 w 1102"/>
                <a:gd name="T15" fmla="*/ 13 h 1127"/>
                <a:gd name="T16" fmla="*/ 0 w 1102"/>
                <a:gd name="T17" fmla="*/ 1127 h 1127"/>
                <a:gd name="T18" fmla="*/ 261 w 1102"/>
                <a:gd name="T19" fmla="*/ 1127 h 1127"/>
                <a:gd name="T20" fmla="*/ 261 w 1102"/>
                <a:gd name="T21" fmla="*/ 563 h 1127"/>
                <a:gd name="T22" fmla="*/ 300 w 1102"/>
                <a:gd name="T23" fmla="*/ 377 h 1127"/>
                <a:gd name="T24" fmla="*/ 410 w 1102"/>
                <a:gd name="T25" fmla="*/ 265 h 1127"/>
                <a:gd name="T26" fmla="*/ 574 w 1102"/>
                <a:gd name="T27" fmla="*/ 228 h 1127"/>
                <a:gd name="T28" fmla="*/ 770 w 1102"/>
                <a:gd name="T29" fmla="*/ 301 h 1127"/>
                <a:gd name="T30" fmla="*/ 840 w 1102"/>
                <a:gd name="T31" fmla="*/ 522 h 1127"/>
                <a:gd name="T32" fmla="*/ 840 w 1102"/>
                <a:gd name="T33" fmla="*/ 1127 h 1127"/>
                <a:gd name="T34" fmla="*/ 1102 w 1102"/>
                <a:gd name="T35" fmla="*/ 1127 h 1127"/>
                <a:gd name="T36" fmla="*/ 1102 w 1102"/>
                <a:gd name="T37" fmla="*/ 488 h 1127"/>
                <a:gd name="T38" fmla="*/ 1041 w 1102"/>
                <a:gd name="T39" fmla="*/ 212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02" h="1127">
                  <a:moveTo>
                    <a:pt x="1041" y="212"/>
                  </a:moveTo>
                  <a:lnTo>
                    <a:pt x="1041" y="212"/>
                  </a:lnTo>
                  <a:cubicBezTo>
                    <a:pt x="1000" y="140"/>
                    <a:pt x="945" y="87"/>
                    <a:pt x="874" y="52"/>
                  </a:cubicBezTo>
                  <a:cubicBezTo>
                    <a:pt x="804" y="17"/>
                    <a:pt x="724" y="0"/>
                    <a:pt x="634" y="0"/>
                  </a:cubicBezTo>
                  <a:cubicBezTo>
                    <a:pt x="537" y="0"/>
                    <a:pt x="450" y="19"/>
                    <a:pt x="376" y="57"/>
                  </a:cubicBezTo>
                  <a:cubicBezTo>
                    <a:pt x="325" y="83"/>
                    <a:pt x="283" y="116"/>
                    <a:pt x="249" y="157"/>
                  </a:cubicBezTo>
                  <a:lnTo>
                    <a:pt x="249" y="13"/>
                  </a:lnTo>
                  <a:lnTo>
                    <a:pt x="0" y="13"/>
                  </a:lnTo>
                  <a:lnTo>
                    <a:pt x="0" y="1127"/>
                  </a:lnTo>
                  <a:lnTo>
                    <a:pt x="261" y="1127"/>
                  </a:lnTo>
                  <a:lnTo>
                    <a:pt x="261" y="563"/>
                  </a:lnTo>
                  <a:cubicBezTo>
                    <a:pt x="261" y="488"/>
                    <a:pt x="274" y="426"/>
                    <a:pt x="300" y="377"/>
                  </a:cubicBezTo>
                  <a:cubicBezTo>
                    <a:pt x="326" y="327"/>
                    <a:pt x="363" y="290"/>
                    <a:pt x="410" y="265"/>
                  </a:cubicBezTo>
                  <a:cubicBezTo>
                    <a:pt x="458" y="240"/>
                    <a:pt x="512" y="228"/>
                    <a:pt x="574" y="228"/>
                  </a:cubicBezTo>
                  <a:cubicBezTo>
                    <a:pt x="657" y="228"/>
                    <a:pt x="723" y="252"/>
                    <a:pt x="770" y="301"/>
                  </a:cubicBezTo>
                  <a:cubicBezTo>
                    <a:pt x="816" y="349"/>
                    <a:pt x="840" y="423"/>
                    <a:pt x="840" y="522"/>
                  </a:cubicBezTo>
                  <a:lnTo>
                    <a:pt x="840" y="1127"/>
                  </a:lnTo>
                  <a:lnTo>
                    <a:pt x="1102" y="1127"/>
                  </a:lnTo>
                  <a:lnTo>
                    <a:pt x="1102" y="488"/>
                  </a:lnTo>
                  <a:cubicBezTo>
                    <a:pt x="1102" y="376"/>
                    <a:pt x="1081" y="284"/>
                    <a:pt x="1041" y="212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8" name="Freeform 33">
              <a:extLst>
                <a:ext uri="{FF2B5EF4-FFF2-40B4-BE49-F238E27FC236}">
                  <a16:creationId xmlns:a16="http://schemas.microsoft.com/office/drawing/2014/main" id="{21E0A59C-95F9-4FC7-8E54-5366E0A326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034130" y="654451"/>
              <a:ext cx="58575" cy="60077"/>
            </a:xfrm>
            <a:custGeom>
              <a:avLst/>
              <a:gdLst>
                <a:gd name="T0" fmla="*/ 0 w 302"/>
                <a:gd name="T1" fmla="*/ 0 h 302"/>
                <a:gd name="T2" fmla="*/ 0 w 302"/>
                <a:gd name="T3" fmla="*/ 0 h 302"/>
                <a:gd name="T4" fmla="*/ 302 w 302"/>
                <a:gd name="T5" fmla="*/ 0 h 302"/>
                <a:gd name="T6" fmla="*/ 302 w 302"/>
                <a:gd name="T7" fmla="*/ 302 h 302"/>
                <a:gd name="T8" fmla="*/ 0 w 302"/>
                <a:gd name="T9" fmla="*/ 302 h 302"/>
                <a:gd name="T10" fmla="*/ 0 w 302"/>
                <a:gd name="T1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2" h="302">
                  <a:moveTo>
                    <a:pt x="0" y="0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  <p:sp>
          <p:nvSpPr>
            <p:cNvPr id="79" name="Freeform 34">
              <a:extLst>
                <a:ext uri="{FF2B5EF4-FFF2-40B4-BE49-F238E27FC236}">
                  <a16:creationId xmlns:a16="http://schemas.microsoft.com/office/drawing/2014/main" id="{D59549A8-93FF-4DEE-9222-DC29A4F7FA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56523" y="414145"/>
              <a:ext cx="118651" cy="300383"/>
            </a:xfrm>
            <a:custGeom>
              <a:avLst/>
              <a:gdLst>
                <a:gd name="T0" fmla="*/ 604 w 604"/>
                <a:gd name="T1" fmla="*/ 1530 h 1530"/>
                <a:gd name="T2" fmla="*/ 604 w 604"/>
                <a:gd name="T3" fmla="*/ 1530 h 1530"/>
                <a:gd name="T4" fmla="*/ 0 w 604"/>
                <a:gd name="T5" fmla="*/ 1530 h 1530"/>
                <a:gd name="T6" fmla="*/ 0 w 604"/>
                <a:gd name="T7" fmla="*/ 0 h 1530"/>
                <a:gd name="T8" fmla="*/ 604 w 604"/>
                <a:gd name="T9" fmla="*/ 0 h 1530"/>
                <a:gd name="T10" fmla="*/ 604 w 604"/>
                <a:gd name="T11" fmla="*/ 153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4" h="1530">
                  <a:moveTo>
                    <a:pt x="604" y="1530"/>
                  </a:moveTo>
                  <a:lnTo>
                    <a:pt x="604" y="1530"/>
                  </a:lnTo>
                  <a:lnTo>
                    <a:pt x="0" y="1530"/>
                  </a:lnTo>
                  <a:lnTo>
                    <a:pt x="0" y="0"/>
                  </a:lnTo>
                  <a:lnTo>
                    <a:pt x="604" y="0"/>
                  </a:lnTo>
                  <a:lnTo>
                    <a:pt x="604" y="153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/>
                <a:ea typeface="+mn-ea"/>
                <a:cs typeface="+mn-cs"/>
              </a:endParaRPr>
            </a:p>
          </p:txBody>
        </p:sp>
      </p:grpSp>
      <p:sp>
        <p:nvSpPr>
          <p:cNvPr id="80" name="Rectangle: Rounded Corners 120">
            <a:extLst>
              <a:ext uri="{FF2B5EF4-FFF2-40B4-BE49-F238E27FC236}">
                <a16:creationId xmlns:a16="http://schemas.microsoft.com/office/drawing/2014/main" id="{6F644E73-FBD1-4655-A3FD-C33EC6B864B4}"/>
              </a:ext>
            </a:extLst>
          </p:cNvPr>
          <p:cNvSpPr/>
          <p:nvPr/>
        </p:nvSpPr>
        <p:spPr>
          <a:xfrm>
            <a:off x="7274525" y="3693723"/>
            <a:ext cx="1541413" cy="859597"/>
          </a:xfrm>
          <a:prstGeom prst="rect">
            <a:avLst/>
          </a:prstGeom>
          <a:noFill/>
          <a:ln w="12700" cap="flat" cmpd="sng" algn="ctr">
            <a:solidFill>
              <a:srgbClr val="48007F"/>
            </a:solidFill>
            <a:prstDash val="solid"/>
          </a:ln>
          <a:effectLst/>
        </p:spPr>
        <p:txBody>
          <a:bodyPr vert="horz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latin typeface="Manrope (Основной текст)"/>
              </a:rPr>
              <a:t>PS</a:t>
            </a:r>
            <a:endParaRPr kumimoji="0" lang="ru-RU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anrope (Основной текст)"/>
            </a:endParaRP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2B440D73-D0B4-48A5-9115-64E625B640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96795" y="3619278"/>
            <a:ext cx="664616" cy="231320"/>
          </a:xfrm>
          <a:prstGeom prst="bentConnector3">
            <a:avLst>
              <a:gd name="adj1" fmla="val 99792"/>
            </a:avLst>
          </a:prstGeom>
          <a:noFill/>
          <a:ln w="22225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994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Соединитель: уступ 79">
            <a:extLst>
              <a:ext uri="{FF2B5EF4-FFF2-40B4-BE49-F238E27FC236}">
                <a16:creationId xmlns:a16="http://schemas.microsoft.com/office/drawing/2014/main" id="{5431D94C-7F0B-4DC4-9209-EDF9EC0DA521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6799088" y="1644817"/>
            <a:ext cx="398398" cy="9460"/>
          </a:xfrm>
          <a:prstGeom prst="bentConnector3">
            <a:avLst>
              <a:gd name="adj1" fmla="val -3323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974FA3AB-FCFE-4130-AE4C-86C16ED053F6}"/>
              </a:ext>
            </a:extLst>
          </p:cNvPr>
          <p:cNvSpPr/>
          <p:nvPr/>
        </p:nvSpPr>
        <p:spPr>
          <a:xfrm>
            <a:off x="5378234" y="1383793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Формирование заявок на закупку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4C8343-2D81-4D1B-883F-03246790EDCA}"/>
              </a:ext>
            </a:extLst>
          </p:cNvPr>
          <p:cNvSpPr/>
          <p:nvPr/>
        </p:nvSpPr>
        <p:spPr>
          <a:xfrm>
            <a:off x="2006630" y="1380193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0" i="0" dirty="0">
                <a:solidFill>
                  <a:schemeClr val="bg1"/>
                </a:solidFill>
                <a:effectLst/>
              </a:rPr>
              <a:t>Разузлование </a:t>
            </a:r>
            <a:r>
              <a:rPr lang="en-US" sz="1000" b="0" i="0" dirty="0">
                <a:solidFill>
                  <a:schemeClr val="bg1"/>
                </a:solidFill>
                <a:effectLst/>
              </a:rPr>
              <a:t>BOM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E61B76-94B6-4144-89B6-A126D33CEB7D}"/>
              </a:ext>
            </a:extLst>
          </p:cNvPr>
          <p:cNvSpPr/>
          <p:nvPr/>
        </p:nvSpPr>
        <p:spPr>
          <a:xfrm>
            <a:off x="3692432" y="1383793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Расчёт брутто- и нетто-потребностей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100992-3209-4AA0-B957-AC6EC1571E86}"/>
              </a:ext>
            </a:extLst>
          </p:cNvPr>
          <p:cNvSpPr txBox="1"/>
          <p:nvPr/>
        </p:nvSpPr>
        <p:spPr>
          <a:xfrm>
            <a:off x="3723997" y="1021615"/>
            <a:ext cx="22999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effectLst/>
              </a:rPr>
              <a:t> Расчёт потребности</a:t>
            </a:r>
            <a:endParaRPr lang="ru-RU" sz="11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FC8524C-2158-4D9B-ACCB-53080288B161}"/>
              </a:ext>
            </a:extLst>
          </p:cNvPr>
          <p:cNvSpPr/>
          <p:nvPr/>
        </p:nvSpPr>
        <p:spPr>
          <a:xfrm>
            <a:off x="1933347" y="1270475"/>
            <a:ext cx="5030889" cy="7676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934EB4A9-5A28-4897-B527-D61976FE9FAC}"/>
              </a:ext>
            </a:extLst>
          </p:cNvPr>
          <p:cNvCxnSpPr>
            <a:cxnSpLocks/>
            <a:stCxn id="8" idx="3"/>
            <a:endCxn id="18" idx="1"/>
          </p:cNvCxnSpPr>
          <p:nvPr/>
        </p:nvCxnSpPr>
        <p:spPr>
          <a:xfrm>
            <a:off x="1698620" y="1277606"/>
            <a:ext cx="234727" cy="376671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Заголовок 2">
            <a:extLst>
              <a:ext uri="{FF2B5EF4-FFF2-40B4-BE49-F238E27FC236}">
                <a16:creationId xmlns:a16="http://schemas.microsoft.com/office/drawing/2014/main" id="{48DBC3C0-919F-43E8-A94C-5E9AD9EF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en-US" dirty="0"/>
              <a:t>MRP</a:t>
            </a:r>
            <a:r>
              <a:rPr lang="ru-RU" dirty="0"/>
              <a:t> процесс</a:t>
            </a:r>
          </a:p>
        </p:txBody>
      </p: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732FA8FB-2873-4A9A-85CB-C7BAD7452696}"/>
              </a:ext>
            </a:extLst>
          </p:cNvPr>
          <p:cNvCxnSpPr>
            <a:cxnSpLocks/>
          </p:cNvCxnSpPr>
          <p:nvPr/>
        </p:nvCxnSpPr>
        <p:spPr>
          <a:xfrm>
            <a:off x="2343357" y="2251938"/>
            <a:ext cx="12184" cy="6819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7" name="Соединитель: уступ 146">
            <a:extLst>
              <a:ext uri="{FF2B5EF4-FFF2-40B4-BE49-F238E27FC236}">
                <a16:creationId xmlns:a16="http://schemas.microsoft.com/office/drawing/2014/main" id="{E951D20E-FFDC-4615-A7C4-B857246CC5AC}"/>
              </a:ext>
            </a:extLst>
          </p:cNvPr>
          <p:cNvCxnSpPr>
            <a:cxnSpLocks/>
          </p:cNvCxnSpPr>
          <p:nvPr/>
        </p:nvCxnSpPr>
        <p:spPr>
          <a:xfrm rot="5400000">
            <a:off x="5250447" y="2111241"/>
            <a:ext cx="23936" cy="8652255"/>
          </a:xfrm>
          <a:prstGeom prst="bentConnector3">
            <a:avLst>
              <a:gd name="adj1" fmla="val 105504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4CBE9D1-06E2-4185-A0BB-5AF5F148BA59}"/>
              </a:ext>
            </a:extLst>
          </p:cNvPr>
          <p:cNvSpPr txBox="1"/>
          <p:nvPr/>
        </p:nvSpPr>
        <p:spPr>
          <a:xfrm>
            <a:off x="1908799" y="2039764"/>
            <a:ext cx="1625027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Спецификации (BOM) с уровнями и нормами расхода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Маршруты/рецепты (если от них зависит структура потребления)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E33A042-0D47-4995-BF14-D7509C8AE48F}"/>
              </a:ext>
            </a:extLst>
          </p:cNvPr>
          <p:cNvSpPr txBox="1"/>
          <p:nvPr/>
        </p:nvSpPr>
        <p:spPr>
          <a:xfrm>
            <a:off x="3561189" y="2022150"/>
            <a:ext cx="1647773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Остатки и страховые запасы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Существующие заказы на поставку и заявки на закупку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Перемещения (входящие/исходящие)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Параметры партии (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min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/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max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/кратность, периодичность) и календари</a:t>
            </a:r>
          </a:p>
        </p:txBody>
      </p:sp>
      <p:sp>
        <p:nvSpPr>
          <p:cNvPr id="168" name="Стрелка: вправо 167">
            <a:extLst>
              <a:ext uri="{FF2B5EF4-FFF2-40B4-BE49-F238E27FC236}">
                <a16:creationId xmlns:a16="http://schemas.microsoft.com/office/drawing/2014/main" id="{E95E641B-C383-4AF2-B8A9-2038490B6C47}"/>
              </a:ext>
            </a:extLst>
          </p:cNvPr>
          <p:cNvSpPr/>
          <p:nvPr/>
        </p:nvSpPr>
        <p:spPr>
          <a:xfrm>
            <a:off x="3437640" y="1531315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9" name="Стрелка: вправо 168">
            <a:extLst>
              <a:ext uri="{FF2B5EF4-FFF2-40B4-BE49-F238E27FC236}">
                <a16:creationId xmlns:a16="http://schemas.microsoft.com/office/drawing/2014/main" id="{1822877F-8414-4593-81CF-590C81222FDD}"/>
              </a:ext>
            </a:extLst>
          </p:cNvPr>
          <p:cNvSpPr/>
          <p:nvPr/>
        </p:nvSpPr>
        <p:spPr>
          <a:xfrm>
            <a:off x="5149213" y="1531315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390808-0A64-41E9-BE2B-8AE11DA8858A}"/>
              </a:ext>
            </a:extLst>
          </p:cNvPr>
          <p:cNvSpPr txBox="1"/>
          <p:nvPr/>
        </p:nvSpPr>
        <p:spPr>
          <a:xfrm>
            <a:off x="5208962" y="2022150"/>
            <a:ext cx="21197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Параметры закупки: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Lead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time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MOQ, 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min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/</a:t>
            </a:r>
            <a:r>
              <a:rPr kumimoji="0" lang="ru-RU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max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партия, кратность, периодичность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Источник поставки, квоты, цены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Данные по поставщикам и логистическим ограничениям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Календарь поставщика, окна отгрузки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Ограничения по объёмам/мощностям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Транспортные ограничения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E79FFDEE-8EF7-47AA-971B-377D2D1323CB}"/>
              </a:ext>
            </a:extLst>
          </p:cNvPr>
          <p:cNvSpPr/>
          <p:nvPr/>
        </p:nvSpPr>
        <p:spPr>
          <a:xfrm>
            <a:off x="7264264" y="1380193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0" i="0" dirty="0">
                <a:solidFill>
                  <a:schemeClr val="bg1"/>
                </a:solidFill>
                <a:effectLst/>
              </a:rPr>
              <a:t>Анализ предупреждений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6B36281F-9EA4-4181-BC9B-82B60AAEA199}"/>
              </a:ext>
            </a:extLst>
          </p:cNvPr>
          <p:cNvSpPr/>
          <p:nvPr/>
        </p:nvSpPr>
        <p:spPr>
          <a:xfrm>
            <a:off x="8971929" y="1383793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Исправление данных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6228A8-9335-4F99-AB17-7BB52E43404C}"/>
              </a:ext>
            </a:extLst>
          </p:cNvPr>
          <p:cNvSpPr txBox="1"/>
          <p:nvPr/>
        </p:nvSpPr>
        <p:spPr>
          <a:xfrm>
            <a:off x="7505496" y="1021614"/>
            <a:ext cx="2765755" cy="271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solidFill>
                  <a:srgbClr val="161616"/>
                </a:solidFill>
                <a:effectLst/>
              </a:rPr>
              <a:t>Обработка ошибок и предупреждений</a:t>
            </a:r>
            <a:endParaRPr lang="ru-RU" sz="1100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98FB267C-0FAE-4A13-85EC-63AAB352DB16}"/>
              </a:ext>
            </a:extLst>
          </p:cNvPr>
          <p:cNvSpPr/>
          <p:nvPr/>
        </p:nvSpPr>
        <p:spPr>
          <a:xfrm>
            <a:off x="7197486" y="1270475"/>
            <a:ext cx="3381775" cy="7676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8" name="Стрелка: вправо 77">
            <a:extLst>
              <a:ext uri="{FF2B5EF4-FFF2-40B4-BE49-F238E27FC236}">
                <a16:creationId xmlns:a16="http://schemas.microsoft.com/office/drawing/2014/main" id="{0B111B37-5EB8-4431-B42E-43E6925D6E6C}"/>
              </a:ext>
            </a:extLst>
          </p:cNvPr>
          <p:cNvSpPr/>
          <p:nvPr/>
        </p:nvSpPr>
        <p:spPr>
          <a:xfrm>
            <a:off x="8704510" y="1531315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1E687EAA-575B-44FE-8910-D7F3F2E2EBE7}"/>
              </a:ext>
            </a:extLst>
          </p:cNvPr>
          <p:cNvSpPr/>
          <p:nvPr/>
        </p:nvSpPr>
        <p:spPr>
          <a:xfrm>
            <a:off x="3612163" y="4210632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Согласование изменений</a:t>
            </a: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F911020-740A-48CC-9067-29AED0BCE78A}"/>
              </a:ext>
            </a:extLst>
          </p:cNvPr>
          <p:cNvSpPr/>
          <p:nvPr/>
        </p:nvSpPr>
        <p:spPr>
          <a:xfrm>
            <a:off x="356755" y="4207032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0" i="0" dirty="0">
                <a:solidFill>
                  <a:schemeClr val="bg1"/>
                </a:solidFill>
                <a:effectLst/>
              </a:rPr>
              <a:t>Проверка обеспеченности </a:t>
            </a:r>
            <a:r>
              <a:rPr lang="en-US" sz="1000" b="0" i="0" dirty="0">
                <a:solidFill>
                  <a:schemeClr val="bg1"/>
                </a:solidFill>
                <a:effectLst/>
              </a:rPr>
              <a:t>BOM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8F98FF1D-3358-4907-B355-DDBDAA14D3D7}"/>
              </a:ext>
            </a:extLst>
          </p:cNvPr>
          <p:cNvSpPr/>
          <p:nvPr/>
        </p:nvSpPr>
        <p:spPr>
          <a:xfrm>
            <a:off x="1984459" y="4210632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Корректировка заявок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08D451-AAB7-4A40-81FD-1A9DE4A6ACDF}"/>
              </a:ext>
            </a:extLst>
          </p:cNvPr>
          <p:cNvSpPr txBox="1"/>
          <p:nvPr/>
        </p:nvSpPr>
        <p:spPr>
          <a:xfrm>
            <a:off x="2180222" y="3881247"/>
            <a:ext cx="2736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solidFill>
                  <a:srgbClr val="161616"/>
                </a:solidFill>
                <a:effectLst/>
              </a:rPr>
              <a:t>Анализ и корректировка результатов</a:t>
            </a:r>
            <a:endParaRPr lang="ru-RU" sz="1100" dirty="0"/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9A2FB222-CCB3-4824-AA42-9DE787C25A3A}"/>
              </a:ext>
            </a:extLst>
          </p:cNvPr>
          <p:cNvSpPr/>
          <p:nvPr/>
        </p:nvSpPr>
        <p:spPr>
          <a:xfrm>
            <a:off x="298145" y="4115786"/>
            <a:ext cx="6500944" cy="7634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8" name="Стрелка: вправо 87">
            <a:extLst>
              <a:ext uri="{FF2B5EF4-FFF2-40B4-BE49-F238E27FC236}">
                <a16:creationId xmlns:a16="http://schemas.microsoft.com/office/drawing/2014/main" id="{5BB4148C-9B89-49D3-8229-5D02A4FB6F3D}"/>
              </a:ext>
            </a:extLst>
          </p:cNvPr>
          <p:cNvSpPr/>
          <p:nvPr/>
        </p:nvSpPr>
        <p:spPr>
          <a:xfrm>
            <a:off x="1805096" y="4376626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Стрелка: вправо 88">
            <a:extLst>
              <a:ext uri="{FF2B5EF4-FFF2-40B4-BE49-F238E27FC236}">
                <a16:creationId xmlns:a16="http://schemas.microsoft.com/office/drawing/2014/main" id="{D6F2334F-9DA2-4A8D-B35F-BA8C2E2F9924}"/>
              </a:ext>
            </a:extLst>
          </p:cNvPr>
          <p:cNvSpPr/>
          <p:nvPr/>
        </p:nvSpPr>
        <p:spPr>
          <a:xfrm>
            <a:off x="3416207" y="4376626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65C221B5-F024-44DE-B199-5936EE4936FD}"/>
              </a:ext>
            </a:extLst>
          </p:cNvPr>
          <p:cNvCxnSpPr>
            <a:cxnSpLocks/>
          </p:cNvCxnSpPr>
          <p:nvPr/>
        </p:nvCxnSpPr>
        <p:spPr>
          <a:xfrm flipV="1">
            <a:off x="6716136" y="4493285"/>
            <a:ext cx="223595" cy="12611"/>
          </a:xfrm>
          <a:prstGeom prst="bentConnector3">
            <a:avLst>
              <a:gd name="adj1" fmla="val -28486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Соединитель: уступ 90">
            <a:extLst>
              <a:ext uri="{FF2B5EF4-FFF2-40B4-BE49-F238E27FC236}">
                <a16:creationId xmlns:a16="http://schemas.microsoft.com/office/drawing/2014/main" id="{CD8BC00D-8A94-421D-B515-386CFD1EAFCB}"/>
              </a:ext>
            </a:extLst>
          </p:cNvPr>
          <p:cNvCxnSpPr>
            <a:cxnSpLocks/>
            <a:stCxn id="77" idx="3"/>
            <a:endCxn id="87" idx="1"/>
          </p:cNvCxnSpPr>
          <p:nvPr/>
        </p:nvCxnSpPr>
        <p:spPr>
          <a:xfrm flipH="1">
            <a:off x="298145" y="1654277"/>
            <a:ext cx="10281116" cy="2843259"/>
          </a:xfrm>
          <a:prstGeom prst="bentConnector5">
            <a:avLst>
              <a:gd name="adj1" fmla="val -2223"/>
              <a:gd name="adj2" fmla="val 74400"/>
              <a:gd name="adj3" fmla="val 102223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E6739DF5-F89E-445A-A29C-CE6CEFA0312F}"/>
              </a:ext>
            </a:extLst>
          </p:cNvPr>
          <p:cNvSpPr/>
          <p:nvPr/>
        </p:nvSpPr>
        <p:spPr>
          <a:xfrm>
            <a:off x="5239866" y="4210632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Согласование плана закупок</a:t>
            </a:r>
          </a:p>
        </p:txBody>
      </p:sp>
      <p:sp>
        <p:nvSpPr>
          <p:cNvPr id="98" name="Стрелка: вправо 97">
            <a:extLst>
              <a:ext uri="{FF2B5EF4-FFF2-40B4-BE49-F238E27FC236}">
                <a16:creationId xmlns:a16="http://schemas.microsoft.com/office/drawing/2014/main" id="{0B08C466-64D5-43F6-81C5-0FE465A36F47}"/>
              </a:ext>
            </a:extLst>
          </p:cNvPr>
          <p:cNvSpPr/>
          <p:nvPr/>
        </p:nvSpPr>
        <p:spPr>
          <a:xfrm>
            <a:off x="4973897" y="4376626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1689E816-5FB5-4C9C-BBB1-600F505EBCBE}"/>
              </a:ext>
            </a:extLst>
          </p:cNvPr>
          <p:cNvSpPr/>
          <p:nvPr/>
        </p:nvSpPr>
        <p:spPr>
          <a:xfrm>
            <a:off x="10317693" y="4208746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Утверждение финального сценария</a:t>
            </a: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8318AC13-4080-4271-9327-CFBBE8C57944}"/>
              </a:ext>
            </a:extLst>
          </p:cNvPr>
          <p:cNvSpPr/>
          <p:nvPr/>
        </p:nvSpPr>
        <p:spPr>
          <a:xfrm>
            <a:off x="7028744" y="4207032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0" i="0" dirty="0">
                <a:solidFill>
                  <a:schemeClr val="bg1"/>
                </a:solidFill>
                <a:effectLst/>
              </a:rPr>
              <a:t>Создание альтернативных сценариев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5AE1FF0F-9A58-4D14-9725-BE5D27891830}"/>
              </a:ext>
            </a:extLst>
          </p:cNvPr>
          <p:cNvSpPr/>
          <p:nvPr/>
        </p:nvSpPr>
        <p:spPr>
          <a:xfrm>
            <a:off x="8673218" y="4210632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Сравнение по KPI (стоимость, риски, запасы)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8368178-911C-4B40-ADE2-BB0AF0ECF07B}"/>
              </a:ext>
            </a:extLst>
          </p:cNvPr>
          <p:cNvSpPr txBox="1"/>
          <p:nvPr/>
        </p:nvSpPr>
        <p:spPr>
          <a:xfrm>
            <a:off x="8425857" y="3881247"/>
            <a:ext cx="19818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b="0" i="0" dirty="0">
                <a:solidFill>
                  <a:srgbClr val="161616"/>
                </a:solidFill>
                <a:effectLst/>
              </a:rPr>
              <a:t>Сценарное планирование</a:t>
            </a:r>
            <a:endParaRPr lang="ru-RU" sz="1100" dirty="0"/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FDA68214-BDFE-428B-9357-71093165FB2F}"/>
              </a:ext>
            </a:extLst>
          </p:cNvPr>
          <p:cNvSpPr/>
          <p:nvPr/>
        </p:nvSpPr>
        <p:spPr>
          <a:xfrm>
            <a:off x="6939731" y="4115786"/>
            <a:ext cx="4954125" cy="7676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0" name="Стрелка: вправо 109">
            <a:extLst>
              <a:ext uri="{FF2B5EF4-FFF2-40B4-BE49-F238E27FC236}">
                <a16:creationId xmlns:a16="http://schemas.microsoft.com/office/drawing/2014/main" id="{ED9736DD-4524-4854-B931-914DCFA24888}"/>
              </a:ext>
            </a:extLst>
          </p:cNvPr>
          <p:cNvSpPr/>
          <p:nvPr/>
        </p:nvSpPr>
        <p:spPr>
          <a:xfrm>
            <a:off x="8426156" y="4399413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Стрелка: вправо 110">
            <a:extLst>
              <a:ext uri="{FF2B5EF4-FFF2-40B4-BE49-F238E27FC236}">
                <a16:creationId xmlns:a16="http://schemas.microsoft.com/office/drawing/2014/main" id="{BD6E9791-816B-4F2C-966E-45B75901C857}"/>
              </a:ext>
            </a:extLst>
          </p:cNvPr>
          <p:cNvSpPr/>
          <p:nvPr/>
        </p:nvSpPr>
        <p:spPr>
          <a:xfrm>
            <a:off x="10106670" y="4376626"/>
            <a:ext cx="340659" cy="2459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2" name="Соединитель: уступ 111">
            <a:extLst>
              <a:ext uri="{FF2B5EF4-FFF2-40B4-BE49-F238E27FC236}">
                <a16:creationId xmlns:a16="http://schemas.microsoft.com/office/drawing/2014/main" id="{ECB986AE-2092-49B9-82E3-D0049C10772B}"/>
              </a:ext>
            </a:extLst>
          </p:cNvPr>
          <p:cNvCxnSpPr>
            <a:cxnSpLocks/>
            <a:stCxn id="104" idx="2"/>
            <a:endCxn id="83" idx="2"/>
          </p:cNvCxnSpPr>
          <p:nvPr/>
        </p:nvCxnSpPr>
        <p:spPr>
          <a:xfrm rot="5400000">
            <a:off x="7719985" y="1432924"/>
            <a:ext cx="1886" cy="6705530"/>
          </a:xfrm>
          <a:prstGeom prst="bentConnector3">
            <a:avLst>
              <a:gd name="adj1" fmla="val 53386161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46EC21A6-FA46-4FD8-AB82-E317737560F1}"/>
              </a:ext>
            </a:extLst>
          </p:cNvPr>
          <p:cNvSpPr/>
          <p:nvPr/>
        </p:nvSpPr>
        <p:spPr>
          <a:xfrm>
            <a:off x="5899389" y="5135059"/>
            <a:ext cx="1589436" cy="509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Передача плана в виде заявок на закупку в систему исполнения закупок</a:t>
            </a:r>
          </a:p>
        </p:txBody>
      </p:sp>
      <p:cxnSp>
        <p:nvCxnSpPr>
          <p:cNvPr id="118" name="Соединитель: уступ 117">
            <a:extLst>
              <a:ext uri="{FF2B5EF4-FFF2-40B4-BE49-F238E27FC236}">
                <a16:creationId xmlns:a16="http://schemas.microsoft.com/office/drawing/2014/main" id="{5CFC4421-087F-442A-81E7-292A2F607A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82956" y="4623908"/>
            <a:ext cx="333904" cy="688397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39">
            <a:extLst>
              <a:ext uri="{FF2B5EF4-FFF2-40B4-BE49-F238E27FC236}">
                <a16:creationId xmlns:a16="http://schemas.microsoft.com/office/drawing/2014/main" id="{89685FF1-FDE4-37BA-4FE2-552918F97E7A}"/>
              </a:ext>
            </a:extLst>
          </p:cNvPr>
          <p:cNvSpPr/>
          <p:nvPr/>
        </p:nvSpPr>
        <p:spPr>
          <a:xfrm>
            <a:off x="109184" y="1048735"/>
            <a:ext cx="1589436" cy="4577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Плановые заказы из </a:t>
            </a:r>
            <a:r>
              <a:rPr lang="en-US" sz="1000" dirty="0">
                <a:solidFill>
                  <a:schemeClr val="bg1"/>
                </a:solidFill>
              </a:rPr>
              <a:t>SNP</a:t>
            </a:r>
            <a:r>
              <a:rPr lang="ru-RU" sz="1000" dirty="0">
                <a:solidFill>
                  <a:schemeClr val="bg1"/>
                </a:solidFill>
              </a:rPr>
              <a:t>,</a:t>
            </a:r>
            <a:r>
              <a:rPr lang="en-US" sz="1000" dirty="0">
                <a:solidFill>
                  <a:schemeClr val="bg1"/>
                </a:solidFill>
              </a:rPr>
              <a:t> PS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39">
            <a:extLst>
              <a:ext uri="{FF2B5EF4-FFF2-40B4-BE49-F238E27FC236}">
                <a16:creationId xmlns:a16="http://schemas.microsoft.com/office/drawing/2014/main" id="{79B1B0B3-7810-129D-F874-01EBA1591AC4}"/>
              </a:ext>
            </a:extLst>
          </p:cNvPr>
          <p:cNvSpPr/>
          <p:nvPr/>
        </p:nvSpPr>
        <p:spPr>
          <a:xfrm>
            <a:off x="105802" y="1611622"/>
            <a:ext cx="1589436" cy="4519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Основные и транзакционные данные из </a:t>
            </a:r>
            <a:r>
              <a:rPr lang="en-US" sz="1000" dirty="0">
                <a:solidFill>
                  <a:schemeClr val="bg1"/>
                </a:solidFill>
              </a:rPr>
              <a:t>ERP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39">
            <a:extLst>
              <a:ext uri="{FF2B5EF4-FFF2-40B4-BE49-F238E27FC236}">
                <a16:creationId xmlns:a16="http://schemas.microsoft.com/office/drawing/2014/main" id="{1DC13CFB-9664-D115-8379-2DE813EC061D}"/>
              </a:ext>
            </a:extLst>
          </p:cNvPr>
          <p:cNvSpPr/>
          <p:nvPr/>
        </p:nvSpPr>
        <p:spPr>
          <a:xfrm>
            <a:off x="106230" y="2168724"/>
            <a:ext cx="1589436" cy="4519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Рекомендованные уровни запасов из </a:t>
            </a:r>
            <a:r>
              <a:rPr lang="en-US" sz="1000" dirty="0">
                <a:solidFill>
                  <a:schemeClr val="bg1"/>
                </a:solidFill>
              </a:rPr>
              <a:t>MEIO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39">
            <a:extLst>
              <a:ext uri="{FF2B5EF4-FFF2-40B4-BE49-F238E27FC236}">
                <a16:creationId xmlns:a16="http://schemas.microsoft.com/office/drawing/2014/main" id="{7A701D8E-B44B-0B87-3779-BF8A4663589E}"/>
              </a:ext>
            </a:extLst>
          </p:cNvPr>
          <p:cNvSpPr/>
          <p:nvPr/>
        </p:nvSpPr>
        <p:spPr>
          <a:xfrm>
            <a:off x="105802" y="2734012"/>
            <a:ext cx="1589436" cy="4577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Плановые первичные потребности и другие виды потребностей</a:t>
            </a:r>
          </a:p>
        </p:txBody>
      </p:sp>
      <p:cxnSp>
        <p:nvCxnSpPr>
          <p:cNvPr id="13" name="Соединитель: уступ 18">
            <a:extLst>
              <a:ext uri="{FF2B5EF4-FFF2-40B4-BE49-F238E27FC236}">
                <a16:creationId xmlns:a16="http://schemas.microsoft.com/office/drawing/2014/main" id="{BB010555-A902-16BC-E2FA-802738F5DBDA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1695238" y="1654277"/>
            <a:ext cx="238109" cy="183323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уступ 18">
            <a:extLst>
              <a:ext uri="{FF2B5EF4-FFF2-40B4-BE49-F238E27FC236}">
                <a16:creationId xmlns:a16="http://schemas.microsoft.com/office/drawing/2014/main" id="{9E360E01-83C5-5178-0A5F-75383185B011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 flipV="1">
            <a:off x="1695666" y="1654277"/>
            <a:ext cx="237681" cy="740425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18">
            <a:extLst>
              <a:ext uri="{FF2B5EF4-FFF2-40B4-BE49-F238E27FC236}">
                <a16:creationId xmlns:a16="http://schemas.microsoft.com/office/drawing/2014/main" id="{DB116EEE-7B9D-B1E7-E666-FDE8AF2E31E4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 flipV="1">
            <a:off x="1695238" y="1654277"/>
            <a:ext cx="238109" cy="1308606"/>
          </a:xfrm>
          <a:prstGeom prst="bentConnector3">
            <a:avLst>
              <a:gd name="adj1" fmla="val 50000"/>
            </a:avLst>
          </a:prstGeom>
          <a:ln w="190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33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1A417C-956E-1C8C-40F5-4F3CBEB2A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223C9F-2E26-9E2B-02FA-17C2944A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Ядро расчета </a:t>
            </a:r>
            <a:r>
              <a:rPr lang="en-US" dirty="0"/>
              <a:t>MRP</a:t>
            </a:r>
            <a:endParaRPr lang="ru-RU" dirty="0"/>
          </a:p>
        </p:txBody>
      </p:sp>
      <p:sp>
        <p:nvSpPr>
          <p:cNvPr id="4" name="Прямоугольник 67">
            <a:extLst>
              <a:ext uri="{FF2B5EF4-FFF2-40B4-BE49-F238E27FC236}">
                <a16:creationId xmlns:a16="http://schemas.microsoft.com/office/drawing/2014/main" id="{990834B4-C80A-6309-A372-FBD2F26D5B50}"/>
              </a:ext>
            </a:extLst>
          </p:cNvPr>
          <p:cNvSpPr/>
          <p:nvPr/>
        </p:nvSpPr>
        <p:spPr>
          <a:xfrm>
            <a:off x="5057316" y="1236942"/>
            <a:ext cx="1800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Прогон </a:t>
            </a:r>
            <a:r>
              <a:rPr lang="en-US" sz="1200" dirty="0">
                <a:solidFill>
                  <a:schemeClr val="bg1"/>
                </a:solidFill>
              </a:rPr>
              <a:t>MRP</a:t>
            </a:r>
            <a:r>
              <a:rPr lang="ru-RU" sz="1200" dirty="0">
                <a:solidFill>
                  <a:schemeClr val="bg1"/>
                </a:solidFill>
              </a:rPr>
              <a:t> и формирование заявки на закупку в </a:t>
            </a:r>
            <a:r>
              <a:rPr lang="en-US" sz="1200" dirty="0">
                <a:solidFill>
                  <a:schemeClr val="bg1"/>
                </a:solidFill>
              </a:rPr>
              <a:t>In.Plan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67">
            <a:extLst>
              <a:ext uri="{FF2B5EF4-FFF2-40B4-BE49-F238E27FC236}">
                <a16:creationId xmlns:a16="http://schemas.microsoft.com/office/drawing/2014/main" id="{4BE88929-570E-F524-9E15-6B7849A4DB39}"/>
              </a:ext>
            </a:extLst>
          </p:cNvPr>
          <p:cNvSpPr/>
          <p:nvPr/>
        </p:nvSpPr>
        <p:spPr>
          <a:xfrm>
            <a:off x="2352978" y="2217274"/>
            <a:ext cx="1800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Неограниченный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ECB6B3-B806-FF53-5B95-DA3E88712BE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252978" y="1812942"/>
            <a:ext cx="2704338" cy="40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67">
            <a:extLst>
              <a:ext uri="{FF2B5EF4-FFF2-40B4-BE49-F238E27FC236}">
                <a16:creationId xmlns:a16="http://schemas.microsoft.com/office/drawing/2014/main" id="{A8292C38-CB51-8B62-65C3-1F5C0AD8D64B}"/>
              </a:ext>
            </a:extLst>
          </p:cNvPr>
          <p:cNvSpPr/>
          <p:nvPr/>
        </p:nvSpPr>
        <p:spPr>
          <a:xfrm>
            <a:off x="8035974" y="2217274"/>
            <a:ext cx="1800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Ограниченный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2AC9ED-2E2A-04AB-C7F6-AE63589D1DC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957316" y="1812942"/>
            <a:ext cx="2978658" cy="40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950000"/>
            <a:ext cx="5408676" cy="17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178600"/>
            <a:ext cx="4860036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Manrope ExtraBold"/>
              </a:rPr>
              <a:t>Неограниченный прогон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35800"/>
            <a:ext cx="4860036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5A5A5A"/>
                </a:solidFill>
                <a:latin typeface="Manrope"/>
              </a:rPr>
              <a:t>•  Считает потребность как есть: сколько и к какой дате нужно.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A5A5A"/>
                </a:solidFill>
                <a:latin typeface="Manrope"/>
              </a:rPr>
              <a:t>•  Квоты, договорные объёмы и мощности не ограничивают результат.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A5A5A"/>
                </a:solidFill>
                <a:latin typeface="Manrope"/>
              </a:rPr>
              <a:t>•  Отвечает на вопрос «сколько нужно» — это эталон для сравнения.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950000"/>
            <a:ext cx="5408676" cy="17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5956" y="3178600"/>
            <a:ext cx="4860036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1A1A"/>
                </a:solidFill>
                <a:latin typeface="Manrope ExtraBold"/>
              </a:rPr>
              <a:t>Ограниченный прогон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3635800"/>
            <a:ext cx="4860036" cy="6132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dirty="0">
                <a:solidFill>
                  <a:srgbClr val="5A5A5A"/>
                </a:solidFill>
                <a:latin typeface="Manrope"/>
              </a:rPr>
              <a:t>• 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Ранжирует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источники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: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приоритет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,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окно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дат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,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квота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,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размер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лота</a:t>
            </a:r>
            <a:endParaRPr sz="1150" b="0" dirty="0">
              <a:solidFill>
                <a:srgbClr val="5A5A5A"/>
              </a:solidFill>
              <a:latin typeface="Manrope"/>
            </a:endParaRPr>
          </a:p>
          <a:p>
            <a:pPr algn="l">
              <a:lnSpc>
                <a:spcPct val="118000"/>
              </a:lnSpc>
            </a:pPr>
            <a:r>
              <a:rPr sz="1150" b="0" dirty="0">
                <a:solidFill>
                  <a:srgbClr val="5A5A5A"/>
                </a:solidFill>
                <a:latin typeface="Manrope"/>
              </a:rPr>
              <a:t>• 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Держит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договорные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объёмы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,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графики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поставок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и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комплекты</a:t>
            </a:r>
            <a:endParaRPr sz="1150" b="0" dirty="0">
              <a:solidFill>
                <a:srgbClr val="5A5A5A"/>
              </a:solidFill>
              <a:latin typeface="Manrope"/>
            </a:endParaRPr>
          </a:p>
          <a:p>
            <a:pPr algn="l">
              <a:lnSpc>
                <a:spcPct val="118000"/>
              </a:lnSpc>
            </a:pPr>
            <a:r>
              <a:rPr sz="1150" b="0" dirty="0">
                <a:solidFill>
                  <a:srgbClr val="5A5A5A"/>
                </a:solidFill>
                <a:latin typeface="Manrope"/>
              </a:rPr>
              <a:t>• 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Отвечает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на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вопрос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«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чем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закрыть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» —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результат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исполним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как</a:t>
            </a:r>
            <a:r>
              <a:rPr sz="1150" b="0" dirty="0">
                <a:solidFill>
                  <a:srgbClr val="5A5A5A"/>
                </a:solidFill>
                <a:latin typeface="Manrope"/>
              </a:rPr>
              <a:t> </a:t>
            </a:r>
            <a:r>
              <a:rPr sz="1150" b="0" dirty="0" err="1">
                <a:solidFill>
                  <a:srgbClr val="5A5A5A"/>
                </a:solidFill>
                <a:latin typeface="Manrope"/>
              </a:rPr>
              <a:t>есть</a:t>
            </a:r>
            <a:endParaRPr sz="1150" b="0" dirty="0">
              <a:solidFill>
                <a:srgbClr val="5A5A5A"/>
              </a:solidFill>
              <a:latin typeface="Manrope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050000"/>
            <a:ext cx="11091672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D00FF"/>
                </a:solidFill>
                <a:latin typeface="Manrope ExtraBold"/>
              </a:rPr>
              <a:t>Ограничения, которые показываем в демо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30000"/>
            <a:ext cx="2670048" cy="7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A1A1A"/>
                </a:solidFill>
                <a:latin typeface="Manrope ExtraBold"/>
              </a:rPr>
              <a:t>Партии — </a:t>
            </a:r>
            <a:r>
              <a:rPr sz="1100" b="0">
                <a:solidFill>
                  <a:srgbClr val="5A5A5A"/>
                </a:solidFill>
                <a:latin typeface="Manrope"/>
              </a:rPr>
              <a:t>мин. и макс. размер, кратность, периодичность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5430000"/>
            <a:ext cx="2670048" cy="7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A1A1A"/>
                </a:solidFill>
                <a:latin typeface="Manrope ExtraBold"/>
              </a:rPr>
              <a:t>Сроки — </a:t>
            </a:r>
            <a:r>
              <a:rPr sz="1100" b="0">
                <a:solidFill>
                  <a:srgbClr val="5A5A5A"/>
                </a:solidFill>
                <a:latin typeface="Manrope"/>
              </a:rPr>
              <a:t>лид-тайм поставщика, календари, дата потребности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5430000"/>
            <a:ext cx="2670048" cy="7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A1A1A"/>
                </a:solidFill>
                <a:latin typeface="Manrope ExtraBold"/>
              </a:rPr>
              <a:t>Документы — </a:t>
            </a:r>
            <a:r>
              <a:rPr sz="1100" b="0">
                <a:solidFill>
                  <a:srgbClr val="5A5A5A"/>
                </a:solidFill>
                <a:latin typeface="Manrope"/>
              </a:rPr>
              <a:t>договоры, соглашения о поставке, комплекты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5430000"/>
            <a:ext cx="2670048" cy="7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1A1A1A"/>
                </a:solidFill>
                <a:latin typeface="Manrope ExtraBold"/>
              </a:rPr>
              <a:t>Запас — </a:t>
            </a:r>
            <a:r>
              <a:rPr sz="1100" b="0">
                <a:solidFill>
                  <a:srgbClr val="5A5A5A"/>
                </a:solidFill>
                <a:latin typeface="Manrope"/>
              </a:rPr>
              <a:t>страховой уровень, остаточный срок годности</a:t>
            </a:r>
          </a:p>
        </p:txBody>
      </p:sp>
    </p:spTree>
    <p:extLst>
      <p:ext uri="{BB962C8B-B14F-4D97-AF65-F5344CB8AC3E}">
        <p14:creationId xmlns:p14="http://schemas.microsoft.com/office/powerpoint/2010/main" val="1309191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C84D-DA0E-FD99-D922-7BAA3EC42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11B1DEF0-38DA-8907-E148-23B31CEFA5A5}"/>
              </a:ext>
            </a:extLst>
          </p:cNvPr>
          <p:cNvSpPr txBox="1">
            <a:spLocks/>
          </p:cNvSpPr>
          <p:nvPr/>
        </p:nvSpPr>
        <p:spPr>
          <a:xfrm>
            <a:off x="493939" y="3742803"/>
            <a:ext cx="7500992" cy="6956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63CCEDDB-4BD9-FCE7-2ACC-32540D3E02B7}"/>
              </a:ext>
            </a:extLst>
          </p:cNvPr>
          <p:cNvSpPr txBox="1">
            <a:spLocks/>
          </p:cNvSpPr>
          <p:nvPr/>
        </p:nvSpPr>
        <p:spPr>
          <a:xfrm>
            <a:off x="493938" y="2708701"/>
            <a:ext cx="10761666" cy="1440598"/>
          </a:xfrm>
          <a:prstGeom prst="rect">
            <a:avLst/>
          </a:prstGeom>
        </p:spPr>
        <p:txBody>
          <a:bodyPr lIns="91440" tIns="45720" rIns="91440" bIns="4572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ru-RU" sz="5400" b="1">
                <a:solidFill>
                  <a:srgbClr val="FFFFFF"/>
                </a:solidFill>
                <a:latin typeface="Montserrat" panose="00000500000000000000" pitchFamily="2" charset="-52"/>
              </a:rPr>
              <a:t>Демо</a:t>
            </a:r>
            <a:endParaRPr lang="ru-RU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-52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7">
            <a:extLst>
              <a:ext uri="{FF2B5EF4-FFF2-40B4-BE49-F238E27FC236}">
                <a16:creationId xmlns:a16="http://schemas.microsoft.com/office/drawing/2014/main" id="{0C388E2D-20F0-B9A9-BFCE-063AB4C4CDD6}"/>
              </a:ext>
            </a:extLst>
          </p:cNvPr>
          <p:cNvCxnSpPr>
            <a:cxnSpLocks/>
          </p:cNvCxnSpPr>
          <p:nvPr/>
        </p:nvCxnSpPr>
        <p:spPr>
          <a:xfrm>
            <a:off x="593248" y="4164537"/>
            <a:ext cx="887296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58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4DD480-8D95-0839-353C-81F0CCC93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3235B9-E879-46AB-0B16-1C3B4498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Ядро расчета </a:t>
            </a:r>
            <a:r>
              <a:rPr lang="en-US" dirty="0"/>
              <a:t>MRP</a:t>
            </a:r>
            <a:endParaRPr lang="ru-RU" dirty="0"/>
          </a:p>
        </p:txBody>
      </p:sp>
      <p:sp>
        <p:nvSpPr>
          <p:cNvPr id="4" name="Прямоугольник 67">
            <a:extLst>
              <a:ext uri="{FF2B5EF4-FFF2-40B4-BE49-F238E27FC236}">
                <a16:creationId xmlns:a16="http://schemas.microsoft.com/office/drawing/2014/main" id="{E65B28C8-76D4-ABEC-372B-08E9AACAA3C3}"/>
              </a:ext>
            </a:extLst>
          </p:cNvPr>
          <p:cNvSpPr/>
          <p:nvPr/>
        </p:nvSpPr>
        <p:spPr>
          <a:xfrm>
            <a:off x="3406140" y="1234419"/>
            <a:ext cx="1800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Прогон </a:t>
            </a:r>
            <a:r>
              <a:rPr lang="en-US" sz="1200" dirty="0">
                <a:solidFill>
                  <a:schemeClr val="bg1"/>
                </a:solidFill>
              </a:rPr>
              <a:t>MRP</a:t>
            </a:r>
            <a:r>
              <a:rPr lang="ru-RU" sz="1200" dirty="0">
                <a:solidFill>
                  <a:schemeClr val="bg1"/>
                </a:solidFill>
              </a:rPr>
              <a:t> и формирование заявки на закупку в </a:t>
            </a:r>
            <a:r>
              <a:rPr lang="en-US" sz="1200" dirty="0">
                <a:solidFill>
                  <a:schemeClr val="bg1"/>
                </a:solidFill>
              </a:rPr>
              <a:t>In.Plan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86">
            <a:extLst>
              <a:ext uri="{FF2B5EF4-FFF2-40B4-BE49-F238E27FC236}">
                <a16:creationId xmlns:a16="http://schemas.microsoft.com/office/drawing/2014/main" id="{B9FF1B0D-09FE-62F2-EFF1-D726A246E5D5}"/>
              </a:ext>
            </a:extLst>
          </p:cNvPr>
          <p:cNvSpPr/>
          <p:nvPr/>
        </p:nvSpPr>
        <p:spPr>
          <a:xfrm>
            <a:off x="5412135" y="1234419"/>
            <a:ext cx="1800000" cy="576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Формирование заказа на поставку в системе </a:t>
            </a:r>
            <a:r>
              <a:rPr lang="en-US" sz="1000" dirty="0">
                <a:solidFill>
                  <a:schemeClr val="bg1"/>
                </a:solidFill>
              </a:rPr>
              <a:t>ERP</a:t>
            </a:r>
            <a:r>
              <a:rPr lang="ru-RU" sz="1000" dirty="0">
                <a:solidFill>
                  <a:schemeClr val="bg1"/>
                </a:solidFill>
              </a:rPr>
              <a:t> на основании заявки (интеграция)</a:t>
            </a:r>
          </a:p>
        </p:txBody>
      </p:sp>
      <p:sp>
        <p:nvSpPr>
          <p:cNvPr id="6" name="Прямоугольник 148">
            <a:extLst>
              <a:ext uri="{FF2B5EF4-FFF2-40B4-BE49-F238E27FC236}">
                <a16:creationId xmlns:a16="http://schemas.microsoft.com/office/drawing/2014/main" id="{BA04A829-7FA4-0963-892D-88AEC9B60248}"/>
              </a:ext>
            </a:extLst>
          </p:cNvPr>
          <p:cNvSpPr/>
          <p:nvPr/>
        </p:nvSpPr>
        <p:spPr>
          <a:xfrm>
            <a:off x="10000870" y="6290125"/>
            <a:ext cx="754273" cy="34971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In.Plan</a:t>
            </a: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149">
            <a:extLst>
              <a:ext uri="{FF2B5EF4-FFF2-40B4-BE49-F238E27FC236}">
                <a16:creationId xmlns:a16="http://schemas.microsoft.com/office/drawing/2014/main" id="{E59E4914-E78A-C41D-A95C-489017EF6EBA}"/>
              </a:ext>
            </a:extLst>
          </p:cNvPr>
          <p:cNvSpPr/>
          <p:nvPr/>
        </p:nvSpPr>
        <p:spPr>
          <a:xfrm>
            <a:off x="10882870" y="6290125"/>
            <a:ext cx="754273" cy="360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Смежные </a:t>
            </a:r>
            <a:r>
              <a:rPr lang="ru-RU" sz="700" dirty="0">
                <a:solidFill>
                  <a:srgbClr val="000000"/>
                </a:solidFill>
                <a:latin typeface="Montserrat" panose="00000500000000000000" pitchFamily="2" charset="-52"/>
              </a:rPr>
              <a:t>системы</a:t>
            </a:r>
            <a:endParaRPr kumimoji="0" lang="ru-RU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DE93A-6F87-5C37-FCB4-7835C4784768}"/>
              </a:ext>
            </a:extLst>
          </p:cNvPr>
          <p:cNvSpPr txBox="1"/>
          <p:nvPr/>
        </p:nvSpPr>
        <p:spPr>
          <a:xfrm>
            <a:off x="9264797" y="6368792"/>
            <a:ext cx="6616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Легенда</a:t>
            </a:r>
          </a:p>
        </p:txBody>
      </p:sp>
      <p:sp>
        <p:nvSpPr>
          <p:cNvPr id="9" name="Прямоугольник 86">
            <a:extLst>
              <a:ext uri="{FF2B5EF4-FFF2-40B4-BE49-F238E27FC236}">
                <a16:creationId xmlns:a16="http://schemas.microsoft.com/office/drawing/2014/main" id="{610F69AD-39E2-87E4-34BE-ECAAF187D178}"/>
              </a:ext>
            </a:extLst>
          </p:cNvPr>
          <p:cNvSpPr/>
          <p:nvPr/>
        </p:nvSpPr>
        <p:spPr>
          <a:xfrm>
            <a:off x="7388735" y="1234419"/>
            <a:ext cx="1800000" cy="576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dirty="0">
                <a:solidFill>
                  <a:schemeClr val="bg1"/>
                </a:solidFill>
              </a:rPr>
              <a:t>Шаги закупочного процесса </a:t>
            </a:r>
            <a:r>
              <a:rPr lang="ru-RU" sz="1000">
                <a:solidFill>
                  <a:schemeClr val="bg1"/>
                </a:solidFill>
              </a:rPr>
              <a:t>в </a:t>
            </a:r>
            <a:r>
              <a:rPr lang="en-US" sz="1000" dirty="0">
                <a:solidFill>
                  <a:schemeClr val="bg1"/>
                </a:solidFill>
              </a:rPr>
              <a:t>ERP</a:t>
            </a:r>
            <a:endParaRPr lang="ru-RU" sz="1000" dirty="0">
              <a:solidFill>
                <a:schemeClr val="bg1"/>
              </a:solidFill>
            </a:endParaRPr>
          </a:p>
        </p:txBody>
      </p:sp>
      <p:cxnSp>
        <p:nvCxnSpPr>
          <p:cNvPr id="10" name="Прямая со стрелкой 93">
            <a:extLst>
              <a:ext uri="{FF2B5EF4-FFF2-40B4-BE49-F238E27FC236}">
                <a16:creationId xmlns:a16="http://schemas.microsoft.com/office/drawing/2014/main" id="{32D65AA6-38E1-5D4B-2FA4-A85575AD25CA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7212135" y="1522419"/>
            <a:ext cx="176600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86">
            <a:extLst>
              <a:ext uri="{FF2B5EF4-FFF2-40B4-BE49-F238E27FC236}">
                <a16:creationId xmlns:a16="http://schemas.microsoft.com/office/drawing/2014/main" id="{1F3A0396-C6B0-B9DF-D806-E15E3C110AC5}"/>
              </a:ext>
            </a:extLst>
          </p:cNvPr>
          <p:cNvSpPr/>
          <p:nvPr/>
        </p:nvSpPr>
        <p:spPr>
          <a:xfrm>
            <a:off x="334668" y="898511"/>
            <a:ext cx="2776655" cy="5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Передача производственного плана из </a:t>
            </a:r>
            <a:r>
              <a:rPr lang="ru-RU" sz="1200">
                <a:solidFill>
                  <a:schemeClr val="bg1"/>
                </a:solidFill>
              </a:rPr>
              <a:t>модуля </a:t>
            </a:r>
            <a:r>
              <a:rPr lang="en-US" sz="1200" dirty="0">
                <a:solidFill>
                  <a:schemeClr val="bg1"/>
                </a:solidFill>
              </a:rPr>
              <a:t>SNP</a:t>
            </a:r>
            <a:r>
              <a:rPr lang="ru-RU" sz="1200" dirty="0">
                <a:solidFill>
                  <a:schemeClr val="bg1"/>
                </a:solidFill>
              </a:rPr>
              <a:t> </a:t>
            </a:r>
            <a:r>
              <a:rPr lang="ru-RU" sz="1200">
                <a:solidFill>
                  <a:schemeClr val="bg1"/>
                </a:solidFill>
              </a:rPr>
              <a:t>или </a:t>
            </a:r>
            <a:r>
              <a:rPr lang="en-US" sz="1200" dirty="0">
                <a:solidFill>
                  <a:schemeClr val="bg1"/>
                </a:solidFill>
              </a:rPr>
              <a:t>PS (</a:t>
            </a:r>
            <a:r>
              <a:rPr lang="ru-RU" sz="1200" dirty="0">
                <a:solidFill>
                  <a:schemeClr val="bg1"/>
                </a:solidFill>
              </a:rPr>
              <a:t>плановые заказы </a:t>
            </a:r>
            <a:r>
              <a:rPr lang="ru-RU" sz="1200">
                <a:solidFill>
                  <a:schemeClr val="bg1"/>
                </a:solidFill>
              </a:rPr>
              <a:t>на производство</a:t>
            </a:r>
            <a:r>
              <a:rPr lang="en-US" sz="1200" dirty="0">
                <a:solidFill>
                  <a:schemeClr val="bg1"/>
                </a:solidFill>
              </a:rPr>
              <a:t>)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86">
            <a:extLst>
              <a:ext uri="{FF2B5EF4-FFF2-40B4-BE49-F238E27FC236}">
                <a16:creationId xmlns:a16="http://schemas.microsoft.com/office/drawing/2014/main" id="{3DF58EAF-B449-35D2-52D8-D7BA4B98ED30}"/>
              </a:ext>
            </a:extLst>
          </p:cNvPr>
          <p:cNvSpPr/>
          <p:nvPr/>
        </p:nvSpPr>
        <p:spPr>
          <a:xfrm>
            <a:off x="1311323" y="1657219"/>
            <a:ext cx="1800000" cy="5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План/факт анализ по закупкам</a:t>
            </a:r>
          </a:p>
        </p:txBody>
      </p:sp>
      <p:cxnSp>
        <p:nvCxnSpPr>
          <p:cNvPr id="13" name="Прямая со стрелкой 93">
            <a:extLst>
              <a:ext uri="{FF2B5EF4-FFF2-40B4-BE49-F238E27FC236}">
                <a16:creationId xmlns:a16="http://schemas.microsoft.com/office/drawing/2014/main" id="{E6E6F772-1938-FB71-CFED-E844461482B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206140" y="1522419"/>
            <a:ext cx="210054" cy="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93">
            <a:extLst>
              <a:ext uri="{FF2B5EF4-FFF2-40B4-BE49-F238E27FC236}">
                <a16:creationId xmlns:a16="http://schemas.microsoft.com/office/drawing/2014/main" id="{CCF99B30-1EFE-E604-9D69-49723565567E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>
            <a:off x="3111323" y="1186511"/>
            <a:ext cx="294817" cy="335908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93">
            <a:extLst>
              <a:ext uri="{FF2B5EF4-FFF2-40B4-BE49-F238E27FC236}">
                <a16:creationId xmlns:a16="http://schemas.microsoft.com/office/drawing/2014/main" id="{E1BBABDA-CED8-E270-CD33-893200B5B2AE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 flipV="1">
            <a:off x="3111323" y="1522419"/>
            <a:ext cx="294817" cy="422800"/>
          </a:xfrm>
          <a:prstGeom prst="straightConnector1">
            <a:avLst/>
          </a:prstGeom>
          <a:ln w="19050">
            <a:solidFill>
              <a:srgbClr val="A6A6A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52">
            <a:extLst>
              <a:ext uri="{FF2B5EF4-FFF2-40B4-BE49-F238E27FC236}">
                <a16:creationId xmlns:a16="http://schemas.microsoft.com/office/drawing/2014/main" id="{8CD46673-4416-3601-D608-09EE8A378700}"/>
              </a:ext>
            </a:extLst>
          </p:cNvPr>
          <p:cNvSpPr/>
          <p:nvPr/>
        </p:nvSpPr>
        <p:spPr>
          <a:xfrm>
            <a:off x="2025903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Расчет потребности нетто</a:t>
            </a:r>
          </a:p>
        </p:txBody>
      </p:sp>
      <p:sp>
        <p:nvSpPr>
          <p:cNvPr id="17" name="Прямоугольник 53">
            <a:extLst>
              <a:ext uri="{FF2B5EF4-FFF2-40B4-BE49-F238E27FC236}">
                <a16:creationId xmlns:a16="http://schemas.microsoft.com/office/drawing/2014/main" id="{7E67DA7C-7DE9-4F92-5DAF-E925FDC09839}"/>
              </a:ext>
            </a:extLst>
          </p:cNvPr>
          <p:cNvSpPr/>
          <p:nvPr/>
        </p:nvSpPr>
        <p:spPr>
          <a:xfrm>
            <a:off x="385890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Разузлование спецификаций</a:t>
            </a:r>
          </a:p>
        </p:txBody>
      </p:sp>
      <p:sp>
        <p:nvSpPr>
          <p:cNvPr id="18" name="Прямоугольник 70">
            <a:extLst>
              <a:ext uri="{FF2B5EF4-FFF2-40B4-BE49-F238E27FC236}">
                <a16:creationId xmlns:a16="http://schemas.microsoft.com/office/drawing/2014/main" id="{F733FB9A-6524-483A-C7D6-47E991F5EAED}"/>
              </a:ext>
            </a:extLst>
          </p:cNvPr>
          <p:cNvSpPr/>
          <p:nvPr/>
        </p:nvSpPr>
        <p:spPr>
          <a:xfrm>
            <a:off x="3665916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Проверка аналогов и взаимозамен</a:t>
            </a:r>
          </a:p>
        </p:txBody>
      </p:sp>
      <p:sp>
        <p:nvSpPr>
          <p:cNvPr id="19" name="Прямоугольник 71">
            <a:extLst>
              <a:ext uri="{FF2B5EF4-FFF2-40B4-BE49-F238E27FC236}">
                <a16:creationId xmlns:a16="http://schemas.microsoft.com/office/drawing/2014/main" id="{596E1784-C546-9452-C1FC-CE273161A5B1}"/>
              </a:ext>
            </a:extLst>
          </p:cNvPr>
          <p:cNvSpPr/>
          <p:nvPr/>
        </p:nvSpPr>
        <p:spPr>
          <a:xfrm>
            <a:off x="5305929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Расчет даты потребности в закупаемых материалах</a:t>
            </a:r>
          </a:p>
        </p:txBody>
      </p:sp>
      <p:sp>
        <p:nvSpPr>
          <p:cNvPr id="20" name="Прямоугольник 76">
            <a:extLst>
              <a:ext uri="{FF2B5EF4-FFF2-40B4-BE49-F238E27FC236}">
                <a16:creationId xmlns:a16="http://schemas.microsoft.com/office/drawing/2014/main" id="{694D0854-F68B-E0AF-4403-CD0BE6C2D76F}"/>
              </a:ext>
            </a:extLst>
          </p:cNvPr>
          <p:cNvSpPr/>
          <p:nvPr/>
        </p:nvSpPr>
        <p:spPr>
          <a:xfrm>
            <a:off x="6945942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Учет размера партии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987377-9F5B-03F1-CF03-E2D9FC29DD95}"/>
              </a:ext>
            </a:extLst>
          </p:cNvPr>
          <p:cNvSpPr txBox="1"/>
          <p:nvPr/>
        </p:nvSpPr>
        <p:spPr>
          <a:xfrm>
            <a:off x="2004415" y="3760257"/>
            <a:ext cx="1512000" cy="1596197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существующих заявок на закупку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существующих заказов на поставку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страховых запасов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текущих запасов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потребности в перемещении по сети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D98B27-1ABB-1C7D-3D80-B6F2A6DFF760}"/>
              </a:ext>
            </a:extLst>
          </p:cNvPr>
          <p:cNvSpPr txBox="1"/>
          <p:nvPr/>
        </p:nvSpPr>
        <p:spPr>
          <a:xfrm>
            <a:off x="5291645" y="3760257"/>
            <a:ext cx="1512000" cy="1457698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сроков поставки от поставщика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сроков обработки заявки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сроков поступления материалов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срока контроля качества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D81EEA-9093-C495-E819-2DAFE42B8458}"/>
              </a:ext>
            </a:extLst>
          </p:cNvPr>
          <p:cNvSpPr txBox="1"/>
          <p:nvPr/>
        </p:nvSpPr>
        <p:spPr>
          <a:xfrm>
            <a:off x="6935260" y="3760257"/>
            <a:ext cx="1512000" cy="1190514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ru-RU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rgbClr val="000000"/>
                </a:solidFill>
                <a:latin typeface="Montserrat" panose="00000500000000000000" pitchFamily="2" charset="-52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размера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min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размера партии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размера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max 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размера партии 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Учет кратности поставки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периодичности поставки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4BA50-C7C7-A30F-6881-CC64D84F61A7}"/>
              </a:ext>
            </a:extLst>
          </p:cNvPr>
          <p:cNvSpPr txBox="1"/>
          <p:nvPr/>
        </p:nvSpPr>
        <p:spPr>
          <a:xfrm>
            <a:off x="360800" y="3760257"/>
            <a:ext cx="1512000" cy="626701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ru-RU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-52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Учет минимального требуемого остаточного срока годности сырья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7FA2F6-1B3A-1386-923A-725E0774CAEC}"/>
              </a:ext>
            </a:extLst>
          </p:cNvPr>
          <p:cNvSpPr txBox="1"/>
          <p:nvPr/>
        </p:nvSpPr>
        <p:spPr>
          <a:xfrm>
            <a:off x="3648030" y="3760257"/>
            <a:ext cx="1512000" cy="1319198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Запланированный вывод из ассортимента 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Взаимозамены без ограничений по датам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Замены на определенных локациях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E473E3-1503-1018-4172-F3732C95C4CE}"/>
              </a:ext>
            </a:extLst>
          </p:cNvPr>
          <p:cNvSpPr txBox="1"/>
          <p:nvPr/>
        </p:nvSpPr>
        <p:spPr>
          <a:xfrm>
            <a:off x="8578873" y="3760257"/>
            <a:ext cx="1512000" cy="1734697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ru-RU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-52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Учет мощности погрузки, разгрузки и емкости склада</a:t>
            </a:r>
          </a:p>
          <a:p>
            <a:r>
              <a:rPr lang="ru-RU" dirty="0">
                <a:solidFill>
                  <a:schemeClr val="tx1"/>
                </a:solidFill>
              </a:rPr>
              <a:t>Учет календаря поставок</a:t>
            </a:r>
          </a:p>
          <a:p>
            <a:r>
              <a:rPr lang="ru-RU" dirty="0">
                <a:solidFill>
                  <a:schemeClr val="tx1"/>
                </a:solidFill>
              </a:rPr>
              <a:t>Учет вида транспорта с учетом затрат, ограничений пропускной способности</a:t>
            </a:r>
          </a:p>
          <a:p>
            <a:r>
              <a:rPr lang="ru-RU" dirty="0">
                <a:solidFill>
                  <a:schemeClr val="tx1"/>
                </a:solidFill>
              </a:rPr>
              <a:t>Учет вместимости транспорта </a:t>
            </a:r>
          </a:p>
        </p:txBody>
      </p:sp>
      <p:sp>
        <p:nvSpPr>
          <p:cNvPr id="27" name="Прямоугольник 41">
            <a:extLst>
              <a:ext uri="{FF2B5EF4-FFF2-40B4-BE49-F238E27FC236}">
                <a16:creationId xmlns:a16="http://schemas.microsoft.com/office/drawing/2014/main" id="{50B4C132-EDED-2798-FC2B-B63B19F030AB}"/>
              </a:ext>
            </a:extLst>
          </p:cNvPr>
          <p:cNvSpPr/>
          <p:nvPr/>
        </p:nvSpPr>
        <p:spPr>
          <a:xfrm>
            <a:off x="8585955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Анализ логистических ограничений </a:t>
            </a:r>
          </a:p>
        </p:txBody>
      </p:sp>
      <p:sp>
        <p:nvSpPr>
          <p:cNvPr id="28" name="Прямоугольник 67">
            <a:extLst>
              <a:ext uri="{FF2B5EF4-FFF2-40B4-BE49-F238E27FC236}">
                <a16:creationId xmlns:a16="http://schemas.microsoft.com/office/drawing/2014/main" id="{7E6771AE-AEEE-BA07-E077-B0802C3CE5A1}"/>
              </a:ext>
            </a:extLst>
          </p:cNvPr>
          <p:cNvSpPr/>
          <p:nvPr/>
        </p:nvSpPr>
        <p:spPr>
          <a:xfrm>
            <a:off x="10225971" y="3049458"/>
            <a:ext cx="1512000" cy="576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Выбор поставщика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B04CA6-81D7-103C-6BF2-42493CD3EC17}"/>
              </a:ext>
            </a:extLst>
          </p:cNvPr>
          <p:cNvSpPr txBox="1"/>
          <p:nvPr/>
        </p:nvSpPr>
        <p:spPr>
          <a:xfrm>
            <a:off x="10222488" y="3760257"/>
            <a:ext cx="1512000" cy="1319198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>
            <a:defPPr>
              <a:defRPr lang="ru-RU"/>
            </a:defPPr>
            <a:lvl1pPr marL="171450" marR="0" lvl="0" indent="-1714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-52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Учет соглашений о поставках</a:t>
            </a:r>
          </a:p>
          <a:p>
            <a:r>
              <a:rPr lang="ru-RU" dirty="0">
                <a:solidFill>
                  <a:schemeClr val="tx1"/>
                </a:solidFill>
              </a:rPr>
              <a:t>Учет приоритета источников поставки</a:t>
            </a:r>
          </a:p>
          <a:p>
            <a:r>
              <a:rPr lang="ru-RU" dirty="0">
                <a:solidFill>
                  <a:schemeClr val="tx1"/>
                </a:solidFill>
              </a:rPr>
              <a:t>Учет контрактов</a:t>
            </a:r>
          </a:p>
          <a:p>
            <a:r>
              <a:rPr lang="ru-RU" dirty="0">
                <a:solidFill>
                  <a:schemeClr val="tx1"/>
                </a:solidFill>
              </a:rPr>
              <a:t>Учет квот в объемах и % по поставщикам</a:t>
            </a:r>
          </a:p>
          <a:p>
            <a:r>
              <a:rPr lang="ru-RU" dirty="0">
                <a:solidFill>
                  <a:schemeClr val="tx1"/>
                </a:solidFill>
              </a:rPr>
              <a:t>Учет макс объемов поставщика. Цены — в оценке стоимости плана, не в выборе</a:t>
            </a:r>
          </a:p>
        </p:txBody>
      </p:sp>
      <p:cxnSp>
        <p:nvCxnSpPr>
          <p:cNvPr id="30" name="Прямая соединительная линия 88">
            <a:extLst>
              <a:ext uri="{FF2B5EF4-FFF2-40B4-BE49-F238E27FC236}">
                <a16:creationId xmlns:a16="http://schemas.microsoft.com/office/drawing/2014/main" id="{42DB8D8B-BCC9-E5C0-674F-30306564CA00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2330333" y="1810419"/>
            <a:ext cx="1975807" cy="852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89">
            <a:extLst>
              <a:ext uri="{FF2B5EF4-FFF2-40B4-BE49-F238E27FC236}">
                <a16:creationId xmlns:a16="http://schemas.microsoft.com/office/drawing/2014/main" id="{918BD2B7-A3C6-B71B-7EEE-5A340F62A80F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306140" y="1810419"/>
            <a:ext cx="4479722" cy="866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64D9813-6EB5-0EF5-7521-1FDBA5DBC126}"/>
              </a:ext>
            </a:extLst>
          </p:cNvPr>
          <p:cNvSpPr txBox="1"/>
          <p:nvPr/>
        </p:nvSpPr>
        <p:spPr>
          <a:xfrm>
            <a:off x="2005328" y="2654464"/>
            <a:ext cx="708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Параметры (ограничения) учитываемые при прогоне </a:t>
            </a:r>
            <a:r>
              <a:rPr lang="en-US" b="1" dirty="0">
                <a:solidFill>
                  <a:schemeClr val="accent2"/>
                </a:solidFill>
              </a:rPr>
              <a:t>MRP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C5086A-7807-81BA-7CEB-E953E15A32B5}"/>
              </a:ext>
            </a:extLst>
          </p:cNvPr>
          <p:cNvSpPr txBox="1"/>
          <p:nvPr/>
        </p:nvSpPr>
        <p:spPr>
          <a:xfrm>
            <a:off x="2034966" y="5623581"/>
            <a:ext cx="4910976" cy="7652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Задачи плановика: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Анализ предупреждений и устранение причин критичных предупреждений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Проведение сценарного анализа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Изменение мастер-данных и параметров (ограничений)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900" dirty="0">
                <a:latin typeface="Montserrat" panose="00000500000000000000" pitchFamily="2" charset="-52"/>
              </a:rPr>
              <a:t>Ручное</a:t>
            </a: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создание заявок и/или фиксация заявок</a:t>
            </a:r>
            <a:endParaRPr lang="ru-RU" sz="9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98878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Функциональное описание модуля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MRP</a:t>
            </a:r>
            <a:endParaRPr lang="ru-RU" dirty="0"/>
          </a:p>
        </p:txBody>
      </p:sp>
      <p:sp>
        <p:nvSpPr>
          <p:cNvPr id="301" name="goal_panel"/>
          <p:cNvSpPr/>
          <p:nvPr/>
        </p:nvSpPr>
        <p:spPr>
          <a:xfrm>
            <a:off x="400000" y="976962"/>
            <a:ext cx="7528000" cy="144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02" name="goal_hdr"/>
          <p:cNvSpPr/>
          <p:nvPr/>
        </p:nvSpPr>
        <p:spPr>
          <a:xfrm>
            <a:off x="400000" y="976962"/>
            <a:ext cx="7528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03" name="goal_hdrtx"/>
          <p:cNvSpPr txBox="1"/>
          <p:nvPr/>
        </p:nvSpPr>
        <p:spPr>
          <a:xfrm>
            <a:off x="550000" y="976962"/>
            <a:ext cx="6600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6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Цель модуля MRP</a:t>
            </a:r>
          </a:p>
        </p:txBody>
      </p:sp>
      <p:sp>
        <p:nvSpPr>
          <p:cNvPr id="304" name="goal_body"/>
          <p:cNvSpPr txBox="1"/>
          <p:nvPr/>
        </p:nvSpPr>
        <p:spPr>
          <a:xfrm>
            <a:off x="550000" y="1426962"/>
            <a:ext cx="7228000" cy="94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100" b="0" dirty="0">
                <a:solidFill>
                  <a:schemeClr val="tx1"/>
                </a:solidFill>
                <a:latin typeface="Manrope" charset="0"/>
                <a:cs typeface="Manrope" charset="0"/>
              </a:rPr>
              <a:t>Поддержка процессов S&amp;OE (Sales &amp; Operations Execution) и операционного обеспечения производства через расчёт потребности в материалах, формирование планов закупки и контроль обеспеченности производства сырьём, тарой и упаковкой. Модуль обеспечивает полный цикл расчёта потребности, формирование заявок на закупку и анализ обеспеченности, включая моделирование сценариев.</a:t>
            </a:r>
          </a:p>
        </p:txBody>
      </p:sp>
      <p:sp>
        <p:nvSpPr>
          <p:cNvPr id="305" name="task_panel"/>
          <p:cNvSpPr/>
          <p:nvPr/>
        </p:nvSpPr>
        <p:spPr>
          <a:xfrm>
            <a:off x="8127998" y="976962"/>
            <a:ext cx="3664001" cy="144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06" name="task_hdr"/>
          <p:cNvSpPr/>
          <p:nvPr/>
        </p:nvSpPr>
        <p:spPr>
          <a:xfrm>
            <a:off x="8127998" y="976962"/>
            <a:ext cx="3664002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07" name="task_hdrtx"/>
          <p:cNvSpPr txBox="1"/>
          <p:nvPr/>
        </p:nvSpPr>
        <p:spPr>
          <a:xfrm>
            <a:off x="8277998" y="976962"/>
            <a:ext cx="3364001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600" b="1" dirty="0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Ключевая задача</a:t>
            </a:r>
          </a:p>
        </p:txBody>
      </p:sp>
      <p:sp>
        <p:nvSpPr>
          <p:cNvPr id="308" name="task_body"/>
          <p:cNvSpPr txBox="1"/>
          <p:nvPr/>
        </p:nvSpPr>
        <p:spPr>
          <a:xfrm>
            <a:off x="8278000" y="1426962"/>
            <a:ext cx="3364000" cy="94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100" b="0">
                <a:solidFill>
                  <a:schemeClr val="tx1"/>
                </a:solidFill>
                <a:latin typeface="Manrope" charset="0"/>
                <a:cs typeface="Manrope" charset="0"/>
              </a:rPr>
              <a:t>Балансировка потребности производства и возможностей поставщиков для достижения ключевых показателей эффективности (KPI).</a:t>
            </a:r>
          </a:p>
        </p:txBody>
      </p:sp>
      <p:sp>
        <p:nvSpPr>
          <p:cNvPr id="314" name="kpitx2"/>
          <p:cNvSpPr txBox="1"/>
          <p:nvPr/>
        </p:nvSpPr>
        <p:spPr>
          <a:xfrm>
            <a:off x="6266000" y="2420000"/>
            <a:ext cx="2548000" cy="5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lang="ru-RU" sz="1100" b="1">
                <a:solidFill>
                  <a:schemeClr val="lt1"/>
                </a:solidFill>
                <a:latin typeface="Manrope" charset="0"/>
                <a:cs typeface="Manrope" charset="0"/>
              </a:rPr>
              <a:t>Соблюдение сроков поставок</a:t>
            </a:r>
          </a:p>
        </p:txBody>
      </p:sp>
      <p:sp>
        <p:nvSpPr>
          <p:cNvPr id="316" name="kpitx3"/>
          <p:cNvSpPr txBox="1"/>
          <p:nvPr/>
        </p:nvSpPr>
        <p:spPr>
          <a:xfrm>
            <a:off x="9154000" y="2420000"/>
            <a:ext cx="2548000" cy="5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ctr">
              <a:lnSpc>
                <a:spcPct val="102000"/>
              </a:lnSpc>
              <a:spcBef>
                <a:spcPts val="0"/>
              </a:spcBef>
            </a:pPr>
            <a:r>
              <a:rPr lang="ru-RU" sz="1100" b="1">
                <a:solidFill>
                  <a:schemeClr val="lt1"/>
                </a:solidFill>
                <a:latin typeface="Manrope" charset="0"/>
                <a:cs typeface="Manrope" charset="0"/>
              </a:rPr>
              <a:t>Снижение операционных и закупочных затрат</a:t>
            </a:r>
          </a:p>
        </p:txBody>
      </p:sp>
      <p:sp>
        <p:nvSpPr>
          <p:cNvPr id="317" name="card0"/>
          <p:cNvSpPr/>
          <p:nvPr/>
        </p:nvSpPr>
        <p:spPr>
          <a:xfrm>
            <a:off x="400000" y="2620900"/>
            <a:ext cx="3664000" cy="170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18" name="cardhdr0"/>
          <p:cNvSpPr/>
          <p:nvPr/>
        </p:nvSpPr>
        <p:spPr>
          <a:xfrm>
            <a:off x="400000" y="2620900"/>
            <a:ext cx="3664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19" name="cardhdrtx0"/>
          <p:cNvSpPr txBox="1"/>
          <p:nvPr/>
        </p:nvSpPr>
        <p:spPr>
          <a:xfrm>
            <a:off x="550000" y="2620900"/>
            <a:ext cx="3364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2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Модель данных</a:t>
            </a:r>
          </a:p>
        </p:txBody>
      </p:sp>
      <p:sp>
        <p:nvSpPr>
          <p:cNvPr id="320" name="cardbody0"/>
          <p:cNvSpPr txBox="1"/>
          <p:nvPr/>
        </p:nvSpPr>
        <p:spPr>
          <a:xfrm>
            <a:off x="550000" y="3060900"/>
            <a:ext cx="3364000" cy="121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050" b="0">
                <a:solidFill>
                  <a:schemeClr val="tx1"/>
                </a:solidFill>
                <a:latin typeface="Manrope" charset="0"/>
                <a:cs typeface="Manrope" charset="0"/>
              </a:rPr>
              <a:t>BOM, запасы и партии, параметры закупки (LT, MOQ, кратность), источники поставки, календари; витрины загрузки/выгрузки данных</a:t>
            </a:r>
          </a:p>
        </p:txBody>
      </p:sp>
      <p:sp>
        <p:nvSpPr>
          <p:cNvPr id="321" name="card1"/>
          <p:cNvSpPr/>
          <p:nvPr/>
        </p:nvSpPr>
        <p:spPr>
          <a:xfrm>
            <a:off x="4264000" y="2620900"/>
            <a:ext cx="3664000" cy="170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22" name="cardhdr1"/>
          <p:cNvSpPr/>
          <p:nvPr/>
        </p:nvSpPr>
        <p:spPr>
          <a:xfrm>
            <a:off x="4264000" y="2620900"/>
            <a:ext cx="3664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23" name="cardhdrtx1"/>
          <p:cNvSpPr txBox="1"/>
          <p:nvPr/>
        </p:nvSpPr>
        <p:spPr>
          <a:xfrm>
            <a:off x="4414000" y="2620900"/>
            <a:ext cx="3364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200" b="1" dirty="0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Алгоритмы расчёта</a:t>
            </a:r>
          </a:p>
        </p:txBody>
      </p:sp>
      <p:sp>
        <p:nvSpPr>
          <p:cNvPr id="324" name="cardbody1"/>
          <p:cNvSpPr txBox="1"/>
          <p:nvPr/>
        </p:nvSpPr>
        <p:spPr>
          <a:xfrm>
            <a:off x="4414000" y="3060900"/>
            <a:ext cx="3364000" cy="121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050" b="0">
                <a:solidFill>
                  <a:schemeClr val="tx1"/>
                </a:solidFill>
                <a:latin typeface="Manrope" charset="0"/>
                <a:cs typeface="Manrope" charset="0"/>
              </a:rPr>
              <a:t>Разузлование BOM, расчёт брутто/нетто-потребности, определение дат и партий, проверка ограничений, формирование заявок, расчёт покрытий</a:t>
            </a:r>
          </a:p>
        </p:txBody>
      </p:sp>
      <p:sp>
        <p:nvSpPr>
          <p:cNvPr id="325" name="card2"/>
          <p:cNvSpPr/>
          <p:nvPr/>
        </p:nvSpPr>
        <p:spPr>
          <a:xfrm>
            <a:off x="8128000" y="2620900"/>
            <a:ext cx="3664000" cy="170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26" name="cardhdr2"/>
          <p:cNvSpPr/>
          <p:nvPr/>
        </p:nvSpPr>
        <p:spPr>
          <a:xfrm>
            <a:off x="8128000" y="2620900"/>
            <a:ext cx="3664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27" name="cardhdrtx2"/>
          <p:cNvSpPr txBox="1"/>
          <p:nvPr/>
        </p:nvSpPr>
        <p:spPr>
          <a:xfrm>
            <a:off x="8278000" y="2620900"/>
            <a:ext cx="3364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200" b="1" dirty="0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Интерфейсы</a:t>
            </a:r>
          </a:p>
        </p:txBody>
      </p:sp>
      <p:sp>
        <p:nvSpPr>
          <p:cNvPr id="328" name="cardbody2"/>
          <p:cNvSpPr txBox="1"/>
          <p:nvPr/>
        </p:nvSpPr>
        <p:spPr>
          <a:xfrm>
            <a:off x="8278000" y="3060900"/>
            <a:ext cx="3364000" cy="121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050" b="0">
                <a:solidFill>
                  <a:schemeClr val="tx1"/>
                </a:solidFill>
                <a:latin typeface="Manrope" charset="0"/>
                <a:cs typeface="Manrope" charset="0"/>
              </a:rPr>
              <a:t>Книга планирования материалов, рабочее место плановика закупок, экран предупреждений, корректировка заявок</a:t>
            </a:r>
          </a:p>
        </p:txBody>
      </p:sp>
      <p:sp>
        <p:nvSpPr>
          <p:cNvPr id="329" name="card3"/>
          <p:cNvSpPr/>
          <p:nvPr/>
        </p:nvSpPr>
        <p:spPr>
          <a:xfrm>
            <a:off x="400000" y="4460900"/>
            <a:ext cx="3664000" cy="170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30" name="cardhdr3"/>
          <p:cNvSpPr/>
          <p:nvPr/>
        </p:nvSpPr>
        <p:spPr>
          <a:xfrm>
            <a:off x="400000" y="4460900"/>
            <a:ext cx="3664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31" name="cardhdrtx3"/>
          <p:cNvSpPr txBox="1"/>
          <p:nvPr/>
        </p:nvSpPr>
        <p:spPr>
          <a:xfrm>
            <a:off x="550000" y="4460900"/>
            <a:ext cx="3364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2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Алгоритмы работы с данными</a:t>
            </a:r>
          </a:p>
        </p:txBody>
      </p:sp>
      <p:sp>
        <p:nvSpPr>
          <p:cNvPr id="332" name="cardbody3"/>
          <p:cNvSpPr txBox="1"/>
          <p:nvPr/>
        </p:nvSpPr>
        <p:spPr>
          <a:xfrm>
            <a:off x="550000" y="4900900"/>
            <a:ext cx="3364000" cy="121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950" b="0">
                <a:solidFill>
                  <a:schemeClr val="tx1"/>
                </a:solidFill>
                <a:latin typeface="Manrope" charset="0"/>
                <a:cs typeface="Manrope" charset="0"/>
              </a:rPr>
              <a:t>Проверка и консистентность данных, формирование предупреждений, предзаполнение и агрегация</a:t>
            </a:r>
          </a:p>
        </p:txBody>
      </p:sp>
      <p:sp>
        <p:nvSpPr>
          <p:cNvPr id="333" name="card4"/>
          <p:cNvSpPr/>
          <p:nvPr/>
        </p:nvSpPr>
        <p:spPr>
          <a:xfrm>
            <a:off x="4264000" y="4460900"/>
            <a:ext cx="3664000" cy="170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34" name="cardhdr4"/>
          <p:cNvSpPr/>
          <p:nvPr/>
        </p:nvSpPr>
        <p:spPr>
          <a:xfrm>
            <a:off x="4264000" y="4460900"/>
            <a:ext cx="3664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35" name="cardhdrtx4"/>
          <p:cNvSpPr txBox="1"/>
          <p:nvPr/>
        </p:nvSpPr>
        <p:spPr>
          <a:xfrm>
            <a:off x="4414000" y="4460900"/>
            <a:ext cx="3364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2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Сценарное планирование</a:t>
            </a:r>
          </a:p>
        </p:txBody>
      </p:sp>
      <p:sp>
        <p:nvSpPr>
          <p:cNvPr id="336" name="cardbody4"/>
          <p:cNvSpPr txBox="1"/>
          <p:nvPr/>
        </p:nvSpPr>
        <p:spPr>
          <a:xfrm>
            <a:off x="4414000" y="4900900"/>
            <a:ext cx="3364000" cy="121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950" b="0">
                <a:solidFill>
                  <a:schemeClr val="tx1"/>
                </a:solidFill>
                <a:latin typeface="Manrope" charset="0"/>
                <a:cs typeface="Manrope" charset="0"/>
              </a:rPr>
              <a:t>Создание альтернатив, сравнение по KPI и утверждение оптимального сценария</a:t>
            </a:r>
          </a:p>
        </p:txBody>
      </p:sp>
      <p:sp>
        <p:nvSpPr>
          <p:cNvPr id="337" name="card5"/>
          <p:cNvSpPr/>
          <p:nvPr/>
        </p:nvSpPr>
        <p:spPr>
          <a:xfrm>
            <a:off x="8128000" y="4460900"/>
            <a:ext cx="3664000" cy="1700000"/>
          </a:xfrm>
          <a:prstGeom prst="roundRect">
            <a:avLst>
              <a:gd name="adj" fmla="val 8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38" name="cardhdr5"/>
          <p:cNvSpPr/>
          <p:nvPr/>
        </p:nvSpPr>
        <p:spPr>
          <a:xfrm>
            <a:off x="8128000" y="4460900"/>
            <a:ext cx="3664000" cy="360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 sz="2400"/>
          </a:p>
        </p:txBody>
      </p:sp>
      <p:sp>
        <p:nvSpPr>
          <p:cNvPr id="339" name="cardhdrtx5"/>
          <p:cNvSpPr txBox="1"/>
          <p:nvPr/>
        </p:nvSpPr>
        <p:spPr>
          <a:xfrm>
            <a:off x="8278000" y="4460900"/>
            <a:ext cx="3364000" cy="36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12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BI-витрины</a:t>
            </a:r>
          </a:p>
        </p:txBody>
      </p:sp>
      <p:sp>
        <p:nvSpPr>
          <p:cNvPr id="340" name="cardbody5"/>
          <p:cNvSpPr txBox="1"/>
          <p:nvPr/>
        </p:nvSpPr>
        <p:spPr>
          <a:xfrm>
            <a:off x="8278000" y="4900900"/>
            <a:ext cx="3364000" cy="121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lang="ru-RU" sz="950" b="0">
                <a:solidFill>
                  <a:schemeClr val="tx1"/>
                </a:solidFill>
                <a:latin typeface="Manrope" charset="0"/>
                <a:cs typeface="Manrope" charset="0"/>
              </a:rPr>
              <a:t>Планируемый остаток и риски, загрузка склада, свежесть запасов, использование источников поставки</a:t>
            </a:r>
          </a:p>
        </p:txBody>
      </p:sp>
    </p:spTree>
    <p:extLst>
      <p:ext uri="{BB962C8B-B14F-4D97-AF65-F5344CB8AC3E}">
        <p14:creationId xmlns:p14="http://schemas.microsoft.com/office/powerpoint/2010/main" val="3586407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22C122-6B09-4EDA-A4D2-91D55D01D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534DBAD-F605-4F2D-822D-0079DAF3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Детальное покрытие требований имеющимся функционалом</a:t>
            </a:r>
          </a:p>
        </p:txBody>
      </p:sp>
      <p:sp>
        <p:nvSpPr>
          <p:cNvPr id="201" name="panel0"/>
          <p:cNvSpPr/>
          <p:nvPr/>
        </p:nvSpPr>
        <p:spPr>
          <a:xfrm>
            <a:off x="640000" y="1290000"/>
            <a:ext cx="1513142" cy="459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24" name="panel1"/>
          <p:cNvSpPr/>
          <p:nvPr/>
        </p:nvSpPr>
        <p:spPr>
          <a:xfrm>
            <a:off x="2283142" y="1290000"/>
            <a:ext cx="1513142" cy="383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3" name="panel2"/>
          <p:cNvSpPr/>
          <p:nvPr/>
        </p:nvSpPr>
        <p:spPr>
          <a:xfrm>
            <a:off x="3926284" y="1290000"/>
            <a:ext cx="1513142" cy="183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50" name="panel3"/>
          <p:cNvSpPr/>
          <p:nvPr/>
        </p:nvSpPr>
        <p:spPr>
          <a:xfrm>
            <a:off x="5569426" y="1290000"/>
            <a:ext cx="1513142" cy="110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55" name="panel4"/>
          <p:cNvSpPr/>
          <p:nvPr/>
        </p:nvSpPr>
        <p:spPr>
          <a:xfrm>
            <a:off x="7212568" y="1290000"/>
            <a:ext cx="1513142" cy="267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62" name="panel5"/>
          <p:cNvSpPr/>
          <p:nvPr/>
        </p:nvSpPr>
        <p:spPr>
          <a:xfrm>
            <a:off x="8855710" y="1290000"/>
            <a:ext cx="1513142" cy="141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69" name="panel6"/>
          <p:cNvSpPr/>
          <p:nvPr/>
        </p:nvSpPr>
        <p:spPr>
          <a:xfrm>
            <a:off x="10498852" y="1290000"/>
            <a:ext cx="1513142" cy="2590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9525">
            <a:solidFill>
              <a:srgbClr val="E3D2FB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02" name="hdr0"/>
          <p:cNvSpPr/>
          <p:nvPr/>
        </p:nvSpPr>
        <p:spPr>
          <a:xfrm>
            <a:off x="730000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3" name="hdrtx0"/>
          <p:cNvSpPr txBox="1"/>
          <p:nvPr/>
        </p:nvSpPr>
        <p:spPr>
          <a:xfrm>
            <a:off x="730000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Основные данные</a:t>
            </a:r>
          </a:p>
        </p:txBody>
      </p:sp>
      <p:sp>
        <p:nvSpPr>
          <p:cNvPr id="204" name="pill0"/>
          <p:cNvSpPr/>
          <p:nvPr/>
        </p:nvSpPr>
        <p:spPr>
          <a:xfrm>
            <a:off x="730000" y="190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5" name="pilltx0"/>
          <p:cNvSpPr txBox="1"/>
          <p:nvPr/>
        </p:nvSpPr>
        <p:spPr>
          <a:xfrm>
            <a:off x="730000" y="190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Продукт</a:t>
            </a:r>
          </a:p>
        </p:txBody>
      </p:sp>
      <p:sp>
        <p:nvSpPr>
          <p:cNvPr id="206" name="pill0"/>
          <p:cNvSpPr/>
          <p:nvPr/>
        </p:nvSpPr>
        <p:spPr>
          <a:xfrm>
            <a:off x="730000" y="221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7" name="pilltx0"/>
          <p:cNvSpPr txBox="1"/>
          <p:nvPr/>
        </p:nvSpPr>
        <p:spPr>
          <a:xfrm>
            <a:off x="730000" y="221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Локация (в т.ч. Поставщик)</a:t>
            </a:r>
          </a:p>
        </p:txBody>
      </p:sp>
      <p:sp>
        <p:nvSpPr>
          <p:cNvPr id="208" name="pill0"/>
          <p:cNvSpPr/>
          <p:nvPr/>
        </p:nvSpPr>
        <p:spPr>
          <a:xfrm>
            <a:off x="730000" y="266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09" name="pilltx0"/>
          <p:cNvSpPr txBox="1"/>
          <p:nvPr/>
        </p:nvSpPr>
        <p:spPr>
          <a:xfrm>
            <a:off x="730000" y="266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Производственный BOM</a:t>
            </a:r>
          </a:p>
        </p:txBody>
      </p:sp>
      <p:sp>
        <p:nvSpPr>
          <p:cNvPr id="210" name="pill0"/>
          <p:cNvSpPr/>
          <p:nvPr/>
        </p:nvSpPr>
        <p:spPr>
          <a:xfrm>
            <a:off x="730000" y="311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1" name="pilltx0"/>
          <p:cNvSpPr txBox="1"/>
          <p:nvPr/>
        </p:nvSpPr>
        <p:spPr>
          <a:xfrm>
            <a:off x="730000" y="311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Закупочный BOM</a:t>
            </a:r>
          </a:p>
        </p:txBody>
      </p:sp>
      <p:sp>
        <p:nvSpPr>
          <p:cNvPr id="212" name="pill0"/>
          <p:cNvSpPr/>
          <p:nvPr/>
        </p:nvSpPr>
        <p:spPr>
          <a:xfrm>
            <a:off x="730000" y="342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3" name="pilltx0"/>
          <p:cNvSpPr txBox="1"/>
          <p:nvPr/>
        </p:nvSpPr>
        <p:spPr>
          <a:xfrm>
            <a:off x="730000" y="342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Контракты</a:t>
            </a:r>
          </a:p>
        </p:txBody>
      </p:sp>
      <p:sp>
        <p:nvSpPr>
          <p:cNvPr id="214" name="pill0"/>
          <p:cNvSpPr/>
          <p:nvPr/>
        </p:nvSpPr>
        <p:spPr>
          <a:xfrm>
            <a:off x="730000" y="373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5" name="pilltx0"/>
          <p:cNvSpPr txBox="1"/>
          <p:nvPr/>
        </p:nvSpPr>
        <p:spPr>
          <a:xfrm>
            <a:off x="730000" y="373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Соглашение о поставках</a:t>
            </a:r>
          </a:p>
        </p:txBody>
      </p:sp>
      <p:sp>
        <p:nvSpPr>
          <p:cNvPr id="216" name="pill0"/>
          <p:cNvSpPr/>
          <p:nvPr/>
        </p:nvSpPr>
        <p:spPr>
          <a:xfrm>
            <a:off x="730000" y="418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7" name="pilltx0"/>
          <p:cNvSpPr txBox="1"/>
          <p:nvPr/>
        </p:nvSpPr>
        <p:spPr>
          <a:xfrm>
            <a:off x="730000" y="418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Книга источников поставок</a:t>
            </a:r>
          </a:p>
        </p:txBody>
      </p:sp>
      <p:sp>
        <p:nvSpPr>
          <p:cNvPr id="218" name="pill0"/>
          <p:cNvSpPr/>
          <p:nvPr/>
        </p:nvSpPr>
        <p:spPr>
          <a:xfrm>
            <a:off x="730000" y="463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19" name="pilltx0"/>
          <p:cNvSpPr txBox="1"/>
          <p:nvPr/>
        </p:nvSpPr>
        <p:spPr>
          <a:xfrm>
            <a:off x="730000" y="463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Аналоги и взаимозамены</a:t>
            </a:r>
          </a:p>
        </p:txBody>
      </p:sp>
      <p:sp>
        <p:nvSpPr>
          <p:cNvPr id="220" name="pill0"/>
          <p:cNvSpPr/>
          <p:nvPr/>
        </p:nvSpPr>
        <p:spPr>
          <a:xfrm>
            <a:off x="730000" y="508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1" name="pilltx0"/>
          <p:cNvSpPr txBox="1"/>
          <p:nvPr/>
        </p:nvSpPr>
        <p:spPr>
          <a:xfrm>
            <a:off x="730000" y="508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Окна поставок</a:t>
            </a:r>
          </a:p>
        </p:txBody>
      </p:sp>
      <p:sp>
        <p:nvSpPr>
          <p:cNvPr id="222" name="pill0"/>
          <p:cNvSpPr/>
          <p:nvPr/>
        </p:nvSpPr>
        <p:spPr>
          <a:xfrm>
            <a:off x="730000" y="539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3" name="pilltx0"/>
          <p:cNvSpPr txBox="1"/>
          <p:nvPr/>
        </p:nvSpPr>
        <p:spPr>
          <a:xfrm>
            <a:off x="730000" y="539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Управление изменениями</a:t>
            </a:r>
          </a:p>
        </p:txBody>
      </p:sp>
      <p:sp>
        <p:nvSpPr>
          <p:cNvPr id="225" name="hdr1"/>
          <p:cNvSpPr/>
          <p:nvPr/>
        </p:nvSpPr>
        <p:spPr>
          <a:xfrm>
            <a:off x="2373142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6" name="hdrtx1"/>
          <p:cNvSpPr txBox="1"/>
          <p:nvPr/>
        </p:nvSpPr>
        <p:spPr>
          <a:xfrm>
            <a:off x="2373142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Транзакционные данные</a:t>
            </a:r>
          </a:p>
        </p:txBody>
      </p:sp>
      <p:sp>
        <p:nvSpPr>
          <p:cNvPr id="227" name="pill1"/>
          <p:cNvSpPr/>
          <p:nvPr/>
        </p:nvSpPr>
        <p:spPr>
          <a:xfrm>
            <a:off x="2373142" y="190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28" name="pilltx1"/>
          <p:cNvSpPr txBox="1"/>
          <p:nvPr/>
        </p:nvSpPr>
        <p:spPr>
          <a:xfrm>
            <a:off x="2373142" y="190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Запасы в разрезе партий</a:t>
            </a:r>
          </a:p>
        </p:txBody>
      </p:sp>
      <p:sp>
        <p:nvSpPr>
          <p:cNvPr id="229" name="pill1"/>
          <p:cNvSpPr/>
          <p:nvPr/>
        </p:nvSpPr>
        <p:spPr>
          <a:xfrm>
            <a:off x="2373142" y="235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0" name="pilltx1"/>
          <p:cNvSpPr txBox="1"/>
          <p:nvPr/>
        </p:nvSpPr>
        <p:spPr>
          <a:xfrm>
            <a:off x="2373142" y="235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Заявка на закупку</a:t>
            </a:r>
          </a:p>
        </p:txBody>
      </p:sp>
      <p:sp>
        <p:nvSpPr>
          <p:cNvPr id="231" name="pill1"/>
          <p:cNvSpPr/>
          <p:nvPr/>
        </p:nvSpPr>
        <p:spPr>
          <a:xfrm>
            <a:off x="2373142" y="266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2" name="pilltx1"/>
          <p:cNvSpPr txBox="1"/>
          <p:nvPr/>
        </p:nvSpPr>
        <p:spPr>
          <a:xfrm>
            <a:off x="2373142" y="266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Заказ на поставку</a:t>
            </a:r>
          </a:p>
        </p:txBody>
      </p:sp>
      <p:sp>
        <p:nvSpPr>
          <p:cNvPr id="233" name="pill1"/>
          <p:cNvSpPr/>
          <p:nvPr/>
        </p:nvSpPr>
        <p:spPr>
          <a:xfrm>
            <a:off x="2373142" y="297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4" name="pilltx1"/>
          <p:cNvSpPr txBox="1"/>
          <p:nvPr/>
        </p:nvSpPr>
        <p:spPr>
          <a:xfrm>
            <a:off x="2373142" y="297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Заявка на перемещение</a:t>
            </a:r>
          </a:p>
        </p:txBody>
      </p:sp>
      <p:sp>
        <p:nvSpPr>
          <p:cNvPr id="235" name="pill1"/>
          <p:cNvSpPr/>
          <p:nvPr/>
        </p:nvSpPr>
        <p:spPr>
          <a:xfrm>
            <a:off x="2373142" y="342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6" name="pilltx1"/>
          <p:cNvSpPr txBox="1"/>
          <p:nvPr/>
        </p:nvSpPr>
        <p:spPr>
          <a:xfrm>
            <a:off x="2373142" y="342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Заказ на перемещение</a:t>
            </a:r>
          </a:p>
        </p:txBody>
      </p:sp>
      <p:sp>
        <p:nvSpPr>
          <p:cNvPr id="237" name="pill1"/>
          <p:cNvSpPr/>
          <p:nvPr/>
        </p:nvSpPr>
        <p:spPr>
          <a:xfrm>
            <a:off x="2373142" y="387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38" name="pilltx1"/>
          <p:cNvSpPr txBox="1"/>
          <p:nvPr/>
        </p:nvSpPr>
        <p:spPr>
          <a:xfrm>
            <a:off x="2373142" y="387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Резервирование</a:t>
            </a:r>
          </a:p>
        </p:txBody>
      </p:sp>
      <p:sp>
        <p:nvSpPr>
          <p:cNvPr id="239" name="pill1"/>
          <p:cNvSpPr/>
          <p:nvPr/>
        </p:nvSpPr>
        <p:spPr>
          <a:xfrm>
            <a:off x="2373142" y="418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40" name="pilltx1"/>
          <p:cNvSpPr txBox="1"/>
          <p:nvPr/>
        </p:nvSpPr>
        <p:spPr>
          <a:xfrm>
            <a:off x="2373142" y="418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Вторичная потребность</a:t>
            </a:r>
          </a:p>
        </p:txBody>
      </p:sp>
      <p:sp>
        <p:nvSpPr>
          <p:cNvPr id="241" name="pill1"/>
          <p:cNvSpPr/>
          <p:nvPr/>
        </p:nvSpPr>
        <p:spPr>
          <a:xfrm>
            <a:off x="2373142" y="463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42" name="pilltx1"/>
          <p:cNvSpPr txBox="1"/>
          <p:nvPr/>
        </p:nvSpPr>
        <p:spPr>
          <a:xfrm>
            <a:off x="2373142" y="463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Производственное резервирование</a:t>
            </a:r>
          </a:p>
        </p:txBody>
      </p:sp>
      <p:sp>
        <p:nvSpPr>
          <p:cNvPr id="244" name="hdr2"/>
          <p:cNvSpPr/>
          <p:nvPr/>
        </p:nvSpPr>
        <p:spPr>
          <a:xfrm>
            <a:off x="4016284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45" name="hdrtx2"/>
          <p:cNvSpPr txBox="1"/>
          <p:nvPr/>
        </p:nvSpPr>
        <p:spPr>
          <a:xfrm>
            <a:off x="4016284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Расчет потребности в закупке</a:t>
            </a:r>
          </a:p>
        </p:txBody>
      </p:sp>
      <p:sp>
        <p:nvSpPr>
          <p:cNvPr id="246" name="pill2"/>
          <p:cNvSpPr/>
          <p:nvPr/>
        </p:nvSpPr>
        <p:spPr>
          <a:xfrm>
            <a:off x="4016284" y="1905000"/>
            <a:ext cx="1333142" cy="53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47" name="pilltx2"/>
          <p:cNvSpPr txBox="1"/>
          <p:nvPr/>
        </p:nvSpPr>
        <p:spPr>
          <a:xfrm>
            <a:off x="4016284" y="1905000"/>
            <a:ext cx="1333142" cy="53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Алгоритм ППМ для производственных потребностей</a:t>
            </a:r>
          </a:p>
        </p:txBody>
      </p:sp>
      <p:sp>
        <p:nvSpPr>
          <p:cNvPr id="248" name="pill2"/>
          <p:cNvSpPr/>
          <p:nvPr/>
        </p:nvSpPr>
        <p:spPr>
          <a:xfrm>
            <a:off x="4016284" y="2495000"/>
            <a:ext cx="1333142" cy="53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49" name="pilltx2"/>
          <p:cNvSpPr txBox="1"/>
          <p:nvPr/>
        </p:nvSpPr>
        <p:spPr>
          <a:xfrm>
            <a:off x="4016284" y="2495000"/>
            <a:ext cx="1333142" cy="53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Алгоритм ППМ для не нормируемых позиций</a:t>
            </a:r>
          </a:p>
        </p:txBody>
      </p:sp>
      <p:sp>
        <p:nvSpPr>
          <p:cNvPr id="251" name="hdr3"/>
          <p:cNvSpPr/>
          <p:nvPr/>
        </p:nvSpPr>
        <p:spPr>
          <a:xfrm>
            <a:off x="5659426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2" name="hdrtx3"/>
          <p:cNvSpPr txBox="1"/>
          <p:nvPr/>
        </p:nvSpPr>
        <p:spPr>
          <a:xfrm>
            <a:off x="5659426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Доп. функциональность</a:t>
            </a:r>
          </a:p>
        </p:txBody>
      </p:sp>
      <p:sp>
        <p:nvSpPr>
          <p:cNvPr id="253" name="pill3"/>
          <p:cNvSpPr/>
          <p:nvPr/>
        </p:nvSpPr>
        <p:spPr>
          <a:xfrm>
            <a:off x="5659426" y="190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4" name="pilltx3"/>
          <p:cNvSpPr txBox="1"/>
          <p:nvPr/>
        </p:nvSpPr>
        <p:spPr>
          <a:xfrm>
            <a:off x="5659426" y="190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Монитор предупреждений</a:t>
            </a:r>
          </a:p>
        </p:txBody>
      </p:sp>
      <p:sp>
        <p:nvSpPr>
          <p:cNvPr id="256" name="hdr4"/>
          <p:cNvSpPr/>
          <p:nvPr/>
        </p:nvSpPr>
        <p:spPr>
          <a:xfrm>
            <a:off x="7302568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7" name="hdrtx4"/>
          <p:cNvSpPr txBox="1"/>
          <p:nvPr/>
        </p:nvSpPr>
        <p:spPr>
          <a:xfrm>
            <a:off x="7302568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Доп. алгоритмы</a:t>
            </a:r>
          </a:p>
        </p:txBody>
      </p:sp>
      <p:sp>
        <p:nvSpPr>
          <p:cNvPr id="258" name="pill4"/>
          <p:cNvSpPr/>
          <p:nvPr/>
        </p:nvSpPr>
        <p:spPr>
          <a:xfrm>
            <a:off x="7302568" y="1905000"/>
            <a:ext cx="1333142" cy="10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9" name="pilltx4"/>
          <p:cNvSpPr txBox="1"/>
          <p:nvPr/>
        </p:nvSpPr>
        <p:spPr>
          <a:xfrm>
            <a:off x="7302568" y="1905000"/>
            <a:ext cx="1333142" cy="10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Вместимость транспорта (TLB): формирование многопозиционной заявки на закупку на 1м транспортном отношении (без «заездов»)</a:t>
            </a:r>
          </a:p>
        </p:txBody>
      </p:sp>
      <p:sp>
        <p:nvSpPr>
          <p:cNvPr id="260" name="pill4"/>
          <p:cNvSpPr/>
          <p:nvPr/>
        </p:nvSpPr>
        <p:spPr>
          <a:xfrm>
            <a:off x="7302568" y="3055000"/>
            <a:ext cx="1333142" cy="81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61" name="pilltx4"/>
          <p:cNvSpPr txBox="1"/>
          <p:nvPr/>
        </p:nvSpPr>
        <p:spPr>
          <a:xfrm>
            <a:off x="7302568" y="3055000"/>
            <a:ext cx="1333142" cy="81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Выбор вида транспорта с учетом приоритета и ограничений пропускной способности</a:t>
            </a:r>
          </a:p>
        </p:txBody>
      </p:sp>
      <p:sp>
        <p:nvSpPr>
          <p:cNvPr id="263" name="hdr5"/>
          <p:cNvSpPr/>
          <p:nvPr/>
        </p:nvSpPr>
        <p:spPr>
          <a:xfrm>
            <a:off x="8945710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64" name="hdrtx5"/>
          <p:cNvSpPr txBox="1"/>
          <p:nvPr/>
        </p:nvSpPr>
        <p:spPr>
          <a:xfrm>
            <a:off x="8945710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Интерактивное планирование</a:t>
            </a:r>
          </a:p>
        </p:txBody>
      </p:sp>
      <p:sp>
        <p:nvSpPr>
          <p:cNvPr id="265" name="pill5"/>
          <p:cNvSpPr/>
          <p:nvPr/>
        </p:nvSpPr>
        <p:spPr>
          <a:xfrm>
            <a:off x="8945710" y="190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66" name="pilltx5"/>
          <p:cNvSpPr txBox="1"/>
          <p:nvPr/>
        </p:nvSpPr>
        <p:spPr>
          <a:xfrm>
            <a:off x="8945710" y="190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Ведомость потребностей и поступлений</a:t>
            </a:r>
          </a:p>
        </p:txBody>
      </p:sp>
      <p:sp>
        <p:nvSpPr>
          <p:cNvPr id="267" name="pill5"/>
          <p:cNvSpPr/>
          <p:nvPr/>
        </p:nvSpPr>
        <p:spPr>
          <a:xfrm>
            <a:off x="8945710" y="2355000"/>
            <a:ext cx="1333142" cy="25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68" name="pilltx5"/>
          <p:cNvSpPr txBox="1"/>
          <p:nvPr/>
        </p:nvSpPr>
        <p:spPr>
          <a:xfrm>
            <a:off x="8945710" y="2355000"/>
            <a:ext cx="1333142" cy="25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Книга планирования</a:t>
            </a:r>
          </a:p>
        </p:txBody>
      </p:sp>
      <p:sp>
        <p:nvSpPr>
          <p:cNvPr id="270" name="hdr6"/>
          <p:cNvSpPr/>
          <p:nvPr/>
        </p:nvSpPr>
        <p:spPr>
          <a:xfrm>
            <a:off x="10588852" y="1380000"/>
            <a:ext cx="1333142" cy="440000"/>
          </a:xfrm>
          <a:prstGeom prst="roundRect">
            <a:avLst>
              <a:gd name="adj" fmla="val 14000"/>
            </a:avLst>
          </a:prstGeom>
          <a:solidFill>
            <a:schemeClr val="tx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71" name="hdrtx6"/>
          <p:cNvSpPr txBox="1"/>
          <p:nvPr/>
        </p:nvSpPr>
        <p:spPr>
          <a:xfrm>
            <a:off x="10588852" y="1380000"/>
            <a:ext cx="1333142" cy="44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900" b="1" kern="0">
                <a:solidFill>
                  <a:schemeClr val="lt1"/>
                </a:solidFill>
                <a:latin typeface="Manrope ExtraBold" pitchFamily="2" charset="0"/>
                <a:cs typeface="Manrope ExtraBold"/>
              </a:rPr>
              <a:t>BI-отчеты</a:t>
            </a:r>
          </a:p>
        </p:txBody>
      </p:sp>
      <p:sp>
        <p:nvSpPr>
          <p:cNvPr id="272" name="pill6"/>
          <p:cNvSpPr/>
          <p:nvPr/>
        </p:nvSpPr>
        <p:spPr>
          <a:xfrm>
            <a:off x="10588852" y="190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73" name="pilltx6"/>
          <p:cNvSpPr txBox="1"/>
          <p:nvPr/>
        </p:nvSpPr>
        <p:spPr>
          <a:xfrm>
            <a:off x="10588852" y="190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Отчет по партиям с ОСГ</a:t>
            </a:r>
          </a:p>
        </p:txBody>
      </p:sp>
      <p:sp>
        <p:nvSpPr>
          <p:cNvPr id="274" name="pill6"/>
          <p:cNvSpPr/>
          <p:nvPr/>
        </p:nvSpPr>
        <p:spPr>
          <a:xfrm>
            <a:off x="10588852" y="235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75" name="pilltx6"/>
          <p:cNvSpPr txBox="1"/>
          <p:nvPr/>
        </p:nvSpPr>
        <p:spPr>
          <a:xfrm>
            <a:off x="10588852" y="235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lt1"/>
                </a:solidFill>
                <a:latin typeface="Manrope" pitchFamily="2" charset="0"/>
                <a:cs typeface="Manrope"/>
              </a:rPr>
              <a:t>Отчет по плановому остатку</a:t>
            </a:r>
          </a:p>
        </p:txBody>
      </p:sp>
      <p:sp>
        <p:nvSpPr>
          <p:cNvPr id="276" name="pill6"/>
          <p:cNvSpPr/>
          <p:nvPr/>
        </p:nvSpPr>
        <p:spPr>
          <a:xfrm>
            <a:off x="10588852" y="2805000"/>
            <a:ext cx="1333142" cy="39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77" name="pilltx6"/>
          <p:cNvSpPr txBox="1"/>
          <p:nvPr/>
        </p:nvSpPr>
        <p:spPr>
          <a:xfrm>
            <a:off x="10588852" y="2805000"/>
            <a:ext cx="1333142" cy="39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Отчет по плану закупок</a:t>
            </a:r>
          </a:p>
        </p:txBody>
      </p:sp>
      <p:sp>
        <p:nvSpPr>
          <p:cNvPr id="278" name="pill6"/>
          <p:cNvSpPr/>
          <p:nvPr/>
        </p:nvSpPr>
        <p:spPr>
          <a:xfrm>
            <a:off x="10588852" y="3255000"/>
            <a:ext cx="1333142" cy="530000"/>
          </a:xfrm>
          <a:prstGeom prst="roundRect">
            <a:avLst>
              <a:gd name="adj" fmla="val 14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79" name="pilltx6"/>
          <p:cNvSpPr txBox="1"/>
          <p:nvPr/>
        </p:nvSpPr>
        <p:spPr>
          <a:xfrm>
            <a:off x="10588852" y="3255000"/>
            <a:ext cx="1333142" cy="53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ctr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Отчет по источникам поставки (квотам и контрактам)</a:t>
            </a:r>
          </a:p>
        </p:txBody>
      </p:sp>
      <p:sp>
        <p:nvSpPr>
          <p:cNvPr id="280" name="core_label"/>
          <p:cNvSpPr txBox="1"/>
          <p:nvPr/>
        </p:nvSpPr>
        <p:spPr>
          <a:xfrm>
            <a:off x="150000" y="2650000"/>
            <a:ext cx="380000" cy="1500000"/>
          </a:xfrm>
          <a:prstGeom prst="rect">
            <a:avLst/>
          </a:prstGeom>
          <a:noFill/>
        </p:spPr>
        <p:txBody>
          <a:bodyPr vert="vert270" wrap="square" rtlCol="0" anchor="ctr"/>
          <a:lstStyle/>
          <a:p>
            <a:pPr algn="ctr"/>
            <a:r>
              <a:rPr lang="ru-RU" sz="1000" b="1" kern="0">
                <a:solidFill>
                  <a:schemeClr val="accent1"/>
                </a:solidFill>
                <a:latin typeface="Manrope ExtraBold" pitchFamily="2" charset="0"/>
                <a:cs typeface="Manrope ExtraBold"/>
              </a:rPr>
              <a:t>CORE MRP</a:t>
            </a:r>
          </a:p>
        </p:txBody>
      </p:sp>
      <p:sp>
        <p:nvSpPr>
          <p:cNvPr id="281" name="leg_f"/>
          <p:cNvSpPr/>
          <p:nvPr/>
        </p:nvSpPr>
        <p:spPr>
          <a:xfrm>
            <a:off x="8050000" y="6560000"/>
            <a:ext cx="190000" cy="1900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82" name="leg_ft"/>
          <p:cNvSpPr txBox="1"/>
          <p:nvPr/>
        </p:nvSpPr>
        <p:spPr>
          <a:xfrm>
            <a:off x="8280000" y="6490000"/>
            <a:ext cx="1500000" cy="33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l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Частично разработано</a:t>
            </a:r>
          </a:p>
        </p:txBody>
      </p:sp>
      <p:sp>
        <p:nvSpPr>
          <p:cNvPr id="283" name="leg_o"/>
          <p:cNvSpPr/>
          <p:nvPr/>
        </p:nvSpPr>
        <p:spPr>
          <a:xfrm>
            <a:off x="10250000" y="6560000"/>
            <a:ext cx="190000" cy="190000"/>
          </a:xfrm>
          <a:prstGeom prst="roundRect">
            <a:avLst>
              <a:gd name="adj" fmla="val 20000"/>
            </a:avLst>
          </a:prstGeom>
          <a:solidFill>
            <a:schemeClr val="lt1"/>
          </a:solidFill>
          <a:ln w="12700">
            <a:solidFill>
              <a:schemeClr val="accent1"/>
            </a:solidFill>
          </a:ln>
        </p:spPr>
        <p:txBody>
          <a:bodyPr rtlCol="0"/>
          <a:lstStyle/>
          <a:p>
            <a:endParaRPr/>
          </a:p>
        </p:txBody>
      </p:sp>
      <p:sp>
        <p:nvSpPr>
          <p:cNvPr id="284" name="leg_ot"/>
          <p:cNvSpPr txBox="1"/>
          <p:nvPr/>
        </p:nvSpPr>
        <p:spPr>
          <a:xfrm>
            <a:off x="10480000" y="6490000"/>
            <a:ext cx="1200000" cy="330000"/>
          </a:xfrm>
          <a:prstGeom prst="rect">
            <a:avLst/>
          </a:prstGeom>
          <a:noFill/>
        </p:spPr>
        <p:txBody>
          <a:bodyPr wrap="square" lIns="55000" tIns="20000" rIns="55000" bIns="20000" rtlCol="0" anchor="ctr">
            <a:noAutofit/>
          </a:bodyPr>
          <a:lstStyle/>
          <a:p>
            <a:pPr algn="l"/>
            <a:r>
              <a:rPr lang="ru-RU" sz="800" kern="0">
                <a:solidFill>
                  <a:schemeClr val="accent1"/>
                </a:solidFill>
                <a:latin typeface="Manrope" pitchFamily="2" charset="0"/>
                <a:cs typeface="Manrope"/>
              </a:rPr>
              <a:t>Разработка</a:t>
            </a:r>
          </a:p>
        </p:txBody>
      </p:sp>
    </p:spTree>
    <p:extLst>
      <p:ext uri="{BB962C8B-B14F-4D97-AF65-F5344CB8AC3E}">
        <p14:creationId xmlns:p14="http://schemas.microsoft.com/office/powerpoint/2010/main" val="474599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F2721-EAE1-452A-28BC-2A7BBC364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CF2F24-EB8E-379F-7313-1BAD4204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Сценарий демо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0CA27C-9778-96FB-6C25-FCF00E2F3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750629"/>
              </p:ext>
            </p:extLst>
          </p:nvPr>
        </p:nvGraphicFramePr>
        <p:xfrm>
          <a:off x="275437" y="921208"/>
          <a:ext cx="11577257" cy="4358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577257">
                  <a:extLst>
                    <a:ext uri="{9D8B030D-6E8A-4147-A177-3AD203B41FA5}">
                      <a16:colId xmlns:a16="http://schemas.microsoft.com/office/drawing/2014/main" val="2515900147"/>
                    </a:ext>
                  </a:extLst>
                </a:gridCol>
              </a:tblGrid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1A1A1A"/>
                          </a:solidFill>
                          <a:effectLst/>
                        </a:rPr>
                        <a:t>Сеть поставок: несколько площадок и несколько источников на один материал — рамка показа.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08325269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1A1A1A"/>
                          </a:solidFill>
                          <a:effectLst/>
                        </a:rPr>
                        <a:t>Мастер-данные закупки: спецификация, книга источников, договоры, соглашения, комплекты — по 15 секунд каждый.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78096618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1A1A1A"/>
                          </a:solidFill>
                          <a:effectLst/>
                        </a:rPr>
                        <a:t>Транзакционные данные: партии, плановые заказы, заказы на поставку и перемещение.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73961895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1A1A1A"/>
                          </a:solidFill>
                          <a:effectLst/>
                          <a:latin typeface="Calibri" panose="020F0502020204030204" pitchFamily="34" charset="0"/>
                        </a:rPr>
                        <a:t>Книга планирования, ракурс «Анализ плана закупок»: снимаем четыре показателя — снимок «до».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436761906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1A1A1A"/>
                          </a:solidFill>
                          <a:effectLst/>
                        </a:rPr>
                        <a:t>Дашборд закупки: деньги, источники, квоты. Встроен в In.Plan, отдельной аналитикой не выглядит.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26054402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1A1A1A"/>
                          </a:solidFill>
                          <a:effectLst/>
                        </a:rPr>
                        <a:t>Анализ элементов планирования: та же пара построчно, с типом закупочного документа и датами.</a:t>
                      </a:r>
                      <a:endParaRPr lang="ru-RU" sz="1600" b="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4008963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solidFill>
                            <a:srgbClr val="1A1A1A"/>
                          </a:solidFill>
                          <a:effectLst/>
                        </a:rPr>
                        <a:t>Заявки на закупку и на перемещение: что расчёт предложил и на какие даты.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202821421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FF0000"/>
                          </a:solidFill>
                          <a:effectLst/>
                        </a:rPr>
                        <a:t>Версия «добавлен договор»: доля спота снизилась. Переключаем прогон, в кадре ничего не правим.</a:t>
                      </a:r>
                      <a:endParaRPr lang="ru-RU" sz="1600" b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921140808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b="0" dirty="0">
                          <a:solidFill>
                            <a:srgbClr val="FF0000"/>
                          </a:solidFill>
                          <a:effectLst/>
                        </a:rPr>
                        <a:t>Стоимость до и после — в той же книге: договорная строка против спотовой.</a:t>
                      </a:r>
                      <a:endParaRPr lang="ru-RU" sz="1600" b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91362029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Версия «план вырос вдвое»: договорного покрытия не хватает, дефицит с датой. Его показывает панель предупреждений.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78556187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>
                          <a:solidFill>
                            <a:srgbClr val="FF0000"/>
                          </a:solidFill>
                          <a:effectLst/>
                        </a:rPr>
                        <a:t>Комплекты: заявка по одной позиции тянет весь набор одной датой. Побочный излишек называем сами.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30390687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Спот: источники ранжируются приоритетом, окном дат, квотой и лотом. Экономика — следствием.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747696459"/>
                  </a:ext>
                </a:extLst>
              </a:tr>
              <a:tr h="286405">
                <a:tc>
                  <a:txBody>
                    <a:bodyPr/>
                    <a:lstStyle/>
                    <a:p>
                      <a:pPr rtl="0" fontAlgn="b"/>
                      <a:r>
                        <a:rPr lang="ru-RU" sz="1600" dirty="0">
                          <a:solidFill>
                            <a:srgbClr val="FF0000"/>
                          </a:solidFill>
                          <a:effectLst/>
                        </a:rPr>
                        <a:t>Честный красный: часть дефицита закрыть нельзя — срок поставки длиннее, чем осталось до выпуска.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9528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43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Поверхности показа и правила демо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5A5A"/>
                </a:solidFill>
                <a:latin typeface="Manrope"/>
              </a:rPr>
              <a:t>Предложение к сценарию: на чём показываем и чего в этой конфигурации не обещаем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8386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A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nrope Extra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Manrope ExtraBold"/>
              </a:rPr>
              <a:t>Что показываем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90088"/>
            <a:ext cx="2971800" cy="192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Книга планирования — агрегаты: потребность, запас, закупка по контракту, по соглашению и спотовая, стоимость.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Анализ элементов планирования — построчно: конкретная поставка, дата, тип документа.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Панель предупреждений — где болит. Встроенный дашборд — деньги и сравнение прогонов.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109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D00FF"/>
                </a:solidFill>
                <a:latin typeface="Manrope"/>
              </a:rPr>
              <a:t>Четыре поверхности, все только для чтения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508760"/>
            <a:ext cx="348386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08576" y="1764792"/>
            <a:ext cx="457200" cy="457200"/>
          </a:xfrm>
          <a:prstGeom prst="ellipse">
            <a:avLst/>
          </a:prstGeom>
          <a:solidFill>
            <a:srgbClr val="A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nrope Extra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Manrope ExtraBold"/>
              </a:rPr>
              <a:t>Как устроен показ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990088"/>
            <a:ext cx="2971800" cy="192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Каждый блок: строка объясняет причину, агрегат подтверждает числом.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Изменения не вносим в кадре — переключаем заранее посчитанные версии расчёта.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Один переход на блок: два перехода — и зритель теряет, где находится.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0109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D00FF"/>
                </a:solidFill>
                <a:latin typeface="Manrope"/>
              </a:rPr>
              <a:t>Версии готовятся до эфира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08760"/>
            <a:ext cx="348386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1764792"/>
            <a:ext cx="457200" cy="457200"/>
          </a:xfrm>
          <a:prstGeom prst="ellipse">
            <a:avLst/>
          </a:prstGeom>
          <a:solidFill>
            <a:srgbClr val="A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nrope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Manrope ExtraBold"/>
              </a:rPr>
              <a:t>Чего не обещаем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90088"/>
            <a:ext cx="2971800" cy="192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Выбора поставщика по цене: расчёт ранжирует источники правилами снабжения.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Разбора предупреждений по критичности, пока на стенде одна степень.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Редактирования на экране — в этой конфигурации его нет.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109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D00FF"/>
                </a:solidFill>
                <a:latin typeface="Manrope"/>
              </a:rPr>
              <a:t>Каждое обещание проверят вопросом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62636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AD00FF"/>
                </a:solidFill>
                <a:latin typeface="Manrope ExtraBold"/>
              </a:rPr>
              <a:t>Предложение:  </a:t>
            </a:r>
            <a:r>
              <a:rPr sz="1150" b="0">
                <a:solidFill>
                  <a:srgbClr val="1A1A1A"/>
                </a:solidFill>
                <a:latin typeface="Manrope"/>
              </a:rPr>
              <a:t>поставить этот слайд перед сценарием демо — он снимает половину вопросов заранее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888736"/>
            <a:ext cx="37947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FD2956"/>
                </a:solidFill>
                <a:latin typeface="Manrope ExtraBold"/>
              </a:rPr>
              <a:t>Проверить:  </a:t>
            </a:r>
            <a:r>
              <a:rPr sz="1150" b="0">
                <a:solidFill>
                  <a:srgbClr val="1A1A1A"/>
                </a:solidFill>
                <a:latin typeface="Manrope"/>
              </a:rPr>
              <a:t>состав экранов на стенде за день до эфира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Эффект решений в числах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5A5A"/>
                </a:solidFill>
                <a:latin typeface="Manrope"/>
              </a:rPr>
              <a:t>Предложение: закрыть финал измеренной цифрой, а не формулировкой «эффект до 20 %»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8386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A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nrope Extra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Manrope ExtraBold"/>
              </a:rPr>
              <a:t>Что посчитано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90088"/>
            <a:ext cx="2971800" cy="192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Прогон 16.08, ключевое сырьё, пять серий, одна площадка.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Потребность 173 329, запас 20 000, закупка 143 920.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Из них по договору 29 920, спотом 114 000.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109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D00FF"/>
                </a:solidFill>
                <a:latin typeface="Manrope"/>
              </a:rPr>
              <a:t>Числа с прогона, не из головы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508760"/>
            <a:ext cx="348386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608576" y="1764792"/>
            <a:ext cx="457200" cy="457200"/>
          </a:xfrm>
          <a:prstGeom prst="ellipse">
            <a:avLst/>
          </a:prstGeom>
          <a:solidFill>
            <a:srgbClr val="A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nrope Extra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Manrope ExtraBold"/>
              </a:rPr>
              <a:t>Что это стоило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990088"/>
            <a:ext cx="2971800" cy="192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При цене 80 по договору и 100 споту — 13,8 млн против 11,5 млн, если бы весь объём шёл по договору.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Разница 2,3 млн, или +19,8 % к стоимости плана закупки.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Это и есть цена скорости — измеренная, а не заявленная.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0109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D00FF"/>
                </a:solidFill>
                <a:latin typeface="Manrope"/>
              </a:rPr>
              <a:t>Главное число финала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08760"/>
            <a:ext cx="3483864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0" y="1764792"/>
            <a:ext cx="457200" cy="457200"/>
          </a:xfrm>
          <a:prstGeom prst="ellipse">
            <a:avLst/>
          </a:prstGeom>
          <a:solidFill>
            <a:srgbClr val="A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nrope Extra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Manrope ExtraBold"/>
              </a:rPr>
              <a:t>Что осталось непокрытым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90088"/>
            <a:ext cx="2971800" cy="1920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Нетто-потребность 12 207 — сколько нужно докупить, чтобы остаток не проваливался ни в один день.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Дефицит закрыт не полностью, и мы это показываем.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5A5A5A"/>
                </a:solidFill>
                <a:latin typeface="Manrope"/>
              </a:rPr>
              <a:t>Считается по периодам: излишек поздних недель не гасит нехватку ранних.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10912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AD00FF"/>
                </a:solidFill>
                <a:latin typeface="Manrope"/>
              </a:rPr>
              <a:t>Честный красный — сильнее зелёного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62636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AD00FF"/>
                </a:solidFill>
                <a:latin typeface="Manrope ExtraBold"/>
              </a:rPr>
              <a:t>Предложение:  </a:t>
            </a:r>
            <a:r>
              <a:rPr sz="1150" b="0">
                <a:solidFill>
                  <a:srgbClr val="1A1A1A"/>
                </a:solidFill>
                <a:latin typeface="Manrope"/>
              </a:rPr>
              <a:t>числа пересчитываются скриптом после каждого прогона — не вписывать вручную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888736"/>
            <a:ext cx="379476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FD2956"/>
                </a:solidFill>
                <a:latin typeface="Manrope ExtraBold"/>
              </a:rPr>
              <a:t>Проверить:  </a:t>
            </a:r>
            <a:r>
              <a:rPr sz="1150" b="0">
                <a:solidFill>
                  <a:srgbClr val="1A1A1A"/>
                </a:solidFill>
                <a:latin typeface="Manrope"/>
              </a:rPr>
              <a:t>после правки договорных лимитов доля спота изменится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D285FF-2E83-0434-062E-8F1909784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3FB095-5F80-9087-738C-B6260F19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работы с предупреждениями после прогона планирования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41F46-D35D-3307-5EAB-E48FEF5D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7" y="1078302"/>
            <a:ext cx="2204770" cy="4001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8BC51-836E-34A0-D82D-6A574B2E7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207" y="1078302"/>
            <a:ext cx="7318075" cy="400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99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C3408-0725-C533-7D92-4A0449F03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1902A1-ADFC-A2DA-A442-05B4C1A6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Книга планирования для целей </a:t>
            </a:r>
            <a:r>
              <a:rPr lang="en-US" dirty="0"/>
              <a:t>MRP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5EB56-E2F5-5606-0724-5D4485BB3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19"/>
          <a:stretch/>
        </p:blipFill>
        <p:spPr>
          <a:xfrm>
            <a:off x="275437" y="930073"/>
            <a:ext cx="6099484" cy="2583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C914C-4053-B8BB-B75F-FCB4FC3C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07"/>
          <a:stretch/>
        </p:blipFill>
        <p:spPr>
          <a:xfrm>
            <a:off x="287349" y="2322595"/>
            <a:ext cx="6099484" cy="2598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66040F-23DA-1517-8874-6BBEFF40E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654"/>
          <a:stretch/>
        </p:blipFill>
        <p:spPr>
          <a:xfrm>
            <a:off x="6374921" y="2356846"/>
            <a:ext cx="5287992" cy="13939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A50DC6-965C-A8CA-A616-3E6CB991F783}"/>
              </a:ext>
            </a:extLst>
          </p:cNvPr>
          <p:cNvSpPr/>
          <p:nvPr/>
        </p:nvSpPr>
        <p:spPr>
          <a:xfrm>
            <a:off x="343676" y="1490334"/>
            <a:ext cx="4357978" cy="225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59C12E-559E-607F-0B97-95DAD27ABC47}"/>
              </a:ext>
            </a:extLst>
          </p:cNvPr>
          <p:cNvSpPr/>
          <p:nvPr/>
        </p:nvSpPr>
        <p:spPr>
          <a:xfrm>
            <a:off x="343676" y="1934026"/>
            <a:ext cx="4357978" cy="143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0DC52-1861-B5C3-4BAF-C7AF1AEC5BFC}"/>
              </a:ext>
            </a:extLst>
          </p:cNvPr>
          <p:cNvSpPr/>
          <p:nvPr/>
        </p:nvSpPr>
        <p:spPr>
          <a:xfrm>
            <a:off x="343676" y="3673387"/>
            <a:ext cx="4357978" cy="10329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426761-03C1-56D8-ACB3-10D68C702EF6}"/>
              </a:ext>
            </a:extLst>
          </p:cNvPr>
          <p:cNvSpPr/>
          <p:nvPr/>
        </p:nvSpPr>
        <p:spPr>
          <a:xfrm>
            <a:off x="6374921" y="3538690"/>
            <a:ext cx="3813133" cy="299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C075D9-78D9-6567-06FB-E2A29691FEC4}"/>
              </a:ext>
            </a:extLst>
          </p:cNvPr>
          <p:cNvSpPr txBox="1"/>
          <p:nvPr/>
        </p:nvSpPr>
        <p:spPr>
          <a:xfrm>
            <a:off x="6443160" y="954520"/>
            <a:ext cx="52879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На локации фабрики плановые заказы на производство из </a:t>
            </a:r>
            <a:r>
              <a:rPr lang="en-US" sz="1100" b="1" dirty="0"/>
              <a:t>SNP/PS </a:t>
            </a:r>
            <a:r>
              <a:rPr lang="ru-RU" sz="1100" b="1" dirty="0"/>
              <a:t>служат источником потребности путем разузлования </a:t>
            </a:r>
            <a:r>
              <a:rPr lang="en-US" sz="1100" b="1" dirty="0"/>
              <a:t>BoM:</a:t>
            </a:r>
            <a:endParaRPr lang="ru-RU" sz="1100" b="1" dirty="0"/>
          </a:p>
          <a:p>
            <a:r>
              <a:rPr lang="ru-RU" sz="1100" dirty="0"/>
              <a:t>Вторичная потребность (фикс.) – результат разузлования фиксированных плановых заказов</a:t>
            </a:r>
          </a:p>
          <a:p>
            <a:r>
              <a:rPr lang="ru-RU" sz="1100" dirty="0"/>
              <a:t>Поступления из перемещений (план) – агрегация заявок на перемещение со склада на фабрику для покрытия вторичной потребности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B2FB2-E4DB-A8F6-F70F-005A6366BD88}"/>
              </a:ext>
            </a:extLst>
          </p:cNvPr>
          <p:cNvSpPr txBox="1"/>
          <p:nvPr/>
        </p:nvSpPr>
        <p:spPr>
          <a:xfrm>
            <a:off x="263525" y="4932635"/>
            <a:ext cx="11162121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На локации склада поддерживается страховой запас, учитывается доступный запас, запас на контроле качества и в транзите</a:t>
            </a:r>
          </a:p>
          <a:p>
            <a:r>
              <a:rPr lang="ru-RU" sz="1100" dirty="0"/>
              <a:t>Доступный запас – агрегация свободно используемого запаса партий</a:t>
            </a:r>
          </a:p>
          <a:p>
            <a:r>
              <a:rPr lang="ru-RU" sz="1100" dirty="0"/>
              <a:t>Запас на контроле качества – агрегация запаса на контроле качества из партий, может иметь дату в будущем</a:t>
            </a:r>
          </a:p>
          <a:p>
            <a:r>
              <a:rPr lang="ru-RU" sz="1100" dirty="0"/>
              <a:t>Запас в пути – агрегация заказов на перемещение, находящих в транзите</a:t>
            </a:r>
          </a:p>
          <a:p>
            <a:r>
              <a:rPr lang="ru-RU" sz="1100" dirty="0"/>
              <a:t>Страховой запас, дни – страховой запас в днях покрытия будущей суммарной потребности</a:t>
            </a:r>
          </a:p>
          <a:p>
            <a:r>
              <a:rPr lang="ru-RU" sz="1100" dirty="0"/>
              <a:t>Страховой запас, дни (</a:t>
            </a:r>
            <a:r>
              <a:rPr lang="ru-RU" sz="1100" dirty="0" err="1"/>
              <a:t>корр</a:t>
            </a:r>
            <a:r>
              <a:rPr lang="ru-RU" sz="1100" dirty="0"/>
              <a:t>) – корректировка к страховому запасу в днях, работает как дельта</a:t>
            </a:r>
          </a:p>
          <a:p>
            <a:r>
              <a:rPr lang="ru-RU" sz="1100" dirty="0"/>
              <a:t>Страховой запас, дни (итог) – страховой запас в днях покрытия + корректировка</a:t>
            </a:r>
          </a:p>
          <a:p>
            <a:r>
              <a:rPr lang="ru-RU" sz="1100" dirty="0"/>
              <a:t>Страховой запас – страховой запас, пересчитанный от страхового запаса, дни (итог) и суммарной потребности</a:t>
            </a:r>
          </a:p>
          <a:p>
            <a:r>
              <a:rPr lang="ru-RU" sz="1100" dirty="0"/>
              <a:t>Плановый остаток – начальный </a:t>
            </a:r>
            <a:r>
              <a:rPr lang="ru-RU" sz="1100" dirty="0" err="1"/>
              <a:t>бакет</a:t>
            </a:r>
            <a:r>
              <a:rPr lang="ru-RU" sz="1100" dirty="0"/>
              <a:t>: доступный запас + запас на контроле качества + запас в пути + суммарное поступление – суммарная потребность, расчет на конец </a:t>
            </a:r>
            <a:r>
              <a:rPr lang="ru-RU" sz="1100" dirty="0" err="1"/>
              <a:t>бакета</a:t>
            </a:r>
            <a:r>
              <a:rPr lang="ru-RU" sz="1100" dirty="0"/>
              <a:t>. Следующие </a:t>
            </a:r>
            <a:r>
              <a:rPr lang="ru-RU" sz="1100" dirty="0" err="1"/>
              <a:t>бакеты</a:t>
            </a:r>
            <a:r>
              <a:rPr lang="ru-RU" sz="1100" dirty="0"/>
              <a:t>: плановый остаток предыдущего </a:t>
            </a:r>
            <a:r>
              <a:rPr lang="ru-RU" sz="1100" dirty="0" err="1"/>
              <a:t>бакета</a:t>
            </a:r>
            <a:r>
              <a:rPr lang="ru-RU" sz="1100" dirty="0"/>
              <a:t> + запас на контроле качества + запас в пути + суммарное поступление – суммарная потребность</a:t>
            </a:r>
          </a:p>
          <a:p>
            <a:r>
              <a:rPr lang="ru-RU" sz="1100" dirty="0"/>
              <a:t>Покрытие запасом / Страховой запас – Соотношение планового остатка и страхового запаса для индикации покрытия страхового запаса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77CE83-DE3D-5E5A-542C-465D7D995D97}"/>
              </a:ext>
            </a:extLst>
          </p:cNvPr>
          <p:cNvSpPr txBox="1"/>
          <p:nvPr/>
        </p:nvSpPr>
        <p:spPr>
          <a:xfrm>
            <a:off x="6366047" y="3849907"/>
            <a:ext cx="52879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/>
              <a:t>В результате на локации поставщика формируется:</a:t>
            </a:r>
          </a:p>
          <a:p>
            <a:r>
              <a:rPr lang="ru-RU" sz="1100" dirty="0"/>
              <a:t>Поступление из закупки (план) – агрегация заявок на закупку</a:t>
            </a:r>
          </a:p>
          <a:p>
            <a:r>
              <a:rPr lang="ru-RU" sz="1100" dirty="0"/>
              <a:t>Поступление из закупки (фикс) – агрегация заказов на закупку и фиксированных заявок на закупку</a:t>
            </a:r>
          </a:p>
          <a:p>
            <a:r>
              <a:rPr lang="ru-RU" sz="1100" dirty="0"/>
              <a:t>Поступление из закупки (</a:t>
            </a:r>
            <a:r>
              <a:rPr lang="ru-RU" sz="1100" dirty="0" err="1"/>
              <a:t>корр</a:t>
            </a:r>
            <a:r>
              <a:rPr lang="ru-RU" sz="1100" dirty="0"/>
              <a:t>) – ручная корректировка закупки</a:t>
            </a:r>
          </a:p>
        </p:txBody>
      </p:sp>
    </p:spTree>
    <p:extLst>
      <p:ext uri="{BB962C8B-B14F-4D97-AF65-F5344CB8AC3E}">
        <p14:creationId xmlns:p14="http://schemas.microsoft.com/office/powerpoint/2010/main" val="926700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Модель данных</a:t>
            </a:r>
            <a:endParaRPr lang="ru-RU" dirty="0"/>
          </a:p>
        </p:txBody>
      </p:sp>
      <p:sp>
        <p:nvSpPr>
          <p:cNvPr id="401" name="c_stub"/>
          <p:cNvSpPr/>
          <p:nvPr/>
        </p:nvSpPr>
        <p:spPr>
          <a:xfrm>
            <a:off x="6086475" y="1460000"/>
            <a:ext cx="19050" cy="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02" name="c_bus"/>
          <p:cNvSpPr/>
          <p:nvPr/>
        </p:nvSpPr>
        <p:spPr>
          <a:xfrm>
            <a:off x="3103000" y="1530475"/>
            <a:ext cx="5966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03" name="c_ldrop"/>
          <p:cNvSpPr/>
          <p:nvPr/>
        </p:nvSpPr>
        <p:spPr>
          <a:xfrm>
            <a:off x="3093475" y="1540000"/>
            <a:ext cx="19050" cy="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04" name="c_rdrop"/>
          <p:cNvSpPr/>
          <p:nvPr/>
        </p:nvSpPr>
        <p:spPr>
          <a:xfrm>
            <a:off x="9059475" y="1540000"/>
            <a:ext cx="19050" cy="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05" name="c_lgrid"/>
          <p:cNvSpPr/>
          <p:nvPr/>
        </p:nvSpPr>
        <p:spPr>
          <a:xfrm>
            <a:off x="3093475" y="2050000"/>
            <a:ext cx="19050" cy="2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06" name="c_rgrid"/>
          <p:cNvSpPr/>
          <p:nvPr/>
        </p:nvSpPr>
        <p:spPr>
          <a:xfrm>
            <a:off x="9059475" y="2050000"/>
            <a:ext cx="19050" cy="6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07" name="hub"/>
          <p:cNvSpPr/>
          <p:nvPr/>
        </p:nvSpPr>
        <p:spPr>
          <a:xfrm>
            <a:off x="4396000" y="900000"/>
            <a:ext cx="3400000" cy="5600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72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4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Универсальная модель данных</a:t>
            </a:r>
          </a:p>
        </p:txBody>
      </p:sp>
      <p:sp>
        <p:nvSpPr>
          <p:cNvPr id="408" name="parent_base"/>
          <p:cNvSpPr/>
          <p:nvPr/>
        </p:nvSpPr>
        <p:spPr>
          <a:xfrm>
            <a:off x="1703000" y="1620000"/>
            <a:ext cx="2800000" cy="4300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72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Базовые объекты</a:t>
            </a:r>
          </a:p>
        </p:txBody>
      </p:sp>
      <p:sp>
        <p:nvSpPr>
          <p:cNvPr id="409" name="parent_trans"/>
          <p:cNvSpPr/>
          <p:nvPr/>
        </p:nvSpPr>
        <p:spPr>
          <a:xfrm>
            <a:off x="7469000" y="1620000"/>
            <a:ext cx="3200000" cy="4300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b="1">
                <a:solidFill>
                  <a:schemeClr val="lt1"/>
                </a:solidFill>
                <a:latin typeface="Manrope ExtraBold" charset="0"/>
                <a:cs typeface="Manrope ExtraBold" charset="0"/>
              </a:rPr>
              <a:t>Транзакционные данные</a:t>
            </a:r>
          </a:p>
        </p:txBody>
      </p:sp>
      <p:sp>
        <p:nvSpPr>
          <p:cNvPr id="410" name="be0"/>
          <p:cNvSpPr>
            <a:spLocks/>
          </p:cNvSpPr>
          <p:nvPr/>
        </p:nvSpPr>
        <p:spPr>
          <a:xfrm>
            <a:off x="360000" y="2260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Продукт</a:t>
            </a:r>
          </a:p>
        </p:txBody>
      </p:sp>
      <p:sp>
        <p:nvSpPr>
          <p:cNvPr id="411" name="be1"/>
          <p:cNvSpPr/>
          <p:nvPr/>
        </p:nvSpPr>
        <p:spPr>
          <a:xfrm>
            <a:off x="3193000" y="2260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Локация</a:t>
            </a:r>
          </a:p>
        </p:txBody>
      </p:sp>
      <p:sp>
        <p:nvSpPr>
          <p:cNvPr id="412" name="be2"/>
          <p:cNvSpPr/>
          <p:nvPr/>
        </p:nvSpPr>
        <p:spPr>
          <a:xfrm>
            <a:off x="360000" y="3172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Источник поставки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accent1"/>
                </a:solidFill>
                <a:latin typeface="Manrope" charset="0"/>
                <a:cs typeface="Manrope" charset="0"/>
              </a:rPr>
              <a:t>закупка / производство</a:t>
            </a:r>
          </a:p>
        </p:txBody>
      </p:sp>
      <p:sp>
        <p:nvSpPr>
          <p:cNvPr id="413" name="be3"/>
          <p:cNvSpPr>
            <a:spLocks/>
          </p:cNvSpPr>
          <p:nvPr/>
        </p:nvSpPr>
        <p:spPr>
          <a:xfrm>
            <a:off x="3193000" y="3172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Спецификация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accent1"/>
                </a:solidFill>
                <a:latin typeface="Manrope" charset="0"/>
                <a:cs typeface="Manrope" charset="0"/>
              </a:rPr>
              <a:t>BOM</a:t>
            </a:r>
          </a:p>
        </p:txBody>
      </p:sp>
      <p:sp>
        <p:nvSpPr>
          <p:cNvPr id="414" name="be4"/>
          <p:cNvSpPr/>
          <p:nvPr/>
        </p:nvSpPr>
        <p:spPr>
          <a:xfrm>
            <a:off x="360000" y="4084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FF1E2"/>
          </a:solidFill>
          <a:ln w="12700">
            <a:solidFill>
              <a:schemeClr val="accent3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Запасы и партии</a:t>
            </a:r>
          </a:p>
        </p:txBody>
      </p:sp>
      <p:sp>
        <p:nvSpPr>
          <p:cNvPr id="415" name="be5"/>
          <p:cNvSpPr/>
          <p:nvPr/>
        </p:nvSpPr>
        <p:spPr>
          <a:xfrm>
            <a:off x="3193000" y="4084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BE7FA"/>
          </a:solidFill>
          <a:ln w="12700">
            <a:solidFill>
              <a:schemeClr val="accent2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Закупка</a:t>
            </a:r>
          </a:p>
        </p:txBody>
      </p:sp>
      <p:sp>
        <p:nvSpPr>
          <p:cNvPr id="416" name="be6"/>
          <p:cNvSpPr>
            <a:spLocks/>
          </p:cNvSpPr>
          <p:nvPr/>
        </p:nvSpPr>
        <p:spPr>
          <a:xfrm>
            <a:off x="360000" y="4996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Параметры закупки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accent1"/>
                </a:solidFill>
                <a:latin typeface="Manrope" charset="0"/>
                <a:cs typeface="Manrope" charset="0"/>
              </a:rPr>
              <a:t>Lead time, MOQ, кратность, периодичность</a:t>
            </a:r>
          </a:p>
        </p:txBody>
      </p:sp>
      <p:sp>
        <p:nvSpPr>
          <p:cNvPr id="417" name="be7"/>
          <p:cNvSpPr/>
          <p:nvPr/>
        </p:nvSpPr>
        <p:spPr>
          <a:xfrm>
            <a:off x="3193000" y="4996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Календари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accent1"/>
                </a:solidFill>
                <a:latin typeface="Manrope" charset="0"/>
                <a:cs typeface="Manrope" charset="0"/>
              </a:rPr>
              <a:t>поставщиков, локаций, складов</a:t>
            </a:r>
          </a:p>
        </p:txBody>
      </p:sp>
      <p:sp>
        <p:nvSpPr>
          <p:cNvPr id="418" name="be8"/>
          <p:cNvSpPr/>
          <p:nvPr/>
        </p:nvSpPr>
        <p:spPr>
          <a:xfrm>
            <a:off x="360000" y="5908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Аналоги и взаимозаменяемость</a:t>
            </a:r>
          </a:p>
        </p:txBody>
      </p:sp>
      <p:sp>
        <p:nvSpPr>
          <p:cNvPr id="419" name="be9"/>
          <p:cNvSpPr>
            <a:spLocks/>
          </p:cNvSpPr>
          <p:nvPr/>
        </p:nvSpPr>
        <p:spPr>
          <a:xfrm>
            <a:off x="3193000" y="5908000"/>
            <a:ext cx="2653000" cy="772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 w="12700">
            <a:solidFill>
              <a:schemeClr val="accent1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Квоты поставщиков</a:t>
            </a:r>
          </a:p>
        </p:txBody>
      </p:sp>
      <p:sp>
        <p:nvSpPr>
          <p:cNvPr id="420" name="te0"/>
          <p:cNvSpPr/>
          <p:nvPr/>
        </p:nvSpPr>
        <p:spPr>
          <a:xfrm>
            <a:off x="6346000" y="2686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FF1E2"/>
          </a:solidFill>
          <a:ln w="12700">
            <a:solidFill>
              <a:schemeClr val="accent3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Текущие запасы</a:t>
            </a:r>
          </a:p>
        </p:txBody>
      </p:sp>
      <p:sp>
        <p:nvSpPr>
          <p:cNvPr id="421" name="te1"/>
          <p:cNvSpPr/>
          <p:nvPr/>
        </p:nvSpPr>
        <p:spPr>
          <a:xfrm>
            <a:off x="9159000" y="2686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FF1E2"/>
          </a:solidFill>
          <a:ln w="12700">
            <a:solidFill>
              <a:schemeClr val="accent3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Страховые запасы</a:t>
            </a:r>
          </a:p>
        </p:txBody>
      </p:sp>
      <p:sp>
        <p:nvSpPr>
          <p:cNvPr id="422" name="te2"/>
          <p:cNvSpPr>
            <a:spLocks/>
          </p:cNvSpPr>
          <p:nvPr/>
        </p:nvSpPr>
        <p:spPr>
          <a:xfrm>
            <a:off x="6346000" y="3598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BE7FA"/>
          </a:solidFill>
          <a:ln w="12700">
            <a:solidFill>
              <a:schemeClr val="accent2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Заказы на закупку</a:t>
            </a:r>
          </a:p>
        </p:txBody>
      </p:sp>
      <p:sp>
        <p:nvSpPr>
          <p:cNvPr id="423" name="te3"/>
          <p:cNvSpPr/>
          <p:nvPr/>
        </p:nvSpPr>
        <p:spPr>
          <a:xfrm>
            <a:off x="9159000" y="3598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BE7FA"/>
          </a:solidFill>
          <a:ln w="12700">
            <a:solidFill>
              <a:schemeClr val="accent2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Заявки на закупку</a:t>
            </a:r>
          </a:p>
        </p:txBody>
      </p:sp>
      <p:sp>
        <p:nvSpPr>
          <p:cNvPr id="424" name="te4"/>
          <p:cNvSpPr/>
          <p:nvPr/>
        </p:nvSpPr>
        <p:spPr>
          <a:xfrm>
            <a:off x="6346000" y="4510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BE7FA"/>
          </a:solidFill>
          <a:ln w="12700">
            <a:solidFill>
              <a:schemeClr val="accent2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Перемещения</a:t>
            </a:r>
          </a:p>
        </p:txBody>
      </p:sp>
      <p:sp>
        <p:nvSpPr>
          <p:cNvPr id="425" name="te5"/>
          <p:cNvSpPr>
            <a:spLocks/>
          </p:cNvSpPr>
          <p:nvPr/>
        </p:nvSpPr>
        <p:spPr>
          <a:xfrm>
            <a:off x="9159000" y="4510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FF1E2"/>
          </a:solidFill>
          <a:ln w="12700">
            <a:solidFill>
              <a:schemeClr val="accent3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Партии и сроки годности</a:t>
            </a:r>
          </a:p>
        </p:txBody>
      </p:sp>
      <p:sp>
        <p:nvSpPr>
          <p:cNvPr id="426" name="te6"/>
          <p:cNvSpPr/>
          <p:nvPr/>
        </p:nvSpPr>
        <p:spPr>
          <a:xfrm>
            <a:off x="6346000" y="5422000"/>
            <a:ext cx="2633000" cy="772000"/>
          </a:xfrm>
          <a:prstGeom prst="roundRect">
            <a:avLst>
              <a:gd name="adj" fmla="val 6000"/>
            </a:avLst>
          </a:prstGeom>
          <a:solidFill>
            <a:srgbClr val="FEE6EC"/>
          </a:solidFill>
          <a:ln w="12700">
            <a:solidFill>
              <a:schemeClr val="accent4"/>
            </a:solidFill>
          </a:ln>
        </p:spPr>
        <p:txBody>
          <a:bodyPr wrap="square" lIns="90000" tIns="18000" rIns="36000" bIns="1800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50" b="1">
                <a:solidFill>
                  <a:schemeClr val="tx1"/>
                </a:solidFill>
                <a:latin typeface="Manrope" charset="0"/>
                <a:cs typeface="Manrope" charset="0"/>
              </a:rPr>
              <a:t>Данные по ограничениям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accent4"/>
                </a:solidFill>
                <a:latin typeface="Manrope" charset="0"/>
                <a:cs typeface="Manrope" charset="0"/>
              </a:rPr>
              <a:t>квоты, объёмы поставки, транспортные ограничения</a:t>
            </a:r>
          </a:p>
        </p:txBody>
      </p:sp>
      <p:sp>
        <p:nvSpPr>
          <p:cNvPr id="427" name="leg_accent1"/>
          <p:cNvSpPr/>
          <p:nvPr/>
        </p:nvSpPr>
        <p:spPr>
          <a:xfrm>
            <a:off x="6346000" y="6340000"/>
            <a:ext cx="210000" cy="2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28" name="leg_accent1_tx"/>
          <p:cNvSpPr txBox="1"/>
          <p:nvPr/>
        </p:nvSpPr>
        <p:spPr>
          <a:xfrm>
            <a:off x="6601000" y="6285000"/>
            <a:ext cx="1030000" cy="32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tx1"/>
                </a:solidFill>
                <a:latin typeface="Manrope" charset="0"/>
                <a:cs typeface="Manrope" charset="0"/>
              </a:rPr>
              <a:t>Справочные объекты</a:t>
            </a:r>
          </a:p>
        </p:txBody>
      </p:sp>
      <p:sp>
        <p:nvSpPr>
          <p:cNvPr id="429" name="leg_accent3"/>
          <p:cNvSpPr/>
          <p:nvPr/>
        </p:nvSpPr>
        <p:spPr>
          <a:xfrm>
            <a:off x="7781000" y="6340000"/>
            <a:ext cx="210000" cy="21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30" name="leg_accent3_tx"/>
          <p:cNvSpPr txBox="1">
            <a:spLocks/>
          </p:cNvSpPr>
          <p:nvPr/>
        </p:nvSpPr>
        <p:spPr>
          <a:xfrm>
            <a:off x="8036000" y="6285000"/>
            <a:ext cx="560000" cy="32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tx1"/>
                </a:solidFill>
                <a:latin typeface="Manrope" charset="0"/>
                <a:cs typeface="Manrope" charset="0"/>
              </a:rPr>
              <a:t>Запасы</a:t>
            </a:r>
          </a:p>
        </p:txBody>
      </p:sp>
      <p:sp>
        <p:nvSpPr>
          <p:cNvPr id="431" name="leg_accent2"/>
          <p:cNvSpPr>
            <a:spLocks/>
          </p:cNvSpPr>
          <p:nvPr/>
        </p:nvSpPr>
        <p:spPr>
          <a:xfrm>
            <a:off x="8746000" y="6340000"/>
            <a:ext cx="210000" cy="21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32" name="leg_accent2_tx"/>
          <p:cNvSpPr txBox="1">
            <a:spLocks/>
          </p:cNvSpPr>
          <p:nvPr/>
        </p:nvSpPr>
        <p:spPr>
          <a:xfrm>
            <a:off x="9001000" y="6285000"/>
            <a:ext cx="1080000" cy="32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tx1"/>
                </a:solidFill>
                <a:latin typeface="Manrope" charset="0"/>
                <a:cs typeface="Manrope" charset="0"/>
              </a:rPr>
              <a:t>Документы и потоки</a:t>
            </a:r>
          </a:p>
        </p:txBody>
      </p:sp>
      <p:sp>
        <p:nvSpPr>
          <p:cNvPr id="433" name="leg_accent4"/>
          <p:cNvSpPr/>
          <p:nvPr/>
        </p:nvSpPr>
        <p:spPr>
          <a:xfrm>
            <a:off x="10231000" y="6340000"/>
            <a:ext cx="210000" cy="21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/>
          <a:lstStyle/>
          <a:p>
            <a:endParaRPr lang="ru-RU"/>
          </a:p>
        </p:txBody>
      </p:sp>
      <p:sp>
        <p:nvSpPr>
          <p:cNvPr id="434" name="leg_accent4_tx"/>
          <p:cNvSpPr txBox="1"/>
          <p:nvPr/>
        </p:nvSpPr>
        <p:spPr>
          <a:xfrm>
            <a:off x="10486000" y="6285000"/>
            <a:ext cx="800000" cy="320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800" b="0">
                <a:solidFill>
                  <a:schemeClr val="tx1"/>
                </a:solidFill>
                <a:latin typeface="Manrope" charset="0"/>
                <a:cs typeface="Manrope" charset="0"/>
              </a:rPr>
              <a:t>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2533292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F24B741-ADA9-496D-B473-ADD8A51C67E0}"/>
              </a:ext>
            </a:extLst>
          </p:cNvPr>
          <p:cNvCxnSpPr>
            <a:cxnSpLocks/>
          </p:cNvCxnSpPr>
          <p:nvPr/>
        </p:nvCxnSpPr>
        <p:spPr>
          <a:xfrm>
            <a:off x="4665864" y="2202611"/>
            <a:ext cx="3708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A5AE5B8-3081-4820-B805-51853397BB8E}"/>
              </a:ext>
            </a:extLst>
          </p:cNvPr>
          <p:cNvCxnSpPr>
            <a:cxnSpLocks/>
          </p:cNvCxnSpPr>
          <p:nvPr/>
        </p:nvCxnSpPr>
        <p:spPr>
          <a:xfrm>
            <a:off x="4665864" y="3933791"/>
            <a:ext cx="3703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4A39E4C-E003-42B1-A97C-ED1D73A8CA72}"/>
              </a:ext>
            </a:extLst>
          </p:cNvPr>
          <p:cNvCxnSpPr>
            <a:cxnSpLocks/>
          </p:cNvCxnSpPr>
          <p:nvPr/>
        </p:nvCxnSpPr>
        <p:spPr>
          <a:xfrm>
            <a:off x="4665864" y="6052357"/>
            <a:ext cx="3708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74A3B3A-666F-4547-B2D7-3A949B13C410}"/>
              </a:ext>
            </a:extLst>
          </p:cNvPr>
          <p:cNvSpPr/>
          <p:nvPr/>
        </p:nvSpPr>
        <p:spPr>
          <a:xfrm>
            <a:off x="206189" y="1428441"/>
            <a:ext cx="4506740" cy="5196103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B416318F-D72C-440A-8B1D-530904F2A3BD}"/>
              </a:ext>
            </a:extLst>
          </p:cNvPr>
          <p:cNvCxnSpPr>
            <a:cxnSpLocks/>
          </p:cNvCxnSpPr>
          <p:nvPr/>
        </p:nvCxnSpPr>
        <p:spPr>
          <a:xfrm>
            <a:off x="10089137" y="2202611"/>
            <a:ext cx="487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5188B919-DCD6-4665-9EAB-A29743762767}"/>
              </a:ext>
            </a:extLst>
          </p:cNvPr>
          <p:cNvCxnSpPr>
            <a:cxnSpLocks/>
          </p:cNvCxnSpPr>
          <p:nvPr/>
        </p:nvCxnSpPr>
        <p:spPr>
          <a:xfrm>
            <a:off x="9838140" y="3933791"/>
            <a:ext cx="7996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6E856423-1381-47D8-AEE4-26AD5A31FA69}"/>
              </a:ext>
            </a:extLst>
          </p:cNvPr>
          <p:cNvCxnSpPr>
            <a:cxnSpLocks/>
          </p:cNvCxnSpPr>
          <p:nvPr/>
        </p:nvCxnSpPr>
        <p:spPr>
          <a:xfrm>
            <a:off x="10089137" y="6046755"/>
            <a:ext cx="487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Управление основными данными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C793AB-8572-41B7-AFBA-F1C9D4DCFA2D}"/>
              </a:ext>
            </a:extLst>
          </p:cNvPr>
          <p:cNvSpPr/>
          <p:nvPr/>
        </p:nvSpPr>
        <p:spPr>
          <a:xfrm>
            <a:off x="398468" y="1891604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Локации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E1A477C-AB95-4549-9370-5C2C14C57812}"/>
              </a:ext>
            </a:extLst>
          </p:cNvPr>
          <p:cNvSpPr/>
          <p:nvPr/>
        </p:nvSpPr>
        <p:spPr>
          <a:xfrm>
            <a:off x="1822005" y="1891603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Продукты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6E2633-7793-477B-8E19-2B006375F309}"/>
              </a:ext>
            </a:extLst>
          </p:cNvPr>
          <p:cNvSpPr/>
          <p:nvPr/>
        </p:nvSpPr>
        <p:spPr>
          <a:xfrm>
            <a:off x="3251443" y="1891603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Продукты-локации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7A9361-2820-4997-A0AA-3EED7D84C7C2}"/>
              </a:ext>
            </a:extLst>
          </p:cNvPr>
          <p:cNvSpPr/>
          <p:nvPr/>
        </p:nvSpPr>
        <p:spPr>
          <a:xfrm>
            <a:off x="398468" y="3721145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Транспортное отношение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2AECE55-A206-4B12-927C-8F0C76361B3D}"/>
              </a:ext>
            </a:extLst>
          </p:cNvPr>
          <p:cNvSpPr/>
          <p:nvPr/>
        </p:nvSpPr>
        <p:spPr>
          <a:xfrm>
            <a:off x="1822005" y="3721144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Параметры закупки (</a:t>
            </a:r>
            <a:r>
              <a:rPr lang="ru-RU" sz="900" b="0" dirty="0" err="1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ru-RU" sz="9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00" b="0" dirty="0" err="1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ru-RU" sz="9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MOQ, кратность, период)</a:t>
            </a:r>
            <a:endParaRPr lang="ru-RU" sz="9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E88809-CA8F-4204-9373-CEF0EADA14E6}"/>
              </a:ext>
            </a:extLst>
          </p:cNvPr>
          <p:cNvSpPr/>
          <p:nvPr/>
        </p:nvSpPr>
        <p:spPr>
          <a:xfrm>
            <a:off x="3251443" y="3721144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Остаточные сроки годности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F701EC1-B07E-41DF-81B7-310CAF4D981D}"/>
              </a:ext>
            </a:extLst>
          </p:cNvPr>
          <p:cNvSpPr/>
          <p:nvPr/>
        </p:nvSpPr>
        <p:spPr>
          <a:xfrm>
            <a:off x="398468" y="4746592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Уровни запасов (минимальный, максимальный, целевой, точка заказа)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FA536E-99DA-4FBA-A00E-F3E19647DA22}"/>
              </a:ext>
            </a:extLst>
          </p:cNvPr>
          <p:cNvSpPr/>
          <p:nvPr/>
        </p:nvSpPr>
        <p:spPr>
          <a:xfrm>
            <a:off x="1822005" y="4746591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Календари (поставщиков\ производственные\ складские)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A46E9B-163A-4196-BE8E-C2FDF50096FE}"/>
              </a:ext>
            </a:extLst>
          </p:cNvPr>
          <p:cNvSpPr/>
          <p:nvPr/>
        </p:nvSpPr>
        <p:spPr>
          <a:xfrm>
            <a:off x="3251443" y="4746591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Цены и квоты поставщиков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F117CB0-69D0-4268-A6A4-53F99554DECD}"/>
              </a:ext>
            </a:extLst>
          </p:cNvPr>
          <p:cNvSpPr/>
          <p:nvPr/>
        </p:nvSpPr>
        <p:spPr>
          <a:xfrm>
            <a:off x="398468" y="5772039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Транспортные ограничения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2132895-D566-4A11-9FAD-D546AFCF1E0A}"/>
              </a:ext>
            </a:extLst>
          </p:cNvPr>
          <p:cNvSpPr/>
          <p:nvPr/>
        </p:nvSpPr>
        <p:spPr>
          <a:xfrm>
            <a:off x="1822005" y="5772038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Соглашение о поставках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D28C6DC-4B0D-4E2E-810B-AA5D165D2D60}"/>
              </a:ext>
            </a:extLst>
          </p:cNvPr>
          <p:cNvSpPr/>
          <p:nvPr/>
        </p:nvSpPr>
        <p:spPr>
          <a:xfrm>
            <a:off x="3251443" y="5772038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Плановые заказы производства (SNP, PS)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8431F3-5C55-4EC5-820D-E776555CAFFA}"/>
              </a:ext>
            </a:extLst>
          </p:cNvPr>
          <p:cNvSpPr txBox="1"/>
          <p:nvPr/>
        </p:nvSpPr>
        <p:spPr>
          <a:xfrm>
            <a:off x="589164" y="1546704"/>
            <a:ext cx="37505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Разработка и ведение основных данных в мастер-системе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11345-96F6-46D1-A639-6051D64A80AE}"/>
              </a:ext>
            </a:extLst>
          </p:cNvPr>
          <p:cNvSpPr txBox="1"/>
          <p:nvPr/>
        </p:nvSpPr>
        <p:spPr>
          <a:xfrm>
            <a:off x="206188" y="1042356"/>
            <a:ext cx="1855694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000" dirty="0"/>
              <a:t>Внешняя учетная система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EFAD7B-6F32-4993-A258-F90BD0A51309}"/>
              </a:ext>
            </a:extLst>
          </p:cNvPr>
          <p:cNvSpPr txBox="1"/>
          <p:nvPr/>
        </p:nvSpPr>
        <p:spPr>
          <a:xfrm>
            <a:off x="5005525" y="4814329"/>
            <a:ext cx="29783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Обновление параметров закупки </a:t>
            </a:r>
            <a:br>
              <a:rPr lang="ru-RU" sz="1000" dirty="0"/>
            </a:br>
            <a:r>
              <a:rPr lang="ru-RU" sz="1000" dirty="0"/>
              <a:t>(</a:t>
            </a:r>
            <a:r>
              <a:rPr lang="ru-RU" sz="1000" dirty="0" err="1"/>
              <a:t>lead</a:t>
            </a:r>
            <a:r>
              <a:rPr lang="ru-RU" sz="1000" dirty="0"/>
              <a:t> </a:t>
            </a:r>
            <a:r>
              <a:rPr lang="ru-RU" sz="1000" dirty="0" err="1"/>
              <a:t>time</a:t>
            </a:r>
            <a:r>
              <a:rPr lang="ru-RU" sz="1000" dirty="0"/>
              <a:t>, MOQ, квоты)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Обновление спецификаций BOM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Коррекция сроков годности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Актуализация источников поставки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Пересмотр страховых запасов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78FE247-98BB-4D80-B938-243F9D572B7F}"/>
              </a:ext>
            </a:extLst>
          </p:cNvPr>
          <p:cNvSpPr/>
          <p:nvPr/>
        </p:nvSpPr>
        <p:spPr>
          <a:xfrm>
            <a:off x="8374638" y="1676194"/>
            <a:ext cx="1692000" cy="97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dirty="0"/>
              <a:t>Загрузка данных через интеграционную модель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6EDBA06-6E4B-4C30-ABE6-509B522054C8}"/>
              </a:ext>
            </a:extLst>
          </p:cNvPr>
          <p:cNvSpPr/>
          <p:nvPr/>
        </p:nvSpPr>
        <p:spPr>
          <a:xfrm>
            <a:off x="8374638" y="5525940"/>
            <a:ext cx="1692000" cy="97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dirty="0"/>
              <a:t>Создание/Удаление/ Изменение данных в среде </a:t>
            </a:r>
            <a:r>
              <a:rPr lang="en-US" sz="1050" dirty="0" err="1"/>
              <a:t>In.Plan</a:t>
            </a:r>
            <a:endParaRPr lang="ru-RU" sz="105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508CF76-7D4B-459A-9778-6A9F1495C8F6}"/>
              </a:ext>
            </a:extLst>
          </p:cNvPr>
          <p:cNvSpPr/>
          <p:nvPr/>
        </p:nvSpPr>
        <p:spPr>
          <a:xfrm>
            <a:off x="8374638" y="3448158"/>
            <a:ext cx="1692000" cy="97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dirty="0"/>
              <a:t>Загрузка данных через внешние файлы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462F26-8B78-46A5-9C1D-D1BD6F53F1A6}"/>
              </a:ext>
            </a:extLst>
          </p:cNvPr>
          <p:cNvSpPr txBox="1"/>
          <p:nvPr/>
        </p:nvSpPr>
        <p:spPr>
          <a:xfrm>
            <a:off x="8374638" y="1050491"/>
            <a:ext cx="1692000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Начальная загрузка и ежедневная передача изменений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EDD19A-C834-4C94-BF34-4B4C6974B834}"/>
              </a:ext>
            </a:extLst>
          </p:cNvPr>
          <p:cNvSpPr txBox="1"/>
          <p:nvPr/>
        </p:nvSpPr>
        <p:spPr>
          <a:xfrm>
            <a:off x="8374638" y="3139190"/>
            <a:ext cx="1692000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Начальная загрузка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5F1C94-75C9-4549-87AF-F8F02D5EAF51}"/>
              </a:ext>
            </a:extLst>
          </p:cNvPr>
          <p:cNvSpPr txBox="1"/>
          <p:nvPr/>
        </p:nvSpPr>
        <p:spPr>
          <a:xfrm>
            <a:off x="8374638" y="5062502"/>
            <a:ext cx="16920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Периодическая корректировка</a:t>
            </a:r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1524317B-2B31-4CEC-8E8E-37A932942688}"/>
              </a:ext>
            </a:extLst>
          </p:cNvPr>
          <p:cNvCxnSpPr>
            <a:cxnSpLocks/>
          </p:cNvCxnSpPr>
          <p:nvPr/>
        </p:nvCxnSpPr>
        <p:spPr>
          <a:xfrm>
            <a:off x="10576469" y="2202611"/>
            <a:ext cx="0" cy="3844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0F0235E3-DE27-4E5C-935F-4B02730E3A4C}"/>
              </a:ext>
            </a:extLst>
          </p:cNvPr>
          <p:cNvCxnSpPr>
            <a:cxnSpLocks/>
          </p:cNvCxnSpPr>
          <p:nvPr/>
        </p:nvCxnSpPr>
        <p:spPr>
          <a:xfrm>
            <a:off x="10524465" y="3933791"/>
            <a:ext cx="226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Овал 52">
            <a:extLst>
              <a:ext uri="{FF2B5EF4-FFF2-40B4-BE49-F238E27FC236}">
                <a16:creationId xmlns:a16="http://schemas.microsoft.com/office/drawing/2014/main" id="{156C34ED-813C-4FB9-AD7C-6413CB8669BE}"/>
              </a:ext>
            </a:extLst>
          </p:cNvPr>
          <p:cNvSpPr/>
          <p:nvPr/>
        </p:nvSpPr>
        <p:spPr>
          <a:xfrm>
            <a:off x="10751089" y="3484974"/>
            <a:ext cx="1224255" cy="951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Проверка целостности данных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ACE8472-FCEE-4A47-912A-2F6E173BC5B0}"/>
              </a:ext>
            </a:extLst>
          </p:cNvPr>
          <p:cNvSpPr/>
          <p:nvPr/>
        </p:nvSpPr>
        <p:spPr>
          <a:xfrm>
            <a:off x="398468" y="2806374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Спецификации (</a:t>
            </a:r>
            <a:r>
              <a:rPr lang="en-US" sz="900" dirty="0"/>
              <a:t>BOM</a:t>
            </a:r>
            <a:r>
              <a:rPr lang="ru-RU" sz="900" dirty="0"/>
              <a:t>)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913EA54-B5D1-48DD-8D5F-842E4E1EE087}"/>
              </a:ext>
            </a:extLst>
          </p:cNvPr>
          <p:cNvSpPr/>
          <p:nvPr/>
        </p:nvSpPr>
        <p:spPr>
          <a:xfrm>
            <a:off x="1822005" y="2803788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Источник поставки закупки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5BFE8BE-A677-432D-BC9B-D7C0D720A94A}"/>
              </a:ext>
            </a:extLst>
          </p:cNvPr>
          <p:cNvSpPr/>
          <p:nvPr/>
        </p:nvSpPr>
        <p:spPr>
          <a:xfrm>
            <a:off x="3251443" y="2805223"/>
            <a:ext cx="1260000" cy="720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/>
              <a:t>Аналоги и взаимозамены</a:t>
            </a:r>
          </a:p>
        </p:txBody>
      </p:sp>
    </p:spTree>
    <p:extLst>
      <p:ext uri="{BB962C8B-B14F-4D97-AF65-F5344CB8AC3E}">
        <p14:creationId xmlns:p14="http://schemas.microsoft.com/office/powerpoint/2010/main" val="3894897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F24B741-ADA9-496D-B473-ADD8A51C67E0}"/>
              </a:ext>
            </a:extLst>
          </p:cNvPr>
          <p:cNvCxnSpPr>
            <a:cxnSpLocks/>
          </p:cNvCxnSpPr>
          <p:nvPr/>
        </p:nvCxnSpPr>
        <p:spPr>
          <a:xfrm>
            <a:off x="4665864" y="2202611"/>
            <a:ext cx="3708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A5AE5B8-3081-4820-B805-51853397BB8E}"/>
              </a:ext>
            </a:extLst>
          </p:cNvPr>
          <p:cNvCxnSpPr>
            <a:cxnSpLocks/>
          </p:cNvCxnSpPr>
          <p:nvPr/>
        </p:nvCxnSpPr>
        <p:spPr>
          <a:xfrm>
            <a:off x="4665864" y="3933791"/>
            <a:ext cx="3703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4A39E4C-E003-42B1-A97C-ED1D73A8CA72}"/>
              </a:ext>
            </a:extLst>
          </p:cNvPr>
          <p:cNvCxnSpPr>
            <a:cxnSpLocks/>
          </p:cNvCxnSpPr>
          <p:nvPr/>
        </p:nvCxnSpPr>
        <p:spPr>
          <a:xfrm>
            <a:off x="4665864" y="6052357"/>
            <a:ext cx="3708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74A3B3A-666F-4547-B2D7-3A949B13C410}"/>
              </a:ext>
            </a:extLst>
          </p:cNvPr>
          <p:cNvSpPr/>
          <p:nvPr/>
        </p:nvSpPr>
        <p:spPr>
          <a:xfrm>
            <a:off x="206189" y="1428441"/>
            <a:ext cx="4506740" cy="5196103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B416318F-D72C-440A-8B1D-530904F2A3BD}"/>
              </a:ext>
            </a:extLst>
          </p:cNvPr>
          <p:cNvCxnSpPr>
            <a:cxnSpLocks/>
          </p:cNvCxnSpPr>
          <p:nvPr/>
        </p:nvCxnSpPr>
        <p:spPr>
          <a:xfrm>
            <a:off x="10089137" y="2202611"/>
            <a:ext cx="487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5188B919-DCD6-4665-9EAB-A29743762767}"/>
              </a:ext>
            </a:extLst>
          </p:cNvPr>
          <p:cNvCxnSpPr>
            <a:cxnSpLocks/>
          </p:cNvCxnSpPr>
          <p:nvPr/>
        </p:nvCxnSpPr>
        <p:spPr>
          <a:xfrm>
            <a:off x="9838140" y="3933791"/>
            <a:ext cx="7996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6E856423-1381-47D8-AEE4-26AD5A31FA69}"/>
              </a:ext>
            </a:extLst>
          </p:cNvPr>
          <p:cNvCxnSpPr>
            <a:cxnSpLocks/>
          </p:cNvCxnSpPr>
          <p:nvPr/>
        </p:nvCxnSpPr>
        <p:spPr>
          <a:xfrm>
            <a:off x="10089137" y="6046755"/>
            <a:ext cx="487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Управление транзакционными данными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8431F3-5C55-4EC5-820D-E776555CAFFA}"/>
              </a:ext>
            </a:extLst>
          </p:cNvPr>
          <p:cNvSpPr txBox="1"/>
          <p:nvPr/>
        </p:nvSpPr>
        <p:spPr>
          <a:xfrm>
            <a:off x="371761" y="1546704"/>
            <a:ext cx="42645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Разработка и ведение транзакционных данных в мастер-системе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11345-96F6-46D1-A639-6051D64A80AE}"/>
              </a:ext>
            </a:extLst>
          </p:cNvPr>
          <p:cNvSpPr txBox="1"/>
          <p:nvPr/>
        </p:nvSpPr>
        <p:spPr>
          <a:xfrm>
            <a:off x="206188" y="1042356"/>
            <a:ext cx="1855694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1000" dirty="0"/>
              <a:t>Внешняя учетная система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78FE247-98BB-4D80-B938-243F9D572B7F}"/>
              </a:ext>
            </a:extLst>
          </p:cNvPr>
          <p:cNvSpPr/>
          <p:nvPr/>
        </p:nvSpPr>
        <p:spPr>
          <a:xfrm>
            <a:off x="8374638" y="1676194"/>
            <a:ext cx="1692000" cy="97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dirty="0"/>
              <a:t>Загрузка данных через интеграционную модель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6EDBA06-6E4B-4C30-ABE6-509B522054C8}"/>
              </a:ext>
            </a:extLst>
          </p:cNvPr>
          <p:cNvSpPr/>
          <p:nvPr/>
        </p:nvSpPr>
        <p:spPr>
          <a:xfrm>
            <a:off x="8374638" y="5525940"/>
            <a:ext cx="1692000" cy="97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dirty="0"/>
              <a:t>Создание/Удаление/ Изменение данных в среде </a:t>
            </a:r>
            <a:r>
              <a:rPr lang="en-US" sz="1050" dirty="0" err="1"/>
              <a:t>In.Plan</a:t>
            </a:r>
            <a:endParaRPr lang="ru-RU" sz="105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508CF76-7D4B-459A-9778-6A9F1495C8F6}"/>
              </a:ext>
            </a:extLst>
          </p:cNvPr>
          <p:cNvSpPr/>
          <p:nvPr/>
        </p:nvSpPr>
        <p:spPr>
          <a:xfrm>
            <a:off x="8374638" y="3448158"/>
            <a:ext cx="1692000" cy="97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50" dirty="0"/>
              <a:t>Загрузка данных через внешние файлы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462F26-8B78-46A5-9C1D-D1BD6F53F1A6}"/>
              </a:ext>
            </a:extLst>
          </p:cNvPr>
          <p:cNvSpPr txBox="1"/>
          <p:nvPr/>
        </p:nvSpPr>
        <p:spPr>
          <a:xfrm>
            <a:off x="8374638" y="1050491"/>
            <a:ext cx="1692000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Начальная загрузка и ежедневная передача изменений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EDD19A-C834-4C94-BF34-4B4C6974B834}"/>
              </a:ext>
            </a:extLst>
          </p:cNvPr>
          <p:cNvSpPr txBox="1"/>
          <p:nvPr/>
        </p:nvSpPr>
        <p:spPr>
          <a:xfrm>
            <a:off x="8374638" y="3139190"/>
            <a:ext cx="1692000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Начальная загрузка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5F1C94-75C9-4549-87AF-F8F02D5EAF51}"/>
              </a:ext>
            </a:extLst>
          </p:cNvPr>
          <p:cNvSpPr txBox="1"/>
          <p:nvPr/>
        </p:nvSpPr>
        <p:spPr>
          <a:xfrm>
            <a:off x="8374638" y="5062502"/>
            <a:ext cx="16920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Периодическая корректировка</a:t>
            </a:r>
          </a:p>
        </p:txBody>
      </p: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1524317B-2B31-4CEC-8E8E-37A932942688}"/>
              </a:ext>
            </a:extLst>
          </p:cNvPr>
          <p:cNvCxnSpPr>
            <a:cxnSpLocks/>
          </p:cNvCxnSpPr>
          <p:nvPr/>
        </p:nvCxnSpPr>
        <p:spPr>
          <a:xfrm>
            <a:off x="10576469" y="2202611"/>
            <a:ext cx="0" cy="3844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0F0235E3-DE27-4E5C-935F-4B02730E3A4C}"/>
              </a:ext>
            </a:extLst>
          </p:cNvPr>
          <p:cNvCxnSpPr>
            <a:cxnSpLocks/>
          </p:cNvCxnSpPr>
          <p:nvPr/>
        </p:nvCxnSpPr>
        <p:spPr>
          <a:xfrm>
            <a:off x="10524465" y="3933791"/>
            <a:ext cx="226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Овал 52">
            <a:extLst>
              <a:ext uri="{FF2B5EF4-FFF2-40B4-BE49-F238E27FC236}">
                <a16:creationId xmlns:a16="http://schemas.microsoft.com/office/drawing/2014/main" id="{156C34ED-813C-4FB9-AD7C-6413CB8669BE}"/>
              </a:ext>
            </a:extLst>
          </p:cNvPr>
          <p:cNvSpPr/>
          <p:nvPr/>
        </p:nvSpPr>
        <p:spPr>
          <a:xfrm>
            <a:off x="10751089" y="3484974"/>
            <a:ext cx="1224255" cy="951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ru-RU" sz="1000" dirty="0">
                <a:solidFill>
                  <a:schemeClr val="tx1"/>
                </a:solidFill>
              </a:rPr>
              <a:t>Проверка целостности данных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399E300-E938-4692-88E4-4A5911E384ED}"/>
              </a:ext>
            </a:extLst>
          </p:cNvPr>
          <p:cNvSpPr/>
          <p:nvPr/>
        </p:nvSpPr>
        <p:spPr>
          <a:xfrm>
            <a:off x="596352" y="1977170"/>
            <a:ext cx="1694329" cy="733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Перенос заказов производства (</a:t>
            </a:r>
            <a:r>
              <a:rPr lang="ru-RU" sz="1000" dirty="0" err="1"/>
              <a:t>Planned</a:t>
            </a:r>
            <a:r>
              <a:rPr lang="ru-RU" sz="1000" dirty="0"/>
              <a:t> / </a:t>
            </a:r>
            <a:r>
              <a:rPr lang="ru-RU" sz="1000" dirty="0" err="1"/>
              <a:t>Firmed</a:t>
            </a:r>
            <a:r>
              <a:rPr lang="ru-RU" sz="1000" dirty="0"/>
              <a:t> </a:t>
            </a:r>
            <a:r>
              <a:rPr lang="ru-RU" sz="1000" dirty="0" err="1"/>
              <a:t>Prod</a:t>
            </a:r>
            <a:r>
              <a:rPr lang="ru-RU" sz="1000" dirty="0"/>
              <a:t>. </a:t>
            </a:r>
            <a:r>
              <a:rPr lang="ru-RU" sz="1000" dirty="0" err="1"/>
              <a:t>Orders</a:t>
            </a:r>
            <a:r>
              <a:rPr lang="ru-RU" sz="1000" dirty="0"/>
              <a:t>)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8A73FB7D-DCF7-4262-9D53-D712E6D84C77}"/>
              </a:ext>
            </a:extLst>
          </p:cNvPr>
          <p:cNvSpPr/>
          <p:nvPr/>
        </p:nvSpPr>
        <p:spPr>
          <a:xfrm>
            <a:off x="596352" y="2909628"/>
            <a:ext cx="1694329" cy="733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Перенос заказов клиентов из </a:t>
            </a:r>
            <a:r>
              <a:rPr lang="en-US" sz="1000" dirty="0"/>
              <a:t>ERP</a:t>
            </a:r>
            <a:endParaRPr lang="ru-RU" sz="1000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4C5E1DB-E1E4-429D-8102-15B7E5F3602B}"/>
              </a:ext>
            </a:extLst>
          </p:cNvPr>
          <p:cNvSpPr/>
          <p:nvPr/>
        </p:nvSpPr>
        <p:spPr>
          <a:xfrm>
            <a:off x="596352" y="3842086"/>
            <a:ext cx="1694329" cy="733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Перенос начальных запасов из </a:t>
            </a:r>
            <a:r>
              <a:rPr lang="en-US" sz="1000" dirty="0"/>
              <a:t>ERP</a:t>
            </a:r>
            <a:endParaRPr lang="ru-RU" sz="1000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ECA5206E-A3B0-4274-B5ED-52B06738EDA4}"/>
              </a:ext>
            </a:extLst>
          </p:cNvPr>
          <p:cNvSpPr/>
          <p:nvPr/>
        </p:nvSpPr>
        <p:spPr>
          <a:xfrm>
            <a:off x="2487905" y="1977170"/>
            <a:ext cx="1694329" cy="733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Перенос заказов на перемещение</a:t>
            </a:r>
            <a:r>
              <a:rPr lang="en-US" sz="1000" dirty="0"/>
              <a:t>\</a:t>
            </a:r>
            <a:r>
              <a:rPr lang="ru-RU" sz="1000" dirty="0"/>
              <a:t> Перенос ожидаемых поступлений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6071B95B-65D8-4C6D-B78E-793671E5CC01}"/>
              </a:ext>
            </a:extLst>
          </p:cNvPr>
          <p:cNvSpPr/>
          <p:nvPr/>
        </p:nvSpPr>
        <p:spPr>
          <a:xfrm>
            <a:off x="2487905" y="3842086"/>
            <a:ext cx="1694329" cy="733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Перенос открытых заявок на закупку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1BB45CDF-FF33-410C-BECB-75AAFA0BA73D}"/>
              </a:ext>
            </a:extLst>
          </p:cNvPr>
          <p:cNvSpPr/>
          <p:nvPr/>
        </p:nvSpPr>
        <p:spPr>
          <a:xfrm>
            <a:off x="2487905" y="4774544"/>
            <a:ext cx="1694329" cy="7332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Перенос подтверждений поставщиков (ETA/ETD)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276E65-33A5-4FD7-9E4C-EC7506E28E8D}"/>
              </a:ext>
            </a:extLst>
          </p:cNvPr>
          <p:cNvSpPr txBox="1"/>
          <p:nvPr/>
        </p:nvSpPr>
        <p:spPr>
          <a:xfrm>
            <a:off x="5574651" y="1956390"/>
            <a:ext cx="2079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Интеграционный поток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8DF574-8821-4C95-9A07-702FCBBE16D7}"/>
              </a:ext>
            </a:extLst>
          </p:cNvPr>
          <p:cNvSpPr txBox="1"/>
          <p:nvPr/>
        </p:nvSpPr>
        <p:spPr>
          <a:xfrm>
            <a:off x="5574651" y="3687570"/>
            <a:ext cx="2079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Ручная загрузка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A9E65EE-63AB-492B-A34D-A0BDA5AB1C61}"/>
              </a:ext>
            </a:extLst>
          </p:cNvPr>
          <p:cNvSpPr txBox="1"/>
          <p:nvPr/>
        </p:nvSpPr>
        <p:spPr>
          <a:xfrm>
            <a:off x="5414373" y="5800534"/>
            <a:ext cx="23999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/>
              <a:t>Отсутствие необходимых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39087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Алгоритмы работы с данными</a:t>
            </a:r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009964D-CEF6-4B31-ABD5-7D72979D2E8A}"/>
              </a:ext>
            </a:extLst>
          </p:cNvPr>
          <p:cNvSpPr txBox="1">
            <a:spLocks/>
          </p:cNvSpPr>
          <p:nvPr/>
        </p:nvSpPr>
        <p:spPr>
          <a:xfrm>
            <a:off x="204438" y="1070649"/>
            <a:ext cx="11653038" cy="424802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Массовое обновление данных </a:t>
            </a:r>
            <a:r>
              <a:rPr lang="ru-RU" sz="14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бизнес-правилам - Ведение бизнес правил для актуализации основных данных и алгоритм применения указанных в правилах значений в модели планирования</a:t>
            </a:r>
            <a:endParaRPr lang="en-US" sz="1400" b="0" dirty="0">
              <a:effectLst/>
              <a:latin typeface="Manrope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Алгоритмы копирования основных данных </a:t>
            </a:r>
            <a:r>
              <a:rPr lang="ru-RU" sz="14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Данные алгоритмы необходимы для помощи бизнес-пользователям при настройке новых объектов основных данных. Пример 1: появился новый продукт, по производственным и логистическим настройкам полностью идентичный уже существующему, чтобы ускорить подготовку плана необходимо скопировать данные с ссылочного продукта на новый. Пример 2: появился новый склад (локация), по логистическим настройкам полностью идентичный уже существующему, чтобы ускорить подготовку плана необходимо скопировать данные с ссылочной локации на новую</a:t>
            </a:r>
            <a:endParaRPr lang="en-US" sz="1400" b="0" dirty="0">
              <a:effectLst/>
              <a:latin typeface="Manrope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ru-RU" sz="1400" dirty="0" err="1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консистентности</a:t>
            </a:r>
            <a:r>
              <a:rPr lang="ru-RU" sz="140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данных</a:t>
            </a:r>
            <a:r>
              <a:rPr lang="ru-RU" sz="14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Алгоритм проверки </a:t>
            </a:r>
            <a:r>
              <a:rPr lang="ru-RU" sz="1400" b="0" dirty="0" err="1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консистентности</a:t>
            </a:r>
            <a:r>
              <a:rPr lang="ru-RU" sz="14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данных, типы ошибок: Формальная/Качественная. Формальная - обязательно к исправлению, Качественная – предупреждение, на которое необходимо обратить внимание и </a:t>
            </a:r>
            <a:r>
              <a:rPr lang="ru-RU" sz="1400" b="0" dirty="0" err="1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экспертно</a:t>
            </a:r>
            <a:r>
              <a:rPr lang="ru-RU" sz="14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оценить является ли это ошибкой</a:t>
            </a:r>
            <a:endParaRPr lang="en-US" sz="1400" b="0" dirty="0">
              <a:effectLst/>
              <a:latin typeface="Manrope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Формирование предупреждений </a:t>
            </a:r>
            <a:r>
              <a:rPr lang="ru-RU" sz="14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Алгоритм формирования сжатой справки по проблемам, возникшим в ходе прогона расчета плана. У плановика есть возможность увидеть сгруппированную по следующим критериям картину предупреждений: Описание предупреждения/Бизнес критичность (должна быть настраиваемая или вычисляемая на основе бизнес-правил)/Приоритет предупреждения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ru-RU" sz="1600" b="0" dirty="0">
              <a:latin typeface="Manrope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974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Алгоритмы расчёта планов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187A7-4AC6-45A9-A855-92441FE3F37D}"/>
              </a:ext>
            </a:extLst>
          </p:cNvPr>
          <p:cNvSpPr txBox="1"/>
          <p:nvPr/>
        </p:nvSpPr>
        <p:spPr>
          <a:xfrm>
            <a:off x="-204486" y="948690"/>
            <a:ext cx="123964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MRP в части планирования закупок представляет собой </a:t>
            </a:r>
            <a:r>
              <a:rPr lang="ru-RU" sz="1200" b="1" dirty="0">
                <a:effectLst/>
                <a:ea typeface="Times New Roman" panose="02020603050405020304" pitchFamily="18" charset="0"/>
              </a:rPr>
              <a:t>расчет потребности в закупке </a:t>
            </a:r>
            <a:r>
              <a:rPr lang="ru-RU" sz="1200" b="0" dirty="0">
                <a:effectLst/>
                <a:ea typeface="Times New Roman" panose="02020603050405020304" pitchFamily="18" charset="0"/>
              </a:rPr>
              <a:t>и происходит с учетом следующих параметров: 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Вторичная потребность, потребность в перемещении (потребность в сырье на одной локации под потребность производства другой локации)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Страховой уровень запаса номенклатурных позиций в плановых ЕИ или днях покрытия потребности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Сроки поставки от поставщика до склада предприятия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Аналоги и взаимозамены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Календари поставок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Мощности погрузки, разгрузки и емкости склада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Выбор вида транспорта с учетом затрат, ограничений пропускной способности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Вместимость транспорта (TLB): формирование многопозиционной заявки на закупку на 1м транспортном отношении (без «заездов»)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Планирование по точке заказа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Минимальные, максимальные размеры партий и кратности поставки, периодический размер партии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Минимальный требуемый срок годности компонентов, указанный в спецификации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Квоты в объемах и % по поставщикам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1085850" lvl="2" indent="-171450" algn="just">
              <a:buFont typeface="Courier New" panose="02070309020205020404" pitchFamily="49" charset="0"/>
              <a:buChar char="o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Контрактные ограничения (мин/макс объемы доступные в рамках дат контракта)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200" b="1" dirty="0">
                <a:effectLst/>
                <a:ea typeface="Times New Roman" panose="02020603050405020304" pitchFamily="18" charset="0"/>
              </a:rPr>
              <a:t>Расчет уровней запаса </a:t>
            </a:r>
            <a:r>
              <a:rPr lang="ru-RU" sz="1200" b="0" dirty="0">
                <a:effectLst/>
                <a:ea typeface="Times New Roman" panose="02020603050405020304" pitchFamily="18" charset="0"/>
              </a:rPr>
              <a:t>- расчет уровней запасов на основе дней покрытия и потребности (алгоритм расчета минимальных и максимальных запасов на основе дней покрытия и потребности в гранулярности продукт-локация-период)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200" b="1" dirty="0">
                <a:effectLst/>
                <a:ea typeface="Times New Roman" panose="02020603050405020304" pitchFamily="18" charset="0"/>
              </a:rPr>
              <a:t>Корректировки закупки</a:t>
            </a:r>
            <a:r>
              <a:rPr lang="ru-RU" sz="1200" b="0" dirty="0">
                <a:effectLst/>
                <a:ea typeface="Times New Roman" panose="02020603050405020304" pitchFamily="18" charset="0"/>
              </a:rPr>
              <a:t> - ручные корректировки планов закупки (возможность внести вручную объемы, которые будут восприняты </a:t>
            </a:r>
            <a:r>
              <a:rPr lang="ru-RU" sz="1200" b="0" dirty="0" err="1">
                <a:effectLst/>
                <a:ea typeface="Times New Roman" panose="02020603050405020304" pitchFamily="18" charset="0"/>
              </a:rPr>
              <a:t>солвером</a:t>
            </a:r>
            <a:r>
              <a:rPr lang="ru-RU" sz="1200" b="0" dirty="0">
                <a:effectLst/>
                <a:ea typeface="Times New Roman" panose="02020603050405020304" pitchFamily="18" charset="0"/>
              </a:rPr>
              <a:t> как псевдо-жесткие ограничения)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ru-RU" sz="1200" b="1" dirty="0">
                <a:effectLst/>
                <a:ea typeface="Times New Roman" panose="02020603050405020304" pitchFamily="18" charset="0"/>
              </a:rPr>
              <a:t>Расчет показателей для анализа плана </a:t>
            </a:r>
            <a:r>
              <a:rPr lang="ru-RU" sz="1200" b="0" dirty="0">
                <a:effectLst/>
                <a:ea typeface="Times New Roman" panose="02020603050405020304" pitchFamily="18" charset="0"/>
              </a:rPr>
              <a:t>– следующие базовые показатели для работы в экранах книги планирования и загрузки мощностей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  <a:p>
            <a:pPr marL="441325" indent="-171450" algn="just">
              <a:buFont typeface="Arial" panose="020B0604020202020204" pitchFamily="34" charset="0"/>
              <a:buChar char="•"/>
            </a:pPr>
            <a:r>
              <a:rPr lang="ru-RU" sz="1200" b="0" dirty="0">
                <a:effectLst/>
                <a:ea typeface="Times New Roman" panose="02020603050405020304" pitchFamily="18" charset="0"/>
              </a:rPr>
              <a:t>Стандартные показатели книг планирования:</a:t>
            </a:r>
            <a:endParaRPr lang="ru-RU" sz="1200" b="1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71FC3-E6AD-4470-BB00-CCF92B1D930C}"/>
              </a:ext>
            </a:extLst>
          </p:cNvPr>
          <p:cNvSpPr txBox="1"/>
          <p:nvPr/>
        </p:nvSpPr>
        <p:spPr>
          <a:xfrm>
            <a:off x="104172" y="4723064"/>
            <a:ext cx="8054052" cy="212365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69875" algn="just"/>
            <a:r>
              <a:rPr lang="ru-RU" sz="1100" b="0" dirty="0">
                <a:effectLst/>
                <a:ea typeface="Times New Roman" panose="02020603050405020304" pitchFamily="18" charset="0"/>
              </a:rPr>
              <a:t>Продукт-локация: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Вторичная потребность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Потребность в перемещении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Суммарная потребность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Поступления из производства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Поступления из перемещений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Транзит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Суммарное поступление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Доступный запас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Запас на контроле качества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Плановый остаток с учетом ограничений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Плановый остаток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Покрытие запасом, дни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Страховой запас, дни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Страховой запас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Покрытие запасом / Страховой запас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Блокированный запас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Максимальный запас, дни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Максимальный запас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269875" algn="just"/>
            <a:r>
              <a:rPr lang="ru-RU" sz="1100" b="0" dirty="0">
                <a:effectLst/>
                <a:ea typeface="Times New Roman" panose="02020603050405020304" pitchFamily="18" charset="0"/>
              </a:rPr>
              <a:t>Ресурс-локация: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Доступная мощность 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Плановая загрузка мощности 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  <a:p>
            <a:pPr marL="1143000" lvl="2" indent="-228600" algn="just">
              <a:buFont typeface="Symbol" panose="05050102010706020507" pitchFamily="18" charset="2"/>
              <a:buChar char=""/>
              <a:tabLst>
                <a:tab pos="7256780" algn="l"/>
              </a:tabLst>
            </a:pPr>
            <a:r>
              <a:rPr lang="ru-RU" sz="1100" b="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Загрузка ресурса, %</a:t>
            </a:r>
            <a:endParaRPr lang="ru-RU" sz="1100" b="1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45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Эвристика</a:t>
            </a:r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009964D-CEF6-4B31-ABD5-7D72979D2E8A}"/>
              </a:ext>
            </a:extLst>
          </p:cNvPr>
          <p:cNvSpPr txBox="1">
            <a:spLocks/>
          </p:cNvSpPr>
          <p:nvPr/>
        </p:nvSpPr>
        <p:spPr>
          <a:xfrm>
            <a:off x="204438" y="1070649"/>
            <a:ext cx="11653038" cy="31995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Эвристика </a:t>
            </a:r>
            <a:r>
              <a:rPr lang="ru-RU" sz="1600" b="0" dirty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это инструмент, который позволяет находить рабочие решения сложных задач планирования цепочки поставок.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latin typeface="Manrope" charset="0"/>
                <a:cs typeface="Times New Roman" panose="02020603050405020304" pitchFamily="18" charset="0"/>
              </a:rPr>
              <a:t>Неограниченная эвристика </a:t>
            </a:r>
            <a:r>
              <a:rPr lang="ru-RU" sz="1600" b="0" dirty="0">
                <a:latin typeface="Manrope" charset="0"/>
                <a:cs typeface="Times New Roman" panose="02020603050405020304" pitchFamily="18" charset="0"/>
              </a:rPr>
              <a:t>используется для расчета неограниченной потребности в пополнении запасов, она предназначена для точного определения оптимальных объемов закупок, производства, перемещений готового продукта, сырья и материалов вне контекста существующих ограничений по производственным мощностям, мощности закупки, транспортным мощностям, складским мощностям или уровню запасов.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latin typeface="Manrope" charset="0"/>
                <a:cs typeface="Times New Roman" panose="02020603050405020304" pitchFamily="18" charset="0"/>
              </a:rPr>
              <a:t>Ограниченная эвристика </a:t>
            </a:r>
            <a:r>
              <a:rPr lang="ru-RU" sz="1600" b="0" dirty="0">
                <a:latin typeface="Manrope" charset="0"/>
                <a:cs typeface="Times New Roman" panose="02020603050405020304" pitchFamily="18" charset="0"/>
              </a:rPr>
              <a:t>позволяет подобрать оптимальный набор решений, обеспечивающий достижение поставленных целей, а именно покрытие потребности клиентов при заданных ограничениях и приоритетах покрытия потребности.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ru-RU" sz="1600" b="0" dirty="0">
              <a:latin typeface="Manrope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C9AE31-6D53-4787-BBCD-5E957DD059F6}"/>
              </a:ext>
            </a:extLst>
          </p:cNvPr>
          <p:cNvSpPr/>
          <p:nvPr/>
        </p:nvSpPr>
        <p:spPr>
          <a:xfrm>
            <a:off x="5439950" y="4112197"/>
            <a:ext cx="2834465" cy="63767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Уровень запасов в плановых ЕИ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0880A5-F369-40AB-B84F-F4932D1D7A39}"/>
              </a:ext>
            </a:extLst>
          </p:cNvPr>
          <p:cNvSpPr/>
          <p:nvPr/>
        </p:nvSpPr>
        <p:spPr>
          <a:xfrm>
            <a:off x="5213408" y="5189599"/>
            <a:ext cx="3299005" cy="104007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Расчет ограниченной/неограниченной потребности в пополнении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E007C77-D7B1-4369-8F47-31BD05F53035}"/>
              </a:ext>
            </a:extLst>
          </p:cNvPr>
          <p:cNvSpPr/>
          <p:nvPr/>
        </p:nvSpPr>
        <p:spPr>
          <a:xfrm>
            <a:off x="1739112" y="4922229"/>
            <a:ext cx="2267949" cy="8068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Плановая первичная потребность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CBC3A9-491D-4ED8-A873-3720FFCC4825}"/>
              </a:ext>
            </a:extLst>
          </p:cNvPr>
          <p:cNvSpPr/>
          <p:nvPr/>
        </p:nvSpPr>
        <p:spPr>
          <a:xfrm>
            <a:off x="9024668" y="5290559"/>
            <a:ext cx="2160494" cy="8068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Расчет объемных планов с ограничениями</a:t>
            </a:r>
            <a:endParaRPr lang="ru-RU" sz="1600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25061F99-5CB9-4E25-A345-12B93740765A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4007061" y="5325641"/>
            <a:ext cx="1206347" cy="383998"/>
          </a:xfrm>
          <a:prstGeom prst="bentConnector3">
            <a:avLst>
              <a:gd name="adj1" fmla="val 283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F22693E9-C0D3-4999-A7E9-23851C9C752C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8274415" y="4431034"/>
            <a:ext cx="1830500" cy="8595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A6BF42B-17F8-4535-887B-15EB6DCA9494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6857183" y="4749870"/>
            <a:ext cx="0" cy="439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1A6099-F66F-496F-9DDA-3004FFA14C12}"/>
              </a:ext>
            </a:extLst>
          </p:cNvPr>
          <p:cNvSpPr/>
          <p:nvPr/>
        </p:nvSpPr>
        <p:spPr>
          <a:xfrm>
            <a:off x="5054465" y="5039156"/>
            <a:ext cx="3605435" cy="126026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391BE61-E922-4BC1-94DC-D21007A68C3F}"/>
              </a:ext>
            </a:extLst>
          </p:cNvPr>
          <p:cNvSpPr/>
          <p:nvPr/>
        </p:nvSpPr>
        <p:spPr>
          <a:xfrm>
            <a:off x="1739113" y="3987025"/>
            <a:ext cx="2267949" cy="8068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Актуальные уровни запасов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9FB842C5-05BE-4C35-99E9-EE79CCE77BDA}"/>
              </a:ext>
            </a:extLst>
          </p:cNvPr>
          <p:cNvCxnSpPr>
            <a:cxnSpLocks/>
          </p:cNvCxnSpPr>
          <p:nvPr/>
        </p:nvCxnSpPr>
        <p:spPr>
          <a:xfrm>
            <a:off x="4672245" y="5454022"/>
            <a:ext cx="541164" cy="1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883336C-96F5-4E77-9B20-B77B7E12591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007062" y="4390437"/>
            <a:ext cx="665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D68D169-DE47-4D9B-9832-C18AE22C69CD}"/>
              </a:ext>
            </a:extLst>
          </p:cNvPr>
          <p:cNvCxnSpPr>
            <a:cxnSpLocks/>
          </p:cNvCxnSpPr>
          <p:nvPr/>
        </p:nvCxnSpPr>
        <p:spPr>
          <a:xfrm>
            <a:off x="4672245" y="4390437"/>
            <a:ext cx="0" cy="1058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C456F15-EEBC-4918-95ED-8EFA6695ED4C}"/>
              </a:ext>
            </a:extLst>
          </p:cNvPr>
          <p:cNvSpPr/>
          <p:nvPr/>
        </p:nvSpPr>
        <p:spPr>
          <a:xfrm>
            <a:off x="1739112" y="5838019"/>
            <a:ext cx="2267949" cy="80682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Плановые заказы</a:t>
            </a:r>
          </a:p>
        </p:txBody>
      </p:sp>
      <p:cxnSp>
        <p:nvCxnSpPr>
          <p:cNvPr id="19" name="Прямая со стрелкой 8">
            <a:extLst>
              <a:ext uri="{FF2B5EF4-FFF2-40B4-BE49-F238E27FC236}">
                <a16:creationId xmlns:a16="http://schemas.microsoft.com/office/drawing/2014/main" id="{F4A09864-A2CC-4342-9548-F74576D99FF6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4007061" y="5926478"/>
            <a:ext cx="1206346" cy="314953"/>
          </a:xfrm>
          <a:prstGeom prst="bentConnector3">
            <a:avLst>
              <a:gd name="adj1" fmla="val 572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672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Эвристика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3EB6423-5A0E-4502-8E95-343D34D04AA7}"/>
              </a:ext>
            </a:extLst>
          </p:cNvPr>
          <p:cNvSpPr txBox="1">
            <a:spLocks/>
          </p:cNvSpPr>
          <p:nvPr/>
        </p:nvSpPr>
        <p:spPr>
          <a:xfrm>
            <a:off x="269480" y="1086280"/>
            <a:ext cx="11832323" cy="320501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0" i="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1400" dirty="0">
                <a:solidFill>
                  <a:schemeClr val="tx2"/>
                </a:solidFill>
                <a:latin typeface="+mn-lt"/>
              </a:rPr>
              <a:t>Расчет </a:t>
            </a:r>
            <a:r>
              <a:rPr lang="ru-RU" sz="1400" b="1" dirty="0">
                <a:solidFill>
                  <a:schemeClr val="tx2"/>
                </a:solidFill>
                <a:latin typeface="+mn-lt"/>
              </a:rPr>
              <a:t>неограниченной потребности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CAC506-AF86-4242-86EF-49CEC128A06C}"/>
              </a:ext>
            </a:extLst>
          </p:cNvPr>
          <p:cNvSpPr txBox="1"/>
          <p:nvPr/>
        </p:nvSpPr>
        <p:spPr>
          <a:xfrm>
            <a:off x="8262949" y="1246530"/>
            <a:ext cx="3659565" cy="504420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114935">
              <a:lnSpc>
                <a:spcPct val="107000"/>
              </a:lnSpc>
              <a:spcAft>
                <a:spcPts val="800"/>
              </a:spcAft>
            </a:pPr>
            <a:r>
              <a:rPr lang="ru-RU" sz="1200" b="1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Шаги расчета: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О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пределяем уровень узла в сети: от 0 до 99999999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ачинаем расчет планового остатка с 0 уровня узла, добавляя страховой запас в потребность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читаем поступления на 0 уровень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читаем плановый остаток на каждый период на 0 уровень после расчета поступлений</a:t>
            </a:r>
            <a:endParaRPr lang="ru-RU" sz="1100" dirty="0">
              <a:solidFill>
                <a:schemeClr val="tx2"/>
              </a:solidFill>
              <a:latin typeface="Manrope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читаем зависимый спрос, если поступления требуют компонент или перемещение из транспорта на 0 уровень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читаем плановый остаток на уровень + 1 с учетом зависимого спроса на уровень 0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Р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аспределяем зависимый спрос с учетом квот между альтернативными источниками поставки</a:t>
            </a:r>
          </a:p>
          <a:p>
            <a:pPr marL="457835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2"/>
                </a:solidFill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100" dirty="0">
                <a:solidFill>
                  <a:schemeClr val="tx2"/>
                </a:solidFill>
                <a:effectLst/>
                <a:latin typeface="Manrope"/>
                <a:ea typeface="Calibri" panose="020F0502020204030204" pitchFamily="34" charset="0"/>
                <a:cs typeface="Times New Roman" panose="02020603050405020304" pitchFamily="18" charset="0"/>
              </a:rPr>
              <a:t>се шаги расчета повторяются для каждого уровня</a:t>
            </a:r>
          </a:p>
        </p:txBody>
      </p:sp>
      <p:cxnSp>
        <p:nvCxnSpPr>
          <p:cNvPr id="32" name="Straight Connector 26">
            <a:extLst>
              <a:ext uri="{FF2B5EF4-FFF2-40B4-BE49-F238E27FC236}">
                <a16:creationId xmlns:a16="http://schemas.microsoft.com/office/drawing/2014/main" id="{7333F8E7-D9AD-4BDB-81F3-A178649B974D}"/>
              </a:ext>
            </a:extLst>
          </p:cNvPr>
          <p:cNvCxnSpPr>
            <a:cxnSpLocks/>
          </p:cNvCxnSpPr>
          <p:nvPr/>
        </p:nvCxnSpPr>
        <p:spPr>
          <a:xfrm>
            <a:off x="5493957" y="1802826"/>
            <a:ext cx="0" cy="251979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DF6C6049-232D-4367-9128-D6C965B15597}"/>
              </a:ext>
            </a:extLst>
          </p:cNvPr>
          <p:cNvCxnSpPr>
            <a:cxnSpLocks/>
          </p:cNvCxnSpPr>
          <p:nvPr/>
        </p:nvCxnSpPr>
        <p:spPr>
          <a:xfrm>
            <a:off x="1944045" y="3376102"/>
            <a:ext cx="1441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Выноска: стрелка вниз 37">
            <a:extLst>
              <a:ext uri="{FF2B5EF4-FFF2-40B4-BE49-F238E27FC236}">
                <a16:creationId xmlns:a16="http://schemas.microsoft.com/office/drawing/2014/main" id="{A691485E-8435-4773-808E-A05E81E766E4}"/>
              </a:ext>
            </a:extLst>
          </p:cNvPr>
          <p:cNvSpPr/>
          <p:nvPr/>
        </p:nvSpPr>
        <p:spPr>
          <a:xfrm>
            <a:off x="715902" y="1897168"/>
            <a:ext cx="1597204" cy="44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Уровень 2</a:t>
            </a:r>
          </a:p>
        </p:txBody>
      </p:sp>
      <p:sp>
        <p:nvSpPr>
          <p:cNvPr id="66" name="Выноска: стрелка вниз 38">
            <a:extLst>
              <a:ext uri="{FF2B5EF4-FFF2-40B4-BE49-F238E27FC236}">
                <a16:creationId xmlns:a16="http://schemas.microsoft.com/office/drawing/2014/main" id="{9490276D-D8A2-49D9-B860-783CD55D193E}"/>
              </a:ext>
            </a:extLst>
          </p:cNvPr>
          <p:cNvSpPr/>
          <p:nvPr/>
        </p:nvSpPr>
        <p:spPr>
          <a:xfrm>
            <a:off x="3285145" y="1897168"/>
            <a:ext cx="1597204" cy="44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Уровень 1</a:t>
            </a:r>
          </a:p>
        </p:txBody>
      </p:sp>
      <p:sp>
        <p:nvSpPr>
          <p:cNvPr id="67" name="Выноска: стрелка вниз 40">
            <a:extLst>
              <a:ext uri="{FF2B5EF4-FFF2-40B4-BE49-F238E27FC236}">
                <a16:creationId xmlns:a16="http://schemas.microsoft.com/office/drawing/2014/main" id="{3A2863C0-8335-4C57-A2C0-2807F307D5E7}"/>
              </a:ext>
            </a:extLst>
          </p:cNvPr>
          <p:cNvSpPr/>
          <p:nvPr/>
        </p:nvSpPr>
        <p:spPr>
          <a:xfrm>
            <a:off x="6140981" y="1903615"/>
            <a:ext cx="1597204" cy="445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Уровень 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C5BCCD-F21A-4438-879E-7845BADF6609}"/>
              </a:ext>
            </a:extLst>
          </p:cNvPr>
          <p:cNvSpPr txBox="1"/>
          <p:nvPr/>
        </p:nvSpPr>
        <p:spPr>
          <a:xfrm>
            <a:off x="2051297" y="2931153"/>
            <a:ext cx="10915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Зависимый спрос</a:t>
            </a:r>
          </a:p>
        </p:txBody>
      </p: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AF9ED77D-B67A-451D-9227-31212ABFECB2}"/>
              </a:ext>
            </a:extLst>
          </p:cNvPr>
          <p:cNvCxnSpPr>
            <a:cxnSpLocks/>
          </p:cNvCxnSpPr>
          <p:nvPr/>
        </p:nvCxnSpPr>
        <p:spPr>
          <a:xfrm>
            <a:off x="4558375" y="3376101"/>
            <a:ext cx="17161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7F5F9C7-A1A2-48F5-B24E-FE95D15727F2}"/>
              </a:ext>
            </a:extLst>
          </p:cNvPr>
          <p:cNvSpPr txBox="1"/>
          <p:nvPr/>
        </p:nvSpPr>
        <p:spPr>
          <a:xfrm>
            <a:off x="685398" y="3491844"/>
            <a:ext cx="1570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/>
              <a:t>Поставщик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738C74-A80A-4517-BEE7-C17C4EA13040}"/>
              </a:ext>
            </a:extLst>
          </p:cNvPr>
          <p:cNvSpPr txBox="1"/>
          <p:nvPr/>
        </p:nvSpPr>
        <p:spPr>
          <a:xfrm>
            <a:off x="3195410" y="3491844"/>
            <a:ext cx="15703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/>
              <a:t>Производство: </a:t>
            </a:r>
            <a:br>
              <a:rPr lang="ru-RU" sz="1100" b="1" dirty="0"/>
            </a:br>
            <a:r>
              <a:rPr lang="ru-RU" sz="1100" b="1" dirty="0"/>
              <a:t>полуфабрикат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3C0723-4371-4AC0-902A-57DCBAA1F9E1}"/>
              </a:ext>
            </a:extLst>
          </p:cNvPr>
          <p:cNvSpPr txBox="1"/>
          <p:nvPr/>
        </p:nvSpPr>
        <p:spPr>
          <a:xfrm>
            <a:off x="6939583" y="4002797"/>
            <a:ext cx="14878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/>
              <a:t>Плановый заказ </a:t>
            </a:r>
            <a:r>
              <a:rPr lang="en-US" sz="1100" b="1" dirty="0"/>
              <a:t>SNP</a:t>
            </a:r>
            <a:r>
              <a:rPr lang="ru-RU" sz="1100" b="1" dirty="0"/>
              <a:t>/</a:t>
            </a:r>
            <a:r>
              <a:rPr lang="en-US" sz="1100" b="1" dirty="0"/>
              <a:t>PS</a:t>
            </a:r>
            <a:endParaRPr lang="ru-RU" sz="1100" b="1" dirty="0"/>
          </a:p>
        </p:txBody>
      </p:sp>
      <p:pic>
        <p:nvPicPr>
          <p:cNvPr id="78" name="Graphic 65" descr="Factory outline">
            <a:extLst>
              <a:ext uri="{FF2B5EF4-FFF2-40B4-BE49-F238E27FC236}">
                <a16:creationId xmlns:a16="http://schemas.microsoft.com/office/drawing/2014/main" id="{12602B5C-9F04-4D73-A43C-442838A65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9111" y="2913002"/>
            <a:ext cx="665700" cy="665700"/>
          </a:xfrm>
          <a:prstGeom prst="rect">
            <a:avLst/>
          </a:prstGeom>
        </p:spPr>
      </p:pic>
      <p:pic>
        <p:nvPicPr>
          <p:cNvPr id="79" name="Picture 27">
            <a:extLst>
              <a:ext uri="{FF2B5EF4-FFF2-40B4-BE49-F238E27FC236}">
                <a16:creationId xmlns:a16="http://schemas.microsoft.com/office/drawing/2014/main" id="{E934A8B7-EB07-44AB-A04F-2CBDD3E5A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901" y="2991747"/>
            <a:ext cx="529321" cy="53456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0" name="Graphic 72">
            <a:extLst>
              <a:ext uri="{FF2B5EF4-FFF2-40B4-BE49-F238E27FC236}">
                <a16:creationId xmlns:a16="http://schemas.microsoft.com/office/drawing/2014/main" id="{0E0629E8-EF25-4975-A0F5-FEA69F004D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2435" y="2853038"/>
            <a:ext cx="261610" cy="261610"/>
          </a:xfrm>
          <a:prstGeom prst="rect">
            <a:avLst/>
          </a:prstGeom>
        </p:spPr>
      </p:pic>
      <p:pic>
        <p:nvPicPr>
          <p:cNvPr id="81" name="Graphic 73">
            <a:extLst>
              <a:ext uri="{FF2B5EF4-FFF2-40B4-BE49-F238E27FC236}">
                <a16:creationId xmlns:a16="http://schemas.microsoft.com/office/drawing/2014/main" id="{96A9E3E0-4EB3-4785-88CA-530C27F269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7352" y="2853038"/>
            <a:ext cx="261610" cy="26161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D42F843B-8370-4208-95B9-08FD368B3C03}"/>
              </a:ext>
            </a:extLst>
          </p:cNvPr>
          <p:cNvSpPr txBox="1"/>
          <p:nvPr/>
        </p:nvSpPr>
        <p:spPr>
          <a:xfrm>
            <a:off x="5990202" y="3491844"/>
            <a:ext cx="15703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/>
              <a:t>Производство: </a:t>
            </a:r>
            <a:br>
              <a:rPr lang="ru-RU" sz="1100" b="1" dirty="0"/>
            </a:br>
            <a:r>
              <a:rPr lang="ru-RU" sz="1100" b="1" dirty="0"/>
              <a:t>готовая продукция</a:t>
            </a:r>
          </a:p>
        </p:txBody>
      </p:sp>
      <p:pic>
        <p:nvPicPr>
          <p:cNvPr id="83" name="Graphic 61" descr="Factory outline">
            <a:extLst>
              <a:ext uri="{FF2B5EF4-FFF2-40B4-BE49-F238E27FC236}">
                <a16:creationId xmlns:a16="http://schemas.microsoft.com/office/drawing/2014/main" id="{78ED85A7-E049-41F5-B2F8-8F1E20519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2449" y="2910095"/>
            <a:ext cx="665700" cy="665700"/>
          </a:xfrm>
          <a:prstGeom prst="rect">
            <a:avLst/>
          </a:prstGeom>
        </p:spPr>
      </p:pic>
      <p:pic>
        <p:nvPicPr>
          <p:cNvPr id="84" name="Graphic 74">
            <a:extLst>
              <a:ext uri="{FF2B5EF4-FFF2-40B4-BE49-F238E27FC236}">
                <a16:creationId xmlns:a16="http://schemas.microsoft.com/office/drawing/2014/main" id="{DE953933-F104-4B09-92BA-543C780415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6923" y="2850131"/>
            <a:ext cx="261610" cy="261610"/>
          </a:xfrm>
          <a:prstGeom prst="rect">
            <a:avLst/>
          </a:prstGeom>
        </p:spPr>
      </p:pic>
      <p:cxnSp>
        <p:nvCxnSpPr>
          <p:cNvPr id="85" name="Straight Connector 78">
            <a:extLst>
              <a:ext uri="{FF2B5EF4-FFF2-40B4-BE49-F238E27FC236}">
                <a16:creationId xmlns:a16="http://schemas.microsoft.com/office/drawing/2014/main" id="{DAE805DF-089C-432A-BC40-98279DE78F8B}"/>
              </a:ext>
            </a:extLst>
          </p:cNvPr>
          <p:cNvCxnSpPr>
            <a:cxnSpLocks/>
          </p:cNvCxnSpPr>
          <p:nvPr/>
        </p:nvCxnSpPr>
        <p:spPr>
          <a:xfrm>
            <a:off x="2539160" y="1802826"/>
            <a:ext cx="0" cy="251979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7A90E188-B5BD-41A0-9754-C66F02AFF975}"/>
              </a:ext>
            </a:extLst>
          </p:cNvPr>
          <p:cNvSpPr txBox="1"/>
          <p:nvPr/>
        </p:nvSpPr>
        <p:spPr>
          <a:xfrm>
            <a:off x="4554264" y="2931153"/>
            <a:ext cx="10915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Зависимый спрос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551EEB4-3669-443D-9BDE-2EC39F8DE1CA}"/>
              </a:ext>
            </a:extLst>
          </p:cNvPr>
          <p:cNvSpPr txBox="1"/>
          <p:nvPr/>
        </p:nvSpPr>
        <p:spPr>
          <a:xfrm>
            <a:off x="7286549" y="3087430"/>
            <a:ext cx="10915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Заказ</a:t>
            </a:r>
          </a:p>
        </p:txBody>
      </p:sp>
      <p:pic>
        <p:nvPicPr>
          <p:cNvPr id="92" name="Graphic 70">
            <a:extLst>
              <a:ext uri="{FF2B5EF4-FFF2-40B4-BE49-F238E27FC236}">
                <a16:creationId xmlns:a16="http://schemas.microsoft.com/office/drawing/2014/main" id="{48DE1B22-5DC9-40EC-AAB2-DD4DDACC8E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343" y="6444258"/>
            <a:ext cx="261610" cy="26161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45454E32-61FB-4838-892E-5D4CBAF2557A}"/>
              </a:ext>
            </a:extLst>
          </p:cNvPr>
          <p:cNvSpPr txBox="1"/>
          <p:nvPr/>
        </p:nvSpPr>
        <p:spPr>
          <a:xfrm>
            <a:off x="781066" y="6444258"/>
            <a:ext cx="14720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/>
              <a:t>Требования ОСГ</a:t>
            </a:r>
          </a:p>
        </p:txBody>
      </p:sp>
      <p:pic>
        <p:nvPicPr>
          <p:cNvPr id="38" name="Picture 7">
            <a:extLst>
              <a:ext uri="{FF2B5EF4-FFF2-40B4-BE49-F238E27FC236}">
                <a16:creationId xmlns:a16="http://schemas.microsoft.com/office/drawing/2014/main" id="{417422FE-E256-403B-A152-781361A79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358" y="4270938"/>
            <a:ext cx="573750" cy="56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FFE9036-B641-4F59-BA58-F8E4B846120A}"/>
              </a:ext>
            </a:extLst>
          </p:cNvPr>
          <p:cNvSpPr txBox="1"/>
          <p:nvPr/>
        </p:nvSpPr>
        <p:spPr>
          <a:xfrm>
            <a:off x="6981829" y="4408176"/>
            <a:ext cx="14878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/>
              <a:t>Плановая первичная потребность</a:t>
            </a:r>
          </a:p>
        </p:txBody>
      </p:sp>
    </p:spTree>
    <p:extLst>
      <p:ext uri="{BB962C8B-B14F-4D97-AF65-F5344CB8AC3E}">
        <p14:creationId xmlns:p14="http://schemas.microsoft.com/office/powerpoint/2010/main" val="3564440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Эвристика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6118F-519A-4314-A1FF-6645E38D765B}"/>
              </a:ext>
            </a:extLst>
          </p:cNvPr>
          <p:cNvSpPr txBox="1"/>
          <p:nvPr/>
        </p:nvSpPr>
        <p:spPr>
          <a:xfrm>
            <a:off x="269481" y="110238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Расчет </a:t>
            </a:r>
            <a:r>
              <a:rPr lang="ru-RU" sz="1400" b="1" dirty="0"/>
              <a:t>неограниченной потребности с учетом ОСГ</a:t>
            </a:r>
            <a:endParaRPr lang="ru-RU" sz="1400" b="1" dirty="0">
              <a:solidFill>
                <a:schemeClr val="tx2"/>
              </a:solidFill>
            </a:endParaRPr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81DE2D3-E94F-4C21-B598-2B1558628134}"/>
              </a:ext>
            </a:extLst>
          </p:cNvPr>
          <p:cNvCxnSpPr>
            <a:cxnSpLocks/>
          </p:cNvCxnSpPr>
          <p:nvPr/>
        </p:nvCxnSpPr>
        <p:spPr>
          <a:xfrm>
            <a:off x="2277452" y="4349981"/>
            <a:ext cx="8287233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9C74093-6983-432D-826F-9F4A5935BEDA}"/>
              </a:ext>
            </a:extLst>
          </p:cNvPr>
          <p:cNvSpPr txBox="1"/>
          <p:nvPr/>
        </p:nvSpPr>
        <p:spPr>
          <a:xfrm>
            <a:off x="2277452" y="4349982"/>
            <a:ext cx="687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Время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CBBD4D-ECC7-47B6-A0C7-84B4E8933264}"/>
              </a:ext>
            </a:extLst>
          </p:cNvPr>
          <p:cNvSpPr txBox="1"/>
          <p:nvPr/>
        </p:nvSpPr>
        <p:spPr>
          <a:xfrm rot="16200000">
            <a:off x="142843" y="3346460"/>
            <a:ext cx="1724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Склад сырья и материалов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55CDFFA0-5D01-4C4C-9C58-8A1E449F7F8E}"/>
              </a:ext>
            </a:extLst>
          </p:cNvPr>
          <p:cNvCxnSpPr>
            <a:cxnSpLocks/>
          </p:cNvCxnSpPr>
          <p:nvPr/>
        </p:nvCxnSpPr>
        <p:spPr>
          <a:xfrm>
            <a:off x="2720511" y="4022797"/>
            <a:ext cx="5695879" cy="4157"/>
          </a:xfrm>
          <a:prstGeom prst="straightConnector1">
            <a:avLst/>
          </a:prstGeom>
          <a:ln>
            <a:solidFill>
              <a:schemeClr val="accent3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DB3B3784-E52C-4485-9318-325F25B0AF0F}"/>
              </a:ext>
            </a:extLst>
          </p:cNvPr>
          <p:cNvCxnSpPr>
            <a:cxnSpLocks/>
          </p:cNvCxnSpPr>
          <p:nvPr/>
        </p:nvCxnSpPr>
        <p:spPr>
          <a:xfrm>
            <a:off x="3999771" y="3501312"/>
            <a:ext cx="5507384" cy="0"/>
          </a:xfrm>
          <a:prstGeom prst="straightConnector1">
            <a:avLst/>
          </a:prstGeom>
          <a:ln>
            <a:solidFill>
              <a:schemeClr val="accent3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A2D153A1-7B8B-4EDB-B9A7-D621AD6F2C5C}"/>
              </a:ext>
            </a:extLst>
          </p:cNvPr>
          <p:cNvCxnSpPr>
            <a:cxnSpLocks/>
          </p:cNvCxnSpPr>
          <p:nvPr/>
        </p:nvCxnSpPr>
        <p:spPr>
          <a:xfrm flipV="1">
            <a:off x="2784172" y="2890822"/>
            <a:ext cx="4718554" cy="5554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C1E516D-58E3-465D-9E97-5409D4DC3B10}"/>
              </a:ext>
            </a:extLst>
          </p:cNvPr>
          <p:cNvSpPr txBox="1"/>
          <p:nvPr/>
        </p:nvSpPr>
        <p:spPr>
          <a:xfrm>
            <a:off x="1320908" y="3774142"/>
            <a:ext cx="9935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Партия 1: складской запас (80 шт)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C63B0B-5334-4936-A393-7558CC4AB36E}"/>
              </a:ext>
            </a:extLst>
          </p:cNvPr>
          <p:cNvSpPr txBox="1"/>
          <p:nvPr/>
        </p:nvSpPr>
        <p:spPr>
          <a:xfrm>
            <a:off x="1320908" y="3230387"/>
            <a:ext cx="9417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Партия 1: складской запас (20 шт)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19547419-7E5F-4819-87EA-DCB5D8397511}"/>
              </a:ext>
            </a:extLst>
          </p:cNvPr>
          <p:cNvGrpSpPr/>
          <p:nvPr/>
        </p:nvGrpSpPr>
        <p:grpSpPr>
          <a:xfrm>
            <a:off x="2238594" y="2830581"/>
            <a:ext cx="347841" cy="257880"/>
            <a:chOff x="2084321" y="3900799"/>
            <a:chExt cx="416567" cy="350264"/>
          </a:xfrm>
        </p:grpSpPr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7539F768-F233-496B-837C-F80D1AC87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>
              <a:off x="2097242" y="4048346"/>
              <a:ext cx="189796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  <p:pic>
          <p:nvPicPr>
            <p:cNvPr id="45" name="Рисунок 44">
              <a:extLst>
                <a:ext uri="{FF2B5EF4-FFF2-40B4-BE49-F238E27FC236}">
                  <a16:creationId xmlns:a16="http://schemas.microsoft.com/office/drawing/2014/main" id="{6D030ADC-274C-45B9-8704-63183143F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 flipV="1">
              <a:off x="2298172" y="4048346"/>
              <a:ext cx="189796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  <p:pic>
          <p:nvPicPr>
            <p:cNvPr id="46" name="Рисунок 45">
              <a:extLst>
                <a:ext uri="{FF2B5EF4-FFF2-40B4-BE49-F238E27FC236}">
                  <a16:creationId xmlns:a16="http://schemas.microsoft.com/office/drawing/2014/main" id="{3D7B68F7-F059-4B6A-9CA3-2E11CAE5F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 flipV="1">
              <a:off x="2188125" y="3887879"/>
              <a:ext cx="189797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C68689E-92A6-486B-A16E-6E90518462F7}"/>
              </a:ext>
            </a:extLst>
          </p:cNvPr>
          <p:cNvSpPr txBox="1"/>
          <p:nvPr/>
        </p:nvSpPr>
        <p:spPr>
          <a:xfrm>
            <a:off x="1320908" y="2687017"/>
            <a:ext cx="9915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Партия 1: складской запас (100 шт)</a:t>
            </a:r>
          </a:p>
        </p:txBody>
      </p:sp>
      <p:sp>
        <p:nvSpPr>
          <p:cNvPr id="48" name="Равнобедренный треугольник 47">
            <a:extLst>
              <a:ext uri="{FF2B5EF4-FFF2-40B4-BE49-F238E27FC236}">
                <a16:creationId xmlns:a16="http://schemas.microsoft.com/office/drawing/2014/main" id="{A54677BC-4B8C-40E2-B476-CAA2B23E5E39}"/>
              </a:ext>
            </a:extLst>
          </p:cNvPr>
          <p:cNvSpPr/>
          <p:nvPr/>
        </p:nvSpPr>
        <p:spPr>
          <a:xfrm>
            <a:off x="2784172" y="2823307"/>
            <a:ext cx="131428" cy="7082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49" name="Равнобедренный треугольник 48">
            <a:extLst>
              <a:ext uri="{FF2B5EF4-FFF2-40B4-BE49-F238E27FC236}">
                <a16:creationId xmlns:a16="http://schemas.microsoft.com/office/drawing/2014/main" id="{08D95BF1-8729-4B5B-96AF-16773F49A382}"/>
              </a:ext>
            </a:extLst>
          </p:cNvPr>
          <p:cNvSpPr/>
          <p:nvPr/>
        </p:nvSpPr>
        <p:spPr>
          <a:xfrm>
            <a:off x="3970239" y="3430251"/>
            <a:ext cx="131428" cy="7082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0" name="Равнобедренный треугольник 49">
            <a:extLst>
              <a:ext uri="{FF2B5EF4-FFF2-40B4-BE49-F238E27FC236}">
                <a16:creationId xmlns:a16="http://schemas.microsoft.com/office/drawing/2014/main" id="{61F38B69-A1BD-4C57-AE95-549DCEB13125}"/>
              </a:ext>
            </a:extLst>
          </p:cNvPr>
          <p:cNvSpPr/>
          <p:nvPr/>
        </p:nvSpPr>
        <p:spPr>
          <a:xfrm>
            <a:off x="2720511" y="3954608"/>
            <a:ext cx="131428" cy="7082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13D29179-DEBB-41E2-9271-553546BDDBCC}"/>
              </a:ext>
            </a:extLst>
          </p:cNvPr>
          <p:cNvSpPr/>
          <p:nvPr/>
        </p:nvSpPr>
        <p:spPr>
          <a:xfrm>
            <a:off x="4474896" y="1709757"/>
            <a:ext cx="1154405" cy="5178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Вторичная потребность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AE65815-AEF5-4D72-895B-20486EC0994D}"/>
              </a:ext>
            </a:extLst>
          </p:cNvPr>
          <p:cNvSpPr/>
          <p:nvPr/>
        </p:nvSpPr>
        <p:spPr>
          <a:xfrm>
            <a:off x="5786860" y="1953685"/>
            <a:ext cx="1294684" cy="5129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Вторичная потребность</a:t>
            </a:r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CC1D4931-C286-49F9-A637-40A31DD626AD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2786225" y="2231241"/>
            <a:ext cx="2464050" cy="1723367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E3F84D4F-EB78-4577-9FFA-CD444EB05268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4035953" y="2213561"/>
            <a:ext cx="1803430" cy="1216691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C206D1C-353B-456A-8D81-D7978FBAE63A}"/>
              </a:ext>
            </a:extLst>
          </p:cNvPr>
          <p:cNvSpPr txBox="1"/>
          <p:nvPr/>
        </p:nvSpPr>
        <p:spPr>
          <a:xfrm>
            <a:off x="8230229" y="4398593"/>
            <a:ext cx="864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28.01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D95CAE-7113-475A-A5AC-3CE7E92F736E}"/>
              </a:ext>
            </a:extLst>
          </p:cNvPr>
          <p:cNvSpPr txBox="1"/>
          <p:nvPr/>
        </p:nvSpPr>
        <p:spPr>
          <a:xfrm>
            <a:off x="2635737" y="4023525"/>
            <a:ext cx="1512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Дата доступности: 20.01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15C884-38A7-479E-9C9A-9A648C8B19A0}"/>
              </a:ext>
            </a:extLst>
          </p:cNvPr>
          <p:cNvSpPr txBox="1"/>
          <p:nvPr/>
        </p:nvSpPr>
        <p:spPr>
          <a:xfrm>
            <a:off x="3874576" y="3544527"/>
            <a:ext cx="1512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Дата доступности: 23.01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E419BE-811E-413F-BC28-EF82C2DD6799}"/>
              </a:ext>
            </a:extLst>
          </p:cNvPr>
          <p:cNvSpPr txBox="1"/>
          <p:nvPr/>
        </p:nvSpPr>
        <p:spPr>
          <a:xfrm>
            <a:off x="6966387" y="4026492"/>
            <a:ext cx="141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Дата истечения срока годности: 28.01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657BF4-35B7-4D3A-ABB7-F055B7D5FC24}"/>
              </a:ext>
            </a:extLst>
          </p:cNvPr>
          <p:cNvSpPr txBox="1"/>
          <p:nvPr/>
        </p:nvSpPr>
        <p:spPr>
          <a:xfrm>
            <a:off x="6174985" y="2903750"/>
            <a:ext cx="1419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Дата истечения срока годности: 24.01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B812DC-15B6-4827-A259-4B62F11AC921}"/>
              </a:ext>
            </a:extLst>
          </p:cNvPr>
          <p:cNvSpPr txBox="1"/>
          <p:nvPr/>
        </p:nvSpPr>
        <p:spPr>
          <a:xfrm>
            <a:off x="2668673" y="2890822"/>
            <a:ext cx="1512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Дата доступности: 20.01</a:t>
            </a:r>
          </a:p>
        </p:txBody>
      </p: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3A97D039-31D7-481A-BA7E-8F0013934899}"/>
              </a:ext>
            </a:extLst>
          </p:cNvPr>
          <p:cNvCxnSpPr>
            <a:cxnSpLocks/>
          </p:cNvCxnSpPr>
          <p:nvPr/>
        </p:nvCxnSpPr>
        <p:spPr>
          <a:xfrm>
            <a:off x="1302808" y="2673122"/>
            <a:ext cx="9926" cy="1642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D95980CA-CA81-47EA-AE6F-6F59FCA8B442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5052099" y="1571778"/>
            <a:ext cx="1733983" cy="137979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A2A201F-724B-4C4F-878B-8E118F1B0BF1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6434202" y="1536366"/>
            <a:ext cx="384737" cy="417319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BCA96C64-24DA-49A0-88EE-07C25FC23928}"/>
              </a:ext>
            </a:extLst>
          </p:cNvPr>
          <p:cNvCxnSpPr>
            <a:cxnSpLocks/>
          </p:cNvCxnSpPr>
          <p:nvPr/>
        </p:nvCxnSpPr>
        <p:spPr>
          <a:xfrm>
            <a:off x="6753225" y="1536384"/>
            <a:ext cx="2213684" cy="0"/>
          </a:xfrm>
          <a:prstGeom prst="straightConnector1">
            <a:avLst/>
          </a:prstGeom>
          <a:ln>
            <a:solidFill>
              <a:schemeClr val="bg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A4BA0CD-684B-410B-B65A-71AE92172B1B}"/>
              </a:ext>
            </a:extLst>
          </p:cNvPr>
          <p:cNvSpPr txBox="1"/>
          <p:nvPr/>
        </p:nvSpPr>
        <p:spPr>
          <a:xfrm>
            <a:off x="6209330" y="1118112"/>
            <a:ext cx="141933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Запрошенная дата 25.01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7084D0-AF06-43C1-A791-B7E8E037A9A0}"/>
              </a:ext>
            </a:extLst>
          </p:cNvPr>
          <p:cNvSpPr txBox="1"/>
          <p:nvPr/>
        </p:nvSpPr>
        <p:spPr>
          <a:xfrm>
            <a:off x="6818936" y="1324779"/>
            <a:ext cx="1681252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Плановый заказ на ГП или ПФ (100 шт)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B86AFC6-62FE-4B97-8896-0213A99AD5EA}"/>
              </a:ext>
            </a:extLst>
          </p:cNvPr>
          <p:cNvSpPr txBox="1"/>
          <p:nvPr/>
        </p:nvSpPr>
        <p:spPr>
          <a:xfrm>
            <a:off x="1248264" y="1571175"/>
            <a:ext cx="20047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Запрошенная самая ранняя дата истечения срока: 28.01</a:t>
            </a:r>
          </a:p>
        </p:txBody>
      </p: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79CBCD21-524F-4B20-8FCB-5DFBBEF11544}"/>
              </a:ext>
            </a:extLst>
          </p:cNvPr>
          <p:cNvGrpSpPr/>
          <p:nvPr/>
        </p:nvGrpSpPr>
        <p:grpSpPr>
          <a:xfrm>
            <a:off x="2230593" y="3365419"/>
            <a:ext cx="347841" cy="257880"/>
            <a:chOff x="2074739" y="4627240"/>
            <a:chExt cx="416567" cy="350264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FACD7419-C00D-45E3-992F-2B82ABF09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>
              <a:off x="2087660" y="4774787"/>
              <a:ext cx="189796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  <p:pic>
          <p:nvPicPr>
            <p:cNvPr id="72" name="Рисунок 71">
              <a:extLst>
                <a:ext uri="{FF2B5EF4-FFF2-40B4-BE49-F238E27FC236}">
                  <a16:creationId xmlns:a16="http://schemas.microsoft.com/office/drawing/2014/main" id="{6855632C-B344-4052-9343-F86B38444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 flipV="1">
              <a:off x="2288590" y="4774787"/>
              <a:ext cx="189796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  <p:pic>
          <p:nvPicPr>
            <p:cNvPr id="73" name="Рисунок 72">
              <a:extLst>
                <a:ext uri="{FF2B5EF4-FFF2-40B4-BE49-F238E27FC236}">
                  <a16:creationId xmlns:a16="http://schemas.microsoft.com/office/drawing/2014/main" id="{4E49BFA0-C979-4A01-864D-FF2E29D28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 flipV="1">
              <a:off x="2178543" y="4614320"/>
              <a:ext cx="189797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DB6A426D-3204-48F9-8739-DCB8477161F1}"/>
              </a:ext>
            </a:extLst>
          </p:cNvPr>
          <p:cNvGrpSpPr/>
          <p:nvPr/>
        </p:nvGrpSpPr>
        <p:grpSpPr>
          <a:xfrm>
            <a:off x="2222521" y="3896244"/>
            <a:ext cx="347841" cy="257880"/>
            <a:chOff x="2065073" y="5348231"/>
            <a:chExt cx="416567" cy="350264"/>
          </a:xfrm>
        </p:grpSpPr>
        <p:pic>
          <p:nvPicPr>
            <p:cNvPr id="75" name="Рисунок 74">
              <a:extLst>
                <a:ext uri="{FF2B5EF4-FFF2-40B4-BE49-F238E27FC236}">
                  <a16:creationId xmlns:a16="http://schemas.microsoft.com/office/drawing/2014/main" id="{559EE115-0F72-47F4-88F4-65FA47A4A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>
              <a:off x="2077994" y="5495778"/>
              <a:ext cx="189796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  <p:pic>
          <p:nvPicPr>
            <p:cNvPr id="76" name="Рисунок 75">
              <a:extLst>
                <a:ext uri="{FF2B5EF4-FFF2-40B4-BE49-F238E27FC236}">
                  <a16:creationId xmlns:a16="http://schemas.microsoft.com/office/drawing/2014/main" id="{7CFB1AC2-5CFC-4FD6-AFCC-FB6AD5F3C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 flipV="1">
              <a:off x="2278924" y="5495778"/>
              <a:ext cx="189796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  <p:pic>
          <p:nvPicPr>
            <p:cNvPr id="77" name="Рисунок 76">
              <a:extLst>
                <a:ext uri="{FF2B5EF4-FFF2-40B4-BE49-F238E27FC236}">
                  <a16:creationId xmlns:a16="http://schemas.microsoft.com/office/drawing/2014/main" id="{0920E32E-F74B-4642-AFCF-44225974D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5400000" flipV="1">
              <a:off x="2168877" y="5335311"/>
              <a:ext cx="189797" cy="215637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</p:pic>
      </p:grpSp>
      <p:pic>
        <p:nvPicPr>
          <p:cNvPr id="78" name="Рисунок 77" descr="Флажок со сплошной заливкой">
            <a:extLst>
              <a:ext uri="{FF2B5EF4-FFF2-40B4-BE49-F238E27FC236}">
                <a16:creationId xmlns:a16="http://schemas.microsoft.com/office/drawing/2014/main" id="{86DA71FB-3159-4713-81F4-80CFFDCDAA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7152" y="3348405"/>
            <a:ext cx="300606" cy="265048"/>
          </a:xfrm>
          <a:prstGeom prst="rect">
            <a:avLst/>
          </a:prstGeom>
        </p:spPr>
      </p:pic>
      <p:pic>
        <p:nvPicPr>
          <p:cNvPr id="79" name="Рисунок 78" descr="Закрыть со сплошной заливкой">
            <a:extLst>
              <a:ext uri="{FF2B5EF4-FFF2-40B4-BE49-F238E27FC236}">
                <a16:creationId xmlns:a16="http://schemas.microsoft.com/office/drawing/2014/main" id="{9C311982-D44B-4836-9198-2A11483147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1423" y="2869436"/>
            <a:ext cx="300606" cy="265048"/>
          </a:xfrm>
          <a:prstGeom prst="rect">
            <a:avLst/>
          </a:prstGeom>
        </p:spPr>
      </p:pic>
      <p:pic>
        <p:nvPicPr>
          <p:cNvPr id="80" name="Рисунок 79" descr="Флажок со сплошной заливкой">
            <a:extLst>
              <a:ext uri="{FF2B5EF4-FFF2-40B4-BE49-F238E27FC236}">
                <a16:creationId xmlns:a16="http://schemas.microsoft.com/office/drawing/2014/main" id="{3E0EAFD0-2412-4773-A9C7-86598B912A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7152" y="3852475"/>
            <a:ext cx="300606" cy="265048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421D6EB-B218-42F9-80B7-637B4333DA72}"/>
              </a:ext>
            </a:extLst>
          </p:cNvPr>
          <p:cNvSpPr txBox="1"/>
          <p:nvPr/>
        </p:nvSpPr>
        <p:spPr>
          <a:xfrm>
            <a:off x="9545655" y="3618722"/>
            <a:ext cx="1419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Соответствует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FD5A92F-B832-4000-A84D-BD0B805F2557}"/>
              </a:ext>
            </a:extLst>
          </p:cNvPr>
          <p:cNvSpPr txBox="1"/>
          <p:nvPr/>
        </p:nvSpPr>
        <p:spPr>
          <a:xfrm>
            <a:off x="9545655" y="4066662"/>
            <a:ext cx="1419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Соответствует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5DE152-4CF3-47F2-97D7-756C61A1DD0F}"/>
              </a:ext>
            </a:extLst>
          </p:cNvPr>
          <p:cNvSpPr txBox="1"/>
          <p:nvPr/>
        </p:nvSpPr>
        <p:spPr>
          <a:xfrm>
            <a:off x="9472228" y="3180391"/>
            <a:ext cx="1419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Не Соответствует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715134D-E114-4F89-8BBB-D70D6EE9AA14}"/>
              </a:ext>
            </a:extLst>
          </p:cNvPr>
          <p:cNvSpPr txBox="1"/>
          <p:nvPr/>
        </p:nvSpPr>
        <p:spPr>
          <a:xfrm>
            <a:off x="814854" y="4847185"/>
            <a:ext cx="4972006" cy="119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Сквозной учёт сроков годности: От СиМ → до ГП → до заказа: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RSL* ≥ MRSL** +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лидтайм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Динамическое квотирование: Распределение между локациями спроса и спецификациями (BOM)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с учётом приоритета «горящих» партий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B572ECA-2AF3-45B5-BB3B-5072A2216277}"/>
              </a:ext>
            </a:extLst>
          </p:cNvPr>
          <p:cNvSpPr txBox="1"/>
          <p:nvPr/>
        </p:nvSpPr>
        <p:spPr>
          <a:xfrm>
            <a:off x="6019173" y="4841304"/>
            <a:ext cx="5357973" cy="119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Интеграция с производством: Автоматический расчёт требований к ОСГ сырья через спецификации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BOM → RSL* СиМ ≥ СГ ГП + время пр-ва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Автопополнение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Закупки с учетом ОСГ новых партий, кратности и минимального объема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545566-6336-4D27-A4C8-7E10E6DF098A}"/>
              </a:ext>
            </a:extLst>
          </p:cNvPr>
          <p:cNvSpPr txBox="1"/>
          <p:nvPr/>
        </p:nvSpPr>
        <p:spPr>
          <a:xfrm>
            <a:off x="5346885" y="3837943"/>
            <a:ext cx="4902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80 </a:t>
            </a:r>
            <a:r>
              <a:rPr lang="ru-RU" sz="800" dirty="0" err="1">
                <a:solidFill>
                  <a:schemeClr val="tx2"/>
                </a:solidFill>
                <a:latin typeface="Manrope"/>
              </a:rPr>
              <a:t>шт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4C33501-F7F9-4827-97A2-4328772FE554}"/>
              </a:ext>
            </a:extLst>
          </p:cNvPr>
          <p:cNvSpPr txBox="1"/>
          <p:nvPr/>
        </p:nvSpPr>
        <p:spPr>
          <a:xfrm>
            <a:off x="6153588" y="3329563"/>
            <a:ext cx="4902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dirty="0">
                <a:solidFill>
                  <a:schemeClr val="tx2"/>
                </a:solidFill>
                <a:latin typeface="Manrope"/>
              </a:rPr>
              <a:t>2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0 </a:t>
            </a:r>
            <a:r>
              <a:rPr lang="ru-RU" sz="800" dirty="0" err="1">
                <a:solidFill>
                  <a:schemeClr val="tx2"/>
                </a:solidFill>
                <a:latin typeface="Manrope"/>
              </a:rPr>
              <a:t>шт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cxnSp>
        <p:nvCxnSpPr>
          <p:cNvPr id="142" name="Прямая соединительная линия 141">
            <a:extLst>
              <a:ext uri="{FF2B5EF4-FFF2-40B4-BE49-F238E27FC236}">
                <a16:creationId xmlns:a16="http://schemas.microsoft.com/office/drawing/2014/main" id="{96FC54DC-11AD-446A-B03E-BBF7255D5C66}"/>
              </a:ext>
            </a:extLst>
          </p:cNvPr>
          <p:cNvCxnSpPr>
            <a:cxnSpLocks/>
          </p:cNvCxnSpPr>
          <p:nvPr/>
        </p:nvCxnSpPr>
        <p:spPr>
          <a:xfrm>
            <a:off x="8416390" y="1663333"/>
            <a:ext cx="0" cy="268936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Прямая соединительная линия 142">
            <a:extLst>
              <a:ext uri="{FF2B5EF4-FFF2-40B4-BE49-F238E27FC236}">
                <a16:creationId xmlns:a16="http://schemas.microsoft.com/office/drawing/2014/main" id="{420DB2A0-C95E-44AC-8B6D-3DC604C8C23A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2772924" y="2227630"/>
            <a:ext cx="2279175" cy="172517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Прямая соединительная линия 143">
            <a:extLst>
              <a:ext uri="{FF2B5EF4-FFF2-40B4-BE49-F238E27FC236}">
                <a16:creationId xmlns:a16="http://schemas.microsoft.com/office/drawing/2014/main" id="{F21529B4-7D77-46A0-AF97-58E33E559FEA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4019886" y="2210157"/>
            <a:ext cx="1766974" cy="1216292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Прямая соединительная линия 144">
            <a:extLst>
              <a:ext uri="{FF2B5EF4-FFF2-40B4-BE49-F238E27FC236}">
                <a16:creationId xmlns:a16="http://schemas.microsoft.com/office/drawing/2014/main" id="{35908CBA-B1C2-4E15-9FBA-C43551455BDF}"/>
              </a:ext>
            </a:extLst>
          </p:cNvPr>
          <p:cNvCxnSpPr>
            <a:cxnSpLocks/>
            <a:stCxn id="51" idx="0"/>
            <a:endCxn id="68" idx="2"/>
          </p:cNvCxnSpPr>
          <p:nvPr/>
        </p:nvCxnSpPr>
        <p:spPr>
          <a:xfrm flipV="1">
            <a:off x="5052099" y="1663333"/>
            <a:ext cx="2607463" cy="4642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6" name="Прямая соединительная линия 145">
            <a:extLst>
              <a:ext uri="{FF2B5EF4-FFF2-40B4-BE49-F238E27FC236}">
                <a16:creationId xmlns:a16="http://schemas.microsoft.com/office/drawing/2014/main" id="{F1BA0139-69AA-452B-8578-2FBAAEC28448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6587482" y="1663333"/>
            <a:ext cx="1072080" cy="29412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0" name="Рисунок 159" descr="Закрыть со сплошной заливкой">
            <a:extLst>
              <a:ext uri="{FF2B5EF4-FFF2-40B4-BE49-F238E27FC236}">
                <a16:creationId xmlns:a16="http://schemas.microsoft.com/office/drawing/2014/main" id="{41D53A07-0005-4AA8-8822-CD86D874E0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0386" y="2884487"/>
            <a:ext cx="300606" cy="265048"/>
          </a:xfrm>
          <a:prstGeom prst="rect">
            <a:avLst/>
          </a:prstGeom>
        </p:spPr>
      </p:pic>
      <p:pic>
        <p:nvPicPr>
          <p:cNvPr id="161" name="Рисунок 160" descr="Флажок со сплошной заливкой">
            <a:extLst>
              <a:ext uri="{FF2B5EF4-FFF2-40B4-BE49-F238E27FC236}">
                <a16:creationId xmlns:a16="http://schemas.microsoft.com/office/drawing/2014/main" id="{B96FAD51-1D99-45C1-BC8E-2F5133E0AC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56115" y="3867526"/>
            <a:ext cx="300606" cy="265048"/>
          </a:xfrm>
          <a:prstGeom prst="rect">
            <a:avLst/>
          </a:prstGeom>
        </p:spPr>
      </p:pic>
      <p:pic>
        <p:nvPicPr>
          <p:cNvPr id="162" name="Рисунок 161" descr="Флажок со сплошной заливкой">
            <a:extLst>
              <a:ext uri="{FF2B5EF4-FFF2-40B4-BE49-F238E27FC236}">
                <a16:creationId xmlns:a16="http://schemas.microsoft.com/office/drawing/2014/main" id="{201C6026-0149-484E-8B6D-5844A31ED8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47138" y="3417417"/>
            <a:ext cx="300606" cy="2650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35EED0-C5B7-46B5-A910-8738072760AE}"/>
              </a:ext>
            </a:extLst>
          </p:cNvPr>
          <p:cNvSpPr txBox="1"/>
          <p:nvPr/>
        </p:nvSpPr>
        <p:spPr>
          <a:xfrm>
            <a:off x="814854" y="6303060"/>
            <a:ext cx="3795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/>
              <a:t>*</a:t>
            </a:r>
            <a:r>
              <a:rPr lang="en-US" sz="1000" dirty="0"/>
              <a:t>RSL </a:t>
            </a:r>
            <a:r>
              <a:rPr lang="ru-RU" sz="1000" dirty="0"/>
              <a:t>– остаточный срок годности</a:t>
            </a:r>
          </a:p>
          <a:p>
            <a:r>
              <a:rPr lang="ru-RU" sz="1000" dirty="0"/>
              <a:t>**</a:t>
            </a:r>
            <a:r>
              <a:rPr lang="en-US" sz="1000" dirty="0"/>
              <a:t>MRSL </a:t>
            </a:r>
            <a:r>
              <a:rPr lang="ru-RU" sz="1000" dirty="0"/>
              <a:t>– минимальный остаточный срок годности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3E2EE-7CB4-4223-9D00-5AACEC4638DC}"/>
              </a:ext>
            </a:extLst>
          </p:cNvPr>
          <p:cNvSpPr txBox="1"/>
          <p:nvPr/>
        </p:nvSpPr>
        <p:spPr>
          <a:xfrm>
            <a:off x="8075121" y="3493706"/>
            <a:ext cx="1419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nrope"/>
                <a:ea typeface="+mn-ea"/>
                <a:cs typeface="+mn-cs"/>
              </a:rPr>
              <a:t>Дата истечения срока годности: 05.02</a:t>
            </a:r>
          </a:p>
        </p:txBody>
      </p:sp>
    </p:spTree>
    <p:extLst>
      <p:ext uri="{BB962C8B-B14F-4D97-AF65-F5344CB8AC3E}">
        <p14:creationId xmlns:p14="http://schemas.microsoft.com/office/powerpoint/2010/main" val="1337927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Интерфейсы для специалистов планирования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404B6-8DEB-4579-82E4-F1E96D9F3BF5}"/>
              </a:ext>
            </a:extLst>
          </p:cNvPr>
          <p:cNvSpPr txBox="1"/>
          <p:nvPr/>
        </p:nvSpPr>
        <p:spPr>
          <a:xfrm>
            <a:off x="108116" y="929226"/>
            <a:ext cx="119852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Manrope" charset="0"/>
                <a:cs typeface="Times New Roman" panose="02020603050405020304" pitchFamily="18" charset="0"/>
              </a:rPr>
              <a:t>Предупреждения</a:t>
            </a:r>
            <a:r>
              <a:rPr lang="ru-RU" sz="1600" dirty="0">
                <a:latin typeface="Manrope" charset="0"/>
                <a:cs typeface="Times New Roman" panose="02020603050405020304" pitchFamily="18" charset="0"/>
              </a:rPr>
              <a:t> — это гибкий и мощный инструмент, который помогает плановику быстро выявлять критические точки. Они могут сигнализировать о недостатке мощностей, превышении спроса, проблемах с поставками и других важных событиях. Они настраиваются пользователем под конкретные бизнес-потребности в самой системе.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B0571A-1C41-435B-A666-ADFD68CA5B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25293" b="15807"/>
          <a:stretch/>
        </p:blipFill>
        <p:spPr>
          <a:xfrm>
            <a:off x="2985247" y="1873263"/>
            <a:ext cx="9108141" cy="4862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2B6017-BB7E-4B1E-9AF9-603588A3BC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63"/>
          <a:stretch/>
        </p:blipFill>
        <p:spPr>
          <a:xfrm>
            <a:off x="142952" y="1873263"/>
            <a:ext cx="2748295" cy="48623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0626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Интерфейсы для специалистов планирования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5252E09-EEC8-449B-AB55-9B1901E37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097" b="12114"/>
          <a:stretch/>
        </p:blipFill>
        <p:spPr>
          <a:xfrm>
            <a:off x="6627070" y="955995"/>
            <a:ext cx="5339213" cy="32996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A4E9118-5AB7-4680-B3B9-ECBF1B83B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38" y="913549"/>
            <a:ext cx="6381504" cy="26430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5848B50-4FFE-45D3-B67E-BF4780640B08}"/>
              </a:ext>
            </a:extLst>
          </p:cNvPr>
          <p:cNvSpPr/>
          <p:nvPr/>
        </p:nvSpPr>
        <p:spPr>
          <a:xfrm>
            <a:off x="118852" y="2392267"/>
            <a:ext cx="3800711" cy="1756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50F59DD-C60F-4A4D-8540-5CE83267F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26" y="4815707"/>
            <a:ext cx="2697793" cy="16306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D91D1DB-A7EF-4CE6-8E53-B3C92446C19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837"/>
          <a:stretch/>
        </p:blipFill>
        <p:spPr>
          <a:xfrm>
            <a:off x="8581282" y="4816071"/>
            <a:ext cx="3340640" cy="16273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6" name="Облачко с текстом: прямоугольное 15">
            <a:extLst>
              <a:ext uri="{FF2B5EF4-FFF2-40B4-BE49-F238E27FC236}">
                <a16:creationId xmlns:a16="http://schemas.microsoft.com/office/drawing/2014/main" id="{441A64BD-D5E2-41FF-81D4-A0389010B2B1}"/>
              </a:ext>
            </a:extLst>
          </p:cNvPr>
          <p:cNvSpPr/>
          <p:nvPr/>
        </p:nvSpPr>
        <p:spPr>
          <a:xfrm>
            <a:off x="326968" y="4447137"/>
            <a:ext cx="2371909" cy="259200"/>
          </a:xfrm>
          <a:prstGeom prst="wedgeRectCallout">
            <a:avLst>
              <a:gd name="adj1" fmla="val 34519"/>
              <a:gd name="adj2" fmla="val 2838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Пример. Отчет по ОСГ</a:t>
            </a:r>
          </a:p>
        </p:txBody>
      </p:sp>
      <p:sp>
        <p:nvSpPr>
          <p:cNvPr id="17" name="Облачко с текстом: прямоугольное 16">
            <a:extLst>
              <a:ext uri="{FF2B5EF4-FFF2-40B4-BE49-F238E27FC236}">
                <a16:creationId xmlns:a16="http://schemas.microsoft.com/office/drawing/2014/main" id="{0D18A314-6D5C-4584-8847-B75E6F94FAE8}"/>
              </a:ext>
            </a:extLst>
          </p:cNvPr>
          <p:cNvSpPr/>
          <p:nvPr/>
        </p:nvSpPr>
        <p:spPr>
          <a:xfrm>
            <a:off x="9065648" y="4440868"/>
            <a:ext cx="2371909" cy="259200"/>
          </a:xfrm>
          <a:prstGeom prst="wedgeRectCallout">
            <a:avLst>
              <a:gd name="adj1" fmla="val 34519"/>
              <a:gd name="adj2" fmla="val 2838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Пример. Загрузка мощностей</a:t>
            </a:r>
          </a:p>
        </p:txBody>
      </p:sp>
      <p:pic>
        <p:nvPicPr>
          <p:cNvPr id="18" name="Picture 9">
            <a:extLst>
              <a:ext uri="{FF2B5EF4-FFF2-40B4-BE49-F238E27FC236}">
                <a16:creationId xmlns:a16="http://schemas.microsoft.com/office/drawing/2014/main" id="{1928DE34-2B17-4FF4-BD7A-B0D76E1A58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7443" y="4816069"/>
            <a:ext cx="2575923" cy="16273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21" name="Облачко с текстом: прямоугольное 20">
            <a:extLst>
              <a:ext uri="{FF2B5EF4-FFF2-40B4-BE49-F238E27FC236}">
                <a16:creationId xmlns:a16="http://schemas.microsoft.com/office/drawing/2014/main" id="{525FFDDF-888A-4C7A-8604-EDA9F8665556}"/>
              </a:ext>
            </a:extLst>
          </p:cNvPr>
          <p:cNvSpPr/>
          <p:nvPr/>
        </p:nvSpPr>
        <p:spPr>
          <a:xfrm>
            <a:off x="3139450" y="4451408"/>
            <a:ext cx="2371909" cy="259200"/>
          </a:xfrm>
          <a:prstGeom prst="wedgeRectCallout">
            <a:avLst>
              <a:gd name="adj1" fmla="val 34519"/>
              <a:gd name="adj2" fmla="val 2838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Пример. Отчет по рискам</a:t>
            </a:r>
          </a:p>
        </p:txBody>
      </p:sp>
      <p:pic>
        <p:nvPicPr>
          <p:cNvPr id="22" name="Picture 14">
            <a:extLst>
              <a:ext uri="{FF2B5EF4-FFF2-40B4-BE49-F238E27FC236}">
                <a16:creationId xmlns:a16="http://schemas.microsoft.com/office/drawing/2014/main" id="{7A5BCC75-1CD6-4E2F-93AC-D8363FA1A3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4628" y="4816070"/>
            <a:ext cx="2590202" cy="16273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23" name="Облачко с текстом: прямоугольное 22">
            <a:extLst>
              <a:ext uri="{FF2B5EF4-FFF2-40B4-BE49-F238E27FC236}">
                <a16:creationId xmlns:a16="http://schemas.microsoft.com/office/drawing/2014/main" id="{50C4D93A-8D5D-4C23-9B38-B15FC0DD8A06}"/>
              </a:ext>
            </a:extLst>
          </p:cNvPr>
          <p:cNvSpPr/>
          <p:nvPr/>
        </p:nvSpPr>
        <p:spPr>
          <a:xfrm>
            <a:off x="5973775" y="4445992"/>
            <a:ext cx="2371909" cy="259200"/>
          </a:xfrm>
          <a:prstGeom prst="wedgeRectCallout">
            <a:avLst>
              <a:gd name="adj1" fmla="val 34519"/>
              <a:gd name="adj2" fmla="val 2838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Пример. </a:t>
            </a:r>
            <a:r>
              <a:rPr lang="en-US" sz="1200" dirty="0"/>
              <a:t>PSOH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033993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122890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Интерфейсы для специалистов планирования. </a:t>
            </a:r>
            <a:r>
              <a:rPr lang="ru-RU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Анализ результатов представляет из себя ведомость обеспеченности  (если сравнивать с 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SAP</a:t>
            </a:r>
            <a:r>
              <a:rPr lang="ru-RU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, то это 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MD04</a:t>
            </a:r>
            <a:r>
              <a:rPr lang="ru-RU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 и 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RRP3)</a:t>
            </a:r>
            <a:endParaRPr lang="ru-RU" dirty="0"/>
          </a:p>
        </p:txBody>
      </p:sp>
      <p:pic>
        <p:nvPicPr>
          <p:cNvPr id="19" name="Рисунок 4">
            <a:extLst>
              <a:ext uri="{FF2B5EF4-FFF2-40B4-BE49-F238E27FC236}">
                <a16:creationId xmlns:a16="http://schemas.microsoft.com/office/drawing/2014/main" id="{1174881E-0B73-482D-83C3-016FC8ADEA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12"/>
          <a:stretch/>
        </p:blipFill>
        <p:spPr>
          <a:xfrm>
            <a:off x="726141" y="1049505"/>
            <a:ext cx="10739718" cy="5511800"/>
          </a:xfrm>
          <a:prstGeom prst="rect">
            <a:avLst/>
          </a:prstGeom>
        </p:spPr>
      </p:pic>
      <p:sp>
        <p:nvSpPr>
          <p:cNvPr id="20" name="Прямоугольник 5">
            <a:extLst>
              <a:ext uri="{FF2B5EF4-FFF2-40B4-BE49-F238E27FC236}">
                <a16:creationId xmlns:a16="http://schemas.microsoft.com/office/drawing/2014/main" id="{A4C58AA7-6203-4FF5-8E45-49688B5FF4CE}"/>
              </a:ext>
            </a:extLst>
          </p:cNvPr>
          <p:cNvSpPr/>
          <p:nvPr/>
        </p:nvSpPr>
        <p:spPr>
          <a:xfrm>
            <a:off x="3119523" y="1156684"/>
            <a:ext cx="4065216" cy="40853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1. Анализ результатов необходим для контроля покрытия потребностей нашими планами и анализа картины по обеспеченности </a:t>
            </a:r>
          </a:p>
        </p:txBody>
      </p:sp>
      <p:sp>
        <p:nvSpPr>
          <p:cNvPr id="24" name="Облачко с текстом: прямоугольное 23">
            <a:extLst>
              <a:ext uri="{FF2B5EF4-FFF2-40B4-BE49-F238E27FC236}">
                <a16:creationId xmlns:a16="http://schemas.microsoft.com/office/drawing/2014/main" id="{262E7A66-DE3C-4601-B9F6-D0B22E01DE1F}"/>
              </a:ext>
            </a:extLst>
          </p:cNvPr>
          <p:cNvSpPr/>
          <p:nvPr/>
        </p:nvSpPr>
        <p:spPr>
          <a:xfrm>
            <a:off x="4918577" y="1848412"/>
            <a:ext cx="2266162" cy="330160"/>
          </a:xfrm>
          <a:prstGeom prst="wedgeRectCallout">
            <a:avLst>
              <a:gd name="adj1" fmla="val -17642"/>
              <a:gd name="adj2" fmla="val 72286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2. Понедельная детализация</a:t>
            </a:r>
          </a:p>
        </p:txBody>
      </p:sp>
      <p:sp>
        <p:nvSpPr>
          <p:cNvPr id="25" name="Облачко с текстом: прямоугольное 24">
            <a:extLst>
              <a:ext uri="{FF2B5EF4-FFF2-40B4-BE49-F238E27FC236}">
                <a16:creationId xmlns:a16="http://schemas.microsoft.com/office/drawing/2014/main" id="{7B0FDE32-B94A-4DDD-9640-0FA91D5C6458}"/>
              </a:ext>
            </a:extLst>
          </p:cNvPr>
          <p:cNvSpPr/>
          <p:nvPr/>
        </p:nvSpPr>
        <p:spPr>
          <a:xfrm>
            <a:off x="4918577" y="3286594"/>
            <a:ext cx="2266162" cy="330160"/>
          </a:xfrm>
          <a:prstGeom prst="wedgeRectCallout">
            <a:avLst>
              <a:gd name="adj1" fmla="val 31327"/>
              <a:gd name="adj2" fmla="val 83042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3. Расчет обеспеченности по всем продуктам</a:t>
            </a:r>
          </a:p>
        </p:txBody>
      </p:sp>
      <p:sp>
        <p:nvSpPr>
          <p:cNvPr id="26" name="Облачко с текстом: прямоугольное 25">
            <a:extLst>
              <a:ext uri="{FF2B5EF4-FFF2-40B4-BE49-F238E27FC236}">
                <a16:creationId xmlns:a16="http://schemas.microsoft.com/office/drawing/2014/main" id="{199F5055-8C59-4134-9E8F-E5FD560FB230}"/>
              </a:ext>
            </a:extLst>
          </p:cNvPr>
          <p:cNvSpPr/>
          <p:nvPr/>
        </p:nvSpPr>
        <p:spPr>
          <a:xfrm>
            <a:off x="3295443" y="3994058"/>
            <a:ext cx="4667688" cy="414592"/>
          </a:xfrm>
          <a:prstGeom prst="wedgeRectCallout">
            <a:avLst>
              <a:gd name="adj1" fmla="val -31133"/>
              <a:gd name="adj2" fmla="val 88931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4. Детализация выбранного продукта и пооперационный баланс с возможностью корректировки плановых заказов (время, количество, вариант изготовления)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AE0310B-3503-46C5-BDA7-CDCA22B6FDBA}"/>
              </a:ext>
            </a:extLst>
          </p:cNvPr>
          <p:cNvSpPr/>
          <p:nvPr/>
        </p:nvSpPr>
        <p:spPr>
          <a:xfrm>
            <a:off x="791941" y="4593022"/>
            <a:ext cx="9010835" cy="1900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блачко с текстом: прямоугольное 9">
            <a:extLst>
              <a:ext uri="{FF2B5EF4-FFF2-40B4-BE49-F238E27FC236}">
                <a16:creationId xmlns:a16="http://schemas.microsoft.com/office/drawing/2014/main" id="{A09F1456-ED7B-4F4F-AF90-E741C8C2CCB6}"/>
              </a:ext>
            </a:extLst>
          </p:cNvPr>
          <p:cNvSpPr/>
          <p:nvPr/>
        </p:nvSpPr>
        <p:spPr>
          <a:xfrm>
            <a:off x="8905959" y="1848412"/>
            <a:ext cx="2266162" cy="330160"/>
          </a:xfrm>
          <a:prstGeom prst="wedgeRectCallout">
            <a:avLst>
              <a:gd name="adj1" fmla="val 11873"/>
              <a:gd name="adj2" fmla="val -81579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Гибкий фильтр (завод, плановик, продукт и т.д.)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A4EC6E-8BEE-4ED4-B267-742BC28B447E}"/>
              </a:ext>
            </a:extLst>
          </p:cNvPr>
          <p:cNvSpPr/>
          <p:nvPr/>
        </p:nvSpPr>
        <p:spPr>
          <a:xfrm>
            <a:off x="791941" y="1156684"/>
            <a:ext cx="373471" cy="29559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4E0221-1C78-4E76-A053-397734A12C28}"/>
              </a:ext>
            </a:extLst>
          </p:cNvPr>
          <p:cNvSpPr/>
          <p:nvPr/>
        </p:nvSpPr>
        <p:spPr>
          <a:xfrm>
            <a:off x="726141" y="1411662"/>
            <a:ext cx="373471" cy="29559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722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12CFC7-D5C8-4326-8E1B-CEBFC8E8C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A173F0-461D-4348-B1AE-0BF2BC5F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экрана балансировки элементов планирования как развитие </a:t>
            </a:r>
            <a:r>
              <a:rPr lang="en-US" dirty="0"/>
              <a:t>PS </a:t>
            </a:r>
            <a:r>
              <a:rPr lang="ru-RU" dirty="0"/>
              <a:t>Анализ результатов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9AD42-8925-4910-8979-AB547DF57A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8" r="263" b="576"/>
          <a:stretch/>
        </p:blipFill>
        <p:spPr>
          <a:xfrm>
            <a:off x="340536" y="964850"/>
            <a:ext cx="9566516" cy="5347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5498D2-75DB-4D08-9EDB-8866EB9026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26"/>
          <a:stretch/>
        </p:blipFill>
        <p:spPr>
          <a:xfrm>
            <a:off x="5692404" y="2708772"/>
            <a:ext cx="5797506" cy="313613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A3730C-ECBD-4512-AA0E-072944654DAB}"/>
              </a:ext>
            </a:extLst>
          </p:cNvPr>
          <p:cNvCxnSpPr/>
          <p:nvPr/>
        </p:nvCxnSpPr>
        <p:spPr>
          <a:xfrm>
            <a:off x="7321506" y="1696370"/>
            <a:ext cx="252248" cy="1012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блачко с текстом: прямоугольное 23">
            <a:extLst>
              <a:ext uri="{FF2B5EF4-FFF2-40B4-BE49-F238E27FC236}">
                <a16:creationId xmlns:a16="http://schemas.microsoft.com/office/drawing/2014/main" id="{ED5684FB-6E14-45F5-AF31-FC45435E1E0C}"/>
              </a:ext>
            </a:extLst>
          </p:cNvPr>
          <p:cNvSpPr/>
          <p:nvPr/>
        </p:nvSpPr>
        <p:spPr>
          <a:xfrm>
            <a:off x="5437003" y="894791"/>
            <a:ext cx="3154154" cy="423683"/>
          </a:xfrm>
          <a:prstGeom prst="wedgeRectCallout">
            <a:avLst>
              <a:gd name="adj1" fmla="val 10599"/>
              <a:gd name="adj2" fmla="val 96764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2. Возможность создать/управлять фиксацией/редактировать плановые заказы, заявки на закупку и перемещение</a:t>
            </a:r>
          </a:p>
        </p:txBody>
      </p:sp>
      <p:sp>
        <p:nvSpPr>
          <p:cNvPr id="11" name="Облачко с текстом: прямоугольное 24">
            <a:extLst>
              <a:ext uri="{FF2B5EF4-FFF2-40B4-BE49-F238E27FC236}">
                <a16:creationId xmlns:a16="http://schemas.microsoft.com/office/drawing/2014/main" id="{DA5FC1E3-1859-41F2-821B-E69196668374}"/>
              </a:ext>
            </a:extLst>
          </p:cNvPr>
          <p:cNvSpPr/>
          <p:nvPr/>
        </p:nvSpPr>
        <p:spPr>
          <a:xfrm>
            <a:off x="8218584" y="2503474"/>
            <a:ext cx="2266162" cy="330160"/>
          </a:xfrm>
          <a:prstGeom prst="wedgeRectCallout">
            <a:avLst>
              <a:gd name="adj1" fmla="val 31327"/>
              <a:gd name="adj2" fmla="val 83042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3. Пример выбора источника поставки для планового заказа на производство</a:t>
            </a:r>
          </a:p>
        </p:txBody>
      </p:sp>
      <p:sp>
        <p:nvSpPr>
          <p:cNvPr id="12" name="Облачко с текстом: прямоугольное 24">
            <a:extLst>
              <a:ext uri="{FF2B5EF4-FFF2-40B4-BE49-F238E27FC236}">
                <a16:creationId xmlns:a16="http://schemas.microsoft.com/office/drawing/2014/main" id="{817A64B1-059E-46E6-BEC4-53301E1CC652}"/>
              </a:ext>
            </a:extLst>
          </p:cNvPr>
          <p:cNvSpPr/>
          <p:nvPr/>
        </p:nvSpPr>
        <p:spPr>
          <a:xfrm>
            <a:off x="2988027" y="902668"/>
            <a:ext cx="2266162" cy="423683"/>
          </a:xfrm>
          <a:prstGeom prst="wedgeRectCallout">
            <a:avLst>
              <a:gd name="adj1" fmla="val 48887"/>
              <a:gd name="adj2" fmla="val 141921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1. Онлайн расчет планового остатка/баланса по выведенным элементам</a:t>
            </a:r>
          </a:p>
        </p:txBody>
      </p:sp>
      <p:sp>
        <p:nvSpPr>
          <p:cNvPr id="13" name="Облачко с текстом: прямоугольное 24">
            <a:extLst>
              <a:ext uri="{FF2B5EF4-FFF2-40B4-BE49-F238E27FC236}">
                <a16:creationId xmlns:a16="http://schemas.microsoft.com/office/drawing/2014/main" id="{29EE3AE5-79D3-4937-BA5F-B994715005AA}"/>
              </a:ext>
            </a:extLst>
          </p:cNvPr>
          <p:cNvSpPr/>
          <p:nvPr/>
        </p:nvSpPr>
        <p:spPr>
          <a:xfrm>
            <a:off x="9983788" y="1037908"/>
            <a:ext cx="2266162" cy="330160"/>
          </a:xfrm>
          <a:prstGeom prst="wedgeRectCallout">
            <a:avLst>
              <a:gd name="adj1" fmla="val -60582"/>
              <a:gd name="adj2" fmla="val 6109"/>
            </a:avLst>
          </a:prstGeom>
          <a:solidFill>
            <a:schemeClr val="accent1">
              <a:alpha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900" dirty="0">
                <a:solidFill>
                  <a:schemeClr val="bg1"/>
                </a:solidFill>
                <a:cs typeface="Times New Roman" panose="02020603050405020304" pitchFamily="18" charset="0"/>
              </a:rPr>
              <a:t>4. Возможность запуска процессов планирования на рабочей выборке</a:t>
            </a:r>
          </a:p>
        </p:txBody>
      </p:sp>
    </p:spTree>
    <p:extLst>
      <p:ext uri="{BB962C8B-B14F-4D97-AF65-F5344CB8AC3E}">
        <p14:creationId xmlns:p14="http://schemas.microsoft.com/office/powerpoint/2010/main" val="4218824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lang="ru-RU" b="0" dirty="0">
                <a:latin typeface="+mj-lt"/>
                <a:cs typeface="Arial" panose="020B0604020202020204" pitchFamily="34" charset="0"/>
              </a:rPr>
              <a:t>Алгоритм </a:t>
            </a:r>
            <a:r>
              <a:rPr lang="en-US" b="0" dirty="0">
                <a:latin typeface="+mj-lt"/>
                <a:cs typeface="Arial" panose="020B0604020202020204" pitchFamily="34" charset="0"/>
              </a:rPr>
              <a:t>TLB</a:t>
            </a:r>
            <a:endParaRPr lang="ru-RU" b="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83" name="Rectangle 1">
            <a:extLst>
              <a:ext uri="{FF2B5EF4-FFF2-40B4-BE49-F238E27FC236}">
                <a16:creationId xmlns:a16="http://schemas.microsoft.com/office/drawing/2014/main" id="{9B8A04D5-EE80-428A-AF7C-7F9746CD6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3859"/>
            <a:ext cx="12075459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</a:pPr>
            <a:r>
              <a:rPr lang="ru-RU" altLang="ru-RU" sz="1400" b="1" dirty="0">
                <a:latin typeface="Manrope" charset="0"/>
                <a:cs typeface="Times New Roman" panose="02020603050405020304" pitchFamily="18" charset="0"/>
              </a:rPr>
              <a:t>Алгоритм Загрузка транспортных средств (т/с)</a:t>
            </a:r>
            <a:r>
              <a:rPr lang="ru-RU" altLang="ru-RU" sz="1400" dirty="0">
                <a:latin typeface="Manrope" charset="0"/>
                <a:cs typeface="Times New Roman" panose="02020603050405020304" pitchFamily="18" charset="0"/>
              </a:rPr>
              <a:t> позволяет автоматически формировать полную загрузку транспортных средств с учетом установленных Пользователем ограничений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17FEC4CD-0149-483F-80D0-CB03FAB70528}"/>
              </a:ext>
            </a:extLst>
          </p:cNvPr>
          <p:cNvGrpSpPr/>
          <p:nvPr/>
        </p:nvGrpSpPr>
        <p:grpSpPr>
          <a:xfrm>
            <a:off x="468973" y="2066529"/>
            <a:ext cx="10575545" cy="4405065"/>
            <a:chOff x="468973" y="2066529"/>
            <a:chExt cx="10575545" cy="4405065"/>
          </a:xfrm>
        </p:grpSpPr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88827725-BCD7-4220-8345-4B13DCDB4517}"/>
                </a:ext>
              </a:extLst>
            </p:cNvPr>
            <p:cNvGrpSpPr/>
            <p:nvPr/>
          </p:nvGrpSpPr>
          <p:grpSpPr>
            <a:xfrm>
              <a:off x="468973" y="2066529"/>
              <a:ext cx="10575545" cy="4405065"/>
              <a:chOff x="468973" y="2066529"/>
              <a:chExt cx="10575545" cy="4405065"/>
            </a:xfrm>
          </p:grpSpPr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900BA740-7303-4A15-827E-3EBF0D89123E}"/>
                  </a:ext>
                </a:extLst>
              </p:cNvPr>
              <p:cNvGrpSpPr/>
              <p:nvPr/>
            </p:nvGrpSpPr>
            <p:grpSpPr>
              <a:xfrm>
                <a:off x="468973" y="2066529"/>
                <a:ext cx="10575545" cy="4405065"/>
                <a:chOff x="1037837" y="1267671"/>
                <a:chExt cx="10535598" cy="4670505"/>
              </a:xfrm>
            </p:grpSpPr>
            <p:sp>
              <p:nvSpPr>
                <p:cNvPr id="42" name="Прямоугольник 41">
                  <a:extLst>
                    <a:ext uri="{FF2B5EF4-FFF2-40B4-BE49-F238E27FC236}">
                      <a16:creationId xmlns:a16="http://schemas.microsoft.com/office/drawing/2014/main" id="{7C7D1751-4BBB-40A5-B231-A7C7D82A58EF}"/>
                    </a:ext>
                  </a:extLst>
                </p:cNvPr>
                <p:cNvSpPr/>
                <p:nvPr/>
              </p:nvSpPr>
              <p:spPr>
                <a:xfrm>
                  <a:off x="2173941" y="3850990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dirty="0">
                      <a:solidFill>
                        <a:schemeClr val="bg1"/>
                      </a:solidFill>
                    </a:rPr>
                    <a:t>Заявка на закупку/Заявка на перемещение</a:t>
                  </a:r>
                </a:p>
              </p:txBody>
            </p:sp>
            <p:sp>
              <p:nvSpPr>
                <p:cNvPr id="43" name="Прямоугольник 42">
                  <a:extLst>
                    <a:ext uri="{FF2B5EF4-FFF2-40B4-BE49-F238E27FC236}">
                      <a16:creationId xmlns:a16="http://schemas.microsoft.com/office/drawing/2014/main" id="{754D6075-A8F8-414D-A08C-9C9CFA9D781E}"/>
                    </a:ext>
                  </a:extLst>
                </p:cNvPr>
                <p:cNvSpPr/>
                <p:nvPr/>
              </p:nvSpPr>
              <p:spPr>
                <a:xfrm>
                  <a:off x="2173941" y="5131352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</a:rPr>
                    <a:t>Deployment</a:t>
                  </a:r>
                  <a:r>
                    <a:rPr lang="ru-RU" sz="1400" dirty="0">
                      <a:solidFill>
                        <a:schemeClr val="bg1"/>
                      </a:solidFill>
                    </a:rPr>
                    <a:t>/</a:t>
                  </a:r>
                  <a:r>
                    <a:rPr lang="en-US" sz="1400" dirty="0">
                      <a:solidFill>
                        <a:schemeClr val="bg1"/>
                      </a:solidFill>
                    </a:rPr>
                    <a:t>DRP</a:t>
                  </a:r>
                  <a:endParaRPr lang="ru-RU" sz="1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E4789FE-A5D5-4EFC-AA20-2EF48A81A291}"/>
                    </a:ext>
                  </a:extLst>
                </p:cNvPr>
                <p:cNvSpPr txBox="1"/>
                <p:nvPr/>
              </p:nvSpPr>
              <p:spPr>
                <a:xfrm>
                  <a:off x="1153329" y="5373175"/>
                  <a:ext cx="980265" cy="2936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ru-RU" sz="1200" dirty="0"/>
                    <a:t>Алгоритм</a:t>
                  </a: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35E84E2-342D-44B7-B2F3-9A60355FE1A6}"/>
                    </a:ext>
                  </a:extLst>
                </p:cNvPr>
                <p:cNvSpPr txBox="1"/>
                <p:nvPr/>
              </p:nvSpPr>
              <p:spPr>
                <a:xfrm>
                  <a:off x="1037837" y="3903723"/>
                  <a:ext cx="1095757" cy="685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ru-RU" sz="1200" dirty="0"/>
                    <a:t>Результат работы алгоритма</a:t>
                  </a:r>
                </a:p>
              </p:txBody>
            </p:sp>
            <p:cxnSp>
              <p:nvCxnSpPr>
                <p:cNvPr id="46" name="Прямая со стрелкой 45">
                  <a:extLst>
                    <a:ext uri="{FF2B5EF4-FFF2-40B4-BE49-F238E27FC236}">
                      <a16:creationId xmlns:a16="http://schemas.microsoft.com/office/drawing/2014/main" id="{0ECD4698-1193-4744-8DCE-31459B1F6EAB}"/>
                    </a:ext>
                  </a:extLst>
                </p:cNvPr>
                <p:cNvCxnSpPr>
                  <a:cxnSpLocks/>
                  <a:endCxn id="42" idx="2"/>
                </p:cNvCxnSpPr>
                <p:nvPr/>
              </p:nvCxnSpPr>
              <p:spPr>
                <a:xfrm flipV="1">
                  <a:off x="3254188" y="4657814"/>
                  <a:ext cx="0" cy="51011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Прямоугольник 46">
                  <a:extLst>
                    <a:ext uri="{FF2B5EF4-FFF2-40B4-BE49-F238E27FC236}">
                      <a16:creationId xmlns:a16="http://schemas.microsoft.com/office/drawing/2014/main" id="{9137A379-8B6F-4CD7-8D2E-3725A400724F}"/>
                    </a:ext>
                  </a:extLst>
                </p:cNvPr>
                <p:cNvSpPr/>
                <p:nvPr/>
              </p:nvSpPr>
              <p:spPr>
                <a:xfrm>
                  <a:off x="2138080" y="2530462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</a:rPr>
                    <a:t>TLB</a:t>
                  </a:r>
                  <a:endParaRPr lang="ru-RU" sz="16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48" name="Прямая со стрелкой 47">
                  <a:extLst>
                    <a:ext uri="{FF2B5EF4-FFF2-40B4-BE49-F238E27FC236}">
                      <a16:creationId xmlns:a16="http://schemas.microsoft.com/office/drawing/2014/main" id="{91CF570D-9290-46EF-973D-C12B27EC95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18326" y="3338834"/>
                  <a:ext cx="0" cy="51011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Прямоугольник 48">
                  <a:extLst>
                    <a:ext uri="{FF2B5EF4-FFF2-40B4-BE49-F238E27FC236}">
                      <a16:creationId xmlns:a16="http://schemas.microsoft.com/office/drawing/2014/main" id="{A609EA9B-E4D4-4FA1-837C-D4C539058DA5}"/>
                    </a:ext>
                  </a:extLst>
                </p:cNvPr>
                <p:cNvSpPr/>
                <p:nvPr/>
              </p:nvSpPr>
              <p:spPr>
                <a:xfrm>
                  <a:off x="2138080" y="1267671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dirty="0">
                      <a:solidFill>
                        <a:schemeClr val="bg1"/>
                      </a:solidFill>
                    </a:rPr>
                    <a:t>Заявка на загрузку т/с</a:t>
                  </a:r>
                </a:p>
              </p:txBody>
            </p:sp>
            <p:cxnSp>
              <p:nvCxnSpPr>
                <p:cNvPr id="50" name="Прямая со стрелкой 49">
                  <a:extLst>
                    <a:ext uri="{FF2B5EF4-FFF2-40B4-BE49-F238E27FC236}">
                      <a16:creationId xmlns:a16="http://schemas.microsoft.com/office/drawing/2014/main" id="{F4807D17-7AA9-482E-8A45-B23800414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09356" y="2059074"/>
                  <a:ext cx="0" cy="51011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Прямоугольник 83">
                  <a:extLst>
                    <a:ext uri="{FF2B5EF4-FFF2-40B4-BE49-F238E27FC236}">
                      <a16:creationId xmlns:a16="http://schemas.microsoft.com/office/drawing/2014/main" id="{BD850CE6-7FE6-4513-938C-F1A567AE6983}"/>
                    </a:ext>
                  </a:extLst>
                </p:cNvPr>
                <p:cNvSpPr/>
                <p:nvPr/>
              </p:nvSpPr>
              <p:spPr>
                <a:xfrm>
                  <a:off x="6766341" y="1267671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dirty="0">
                      <a:solidFill>
                        <a:schemeClr val="bg1"/>
                      </a:solidFill>
                    </a:rPr>
                    <a:t>Заявка на загрузку т/с готовая к публикации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5299FB7-39C2-4816-96E3-7CF21993DD70}"/>
                    </a:ext>
                  </a:extLst>
                </p:cNvPr>
                <p:cNvSpPr txBox="1"/>
                <p:nvPr/>
              </p:nvSpPr>
              <p:spPr>
                <a:xfrm>
                  <a:off x="4703560" y="1397412"/>
                  <a:ext cx="1576675" cy="554748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ru-RU" sz="1400" dirty="0"/>
                    <a:t>Требуется корректировка?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5A63980-B585-4CBB-88A6-8EACEDD631F3}"/>
                    </a:ext>
                  </a:extLst>
                </p:cNvPr>
                <p:cNvSpPr txBox="1"/>
                <p:nvPr/>
              </p:nvSpPr>
              <p:spPr>
                <a:xfrm>
                  <a:off x="6263380" y="1372201"/>
                  <a:ext cx="1752602" cy="2936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200" dirty="0"/>
                    <a:t>Нет</a:t>
                  </a:r>
                </a:p>
              </p:txBody>
            </p:sp>
            <p:cxnSp>
              <p:nvCxnSpPr>
                <p:cNvPr id="87" name="Прямая со стрелкой 86">
                  <a:extLst>
                    <a:ext uri="{FF2B5EF4-FFF2-40B4-BE49-F238E27FC236}">
                      <a16:creationId xmlns:a16="http://schemas.microsoft.com/office/drawing/2014/main" id="{B418560F-CB4A-4CF6-B419-62C7EFAFDBFF}"/>
                    </a:ext>
                  </a:extLst>
                </p:cNvPr>
                <p:cNvCxnSpPr>
                  <a:cxnSpLocks/>
                  <a:stCxn id="49" idx="3"/>
                  <a:endCxn id="85" idx="1"/>
                </p:cNvCxnSpPr>
                <p:nvPr/>
              </p:nvCxnSpPr>
              <p:spPr>
                <a:xfrm>
                  <a:off x="4298575" y="1671083"/>
                  <a:ext cx="404985" cy="37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Прямая со стрелкой 87">
                  <a:extLst>
                    <a:ext uri="{FF2B5EF4-FFF2-40B4-BE49-F238E27FC236}">
                      <a16:creationId xmlns:a16="http://schemas.microsoft.com/office/drawing/2014/main" id="{616BA725-55F4-40A3-A71A-134B6A934D96}"/>
                    </a:ext>
                  </a:extLst>
                </p:cNvPr>
                <p:cNvCxnSpPr>
                  <a:cxnSpLocks/>
                  <a:stCxn id="85" idx="3"/>
                  <a:endCxn id="84" idx="1"/>
                </p:cNvCxnSpPr>
                <p:nvPr/>
              </p:nvCxnSpPr>
              <p:spPr>
                <a:xfrm flipV="1">
                  <a:off x="6280235" y="1671083"/>
                  <a:ext cx="486106" cy="37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" name="Прямоугольник 88">
                  <a:extLst>
                    <a:ext uri="{FF2B5EF4-FFF2-40B4-BE49-F238E27FC236}">
                      <a16:creationId xmlns:a16="http://schemas.microsoft.com/office/drawing/2014/main" id="{854AE022-03B2-4CBE-8C2E-737101987187}"/>
                    </a:ext>
                  </a:extLst>
                </p:cNvPr>
                <p:cNvSpPr/>
                <p:nvPr/>
              </p:nvSpPr>
              <p:spPr>
                <a:xfrm>
                  <a:off x="6767611" y="2448020"/>
                  <a:ext cx="2160494" cy="80682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dirty="0">
                      <a:solidFill>
                        <a:schemeClr val="bg1"/>
                      </a:solidFill>
                    </a:rPr>
                    <a:t>Ручная корректировка загрузки т/с</a:t>
                  </a:r>
                </a:p>
              </p:txBody>
            </p:sp>
            <p:cxnSp>
              <p:nvCxnSpPr>
                <p:cNvPr id="90" name="Соединитель: уступ 89">
                  <a:extLst>
                    <a:ext uri="{FF2B5EF4-FFF2-40B4-BE49-F238E27FC236}">
                      <a16:creationId xmlns:a16="http://schemas.microsoft.com/office/drawing/2014/main" id="{A066BC1F-AC5F-4C9F-99AB-F7392AD18CE2}"/>
                    </a:ext>
                  </a:extLst>
                </p:cNvPr>
                <p:cNvCxnSpPr>
                  <a:cxnSpLocks/>
                  <a:stCxn id="85" idx="2"/>
                  <a:endCxn id="89" idx="1"/>
                </p:cNvCxnSpPr>
                <p:nvPr/>
              </p:nvCxnSpPr>
              <p:spPr>
                <a:xfrm rot="16200000" flipH="1">
                  <a:off x="5680118" y="1763940"/>
                  <a:ext cx="899273" cy="1275713"/>
                </a:xfrm>
                <a:prstGeom prst="bentConnector2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2533088C-0C0C-45DC-87AF-50A1C14F6524}"/>
                    </a:ext>
                  </a:extLst>
                </p:cNvPr>
                <p:cNvSpPr txBox="1"/>
                <p:nvPr/>
              </p:nvSpPr>
              <p:spPr>
                <a:xfrm>
                  <a:off x="6030254" y="2511493"/>
                  <a:ext cx="552034" cy="2936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1200" dirty="0"/>
                    <a:t>Да</a:t>
                  </a:r>
                </a:p>
              </p:txBody>
            </p:sp>
            <p:cxnSp>
              <p:nvCxnSpPr>
                <p:cNvPr id="92" name="Прямая со стрелкой 91">
                  <a:extLst>
                    <a:ext uri="{FF2B5EF4-FFF2-40B4-BE49-F238E27FC236}">
                      <a16:creationId xmlns:a16="http://schemas.microsoft.com/office/drawing/2014/main" id="{E3EA6846-1A88-43DB-AE5F-86F05494AF73}"/>
                    </a:ext>
                  </a:extLst>
                </p:cNvPr>
                <p:cNvCxnSpPr>
                  <a:cxnSpLocks/>
                  <a:stCxn id="89" idx="0"/>
                  <a:endCxn id="84" idx="2"/>
                </p:cNvCxnSpPr>
                <p:nvPr/>
              </p:nvCxnSpPr>
              <p:spPr>
                <a:xfrm flipH="1" flipV="1">
                  <a:off x="7846588" y="2074494"/>
                  <a:ext cx="1270" cy="3735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Прямоугольник 92">
                  <a:extLst>
                    <a:ext uri="{FF2B5EF4-FFF2-40B4-BE49-F238E27FC236}">
                      <a16:creationId xmlns:a16="http://schemas.microsoft.com/office/drawing/2014/main" id="{DA987D60-E38C-4E7A-9291-A5BFC825670A}"/>
                    </a:ext>
                  </a:extLst>
                </p:cNvPr>
                <p:cNvSpPr/>
                <p:nvPr/>
              </p:nvSpPr>
              <p:spPr>
                <a:xfrm>
                  <a:off x="9412941" y="1267671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dirty="0">
                      <a:solidFill>
                        <a:schemeClr val="bg1"/>
                      </a:solidFill>
                    </a:rPr>
                    <a:t>Публикация заявок на загрузку т/с</a:t>
                  </a:r>
                </a:p>
              </p:txBody>
            </p:sp>
            <p:sp>
              <p:nvSpPr>
                <p:cNvPr id="94" name="Прямоугольник 93">
                  <a:extLst>
                    <a:ext uri="{FF2B5EF4-FFF2-40B4-BE49-F238E27FC236}">
                      <a16:creationId xmlns:a16="http://schemas.microsoft.com/office/drawing/2014/main" id="{2E036C86-5AA3-4B74-9C90-9756A1C6AC26}"/>
                    </a:ext>
                  </a:extLst>
                </p:cNvPr>
                <p:cNvSpPr/>
                <p:nvPr/>
              </p:nvSpPr>
              <p:spPr>
                <a:xfrm>
                  <a:off x="9412941" y="3848951"/>
                  <a:ext cx="2160494" cy="8068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1400" b="0" i="0" dirty="0">
                      <a:solidFill>
                        <a:schemeClr val="bg1"/>
                      </a:solidFill>
                      <a:effectLst/>
                    </a:rPr>
                    <a:t>Управление </a:t>
                  </a:r>
                  <a:r>
                    <a:rPr lang="ru-RU" sz="1400" dirty="0">
                      <a:solidFill>
                        <a:schemeClr val="bg1"/>
                      </a:solidFill>
                    </a:rPr>
                    <a:t>транспортной</a:t>
                  </a:r>
                  <a:r>
                    <a:rPr lang="ru-RU" sz="1400" b="0" i="0" dirty="0">
                      <a:solidFill>
                        <a:schemeClr val="bg1"/>
                      </a:solidFill>
                      <a:effectLst/>
                    </a:rPr>
                    <a:t>/</a:t>
                  </a:r>
                </a:p>
                <a:p>
                  <a:pPr algn="ctr"/>
                  <a:r>
                    <a:rPr lang="ru-RU" sz="1400" b="0" i="0" dirty="0">
                      <a:solidFill>
                        <a:schemeClr val="bg1"/>
                      </a:solidFill>
                      <a:effectLst/>
                    </a:rPr>
                    <a:t>складской логистикой</a:t>
                  </a:r>
                  <a:endParaRPr lang="ru-RU" sz="1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95" name="Прямая со стрелкой 94">
                  <a:extLst>
                    <a:ext uri="{FF2B5EF4-FFF2-40B4-BE49-F238E27FC236}">
                      <a16:creationId xmlns:a16="http://schemas.microsoft.com/office/drawing/2014/main" id="{D6CE7FF5-0317-4D34-A57D-BCDCFFD8A0EB}"/>
                    </a:ext>
                  </a:extLst>
                </p:cNvPr>
                <p:cNvCxnSpPr>
                  <a:cxnSpLocks/>
                  <a:stCxn id="84" idx="3"/>
                  <a:endCxn id="93" idx="1"/>
                </p:cNvCxnSpPr>
                <p:nvPr/>
              </p:nvCxnSpPr>
              <p:spPr>
                <a:xfrm>
                  <a:off x="8926835" y="1671083"/>
                  <a:ext cx="48610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Прямая со стрелкой 95">
                  <a:extLst>
                    <a:ext uri="{FF2B5EF4-FFF2-40B4-BE49-F238E27FC236}">
                      <a16:creationId xmlns:a16="http://schemas.microsoft.com/office/drawing/2014/main" id="{D675B76B-AB29-4015-B573-922EE044F189}"/>
                    </a:ext>
                  </a:extLst>
                </p:cNvPr>
                <p:cNvCxnSpPr>
                  <a:cxnSpLocks/>
                  <a:stCxn id="93" idx="2"/>
                  <a:endCxn id="94" idx="0"/>
                </p:cNvCxnSpPr>
                <p:nvPr/>
              </p:nvCxnSpPr>
              <p:spPr>
                <a:xfrm>
                  <a:off x="10493188" y="2074495"/>
                  <a:ext cx="0" cy="17744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8CCBCE-992D-4261-8F41-39DF814988EB}"/>
                  </a:ext>
                </a:extLst>
              </p:cNvPr>
              <p:cNvSpPr txBox="1"/>
              <p:nvPr/>
            </p:nvSpPr>
            <p:spPr>
              <a:xfrm>
                <a:off x="584903" y="3508845"/>
                <a:ext cx="983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ru-RU" sz="1200" dirty="0"/>
                  <a:t>Алгоритм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EA1573A-64E5-4E2C-BD98-FDBADBDA5551}"/>
                  </a:ext>
                </a:extLst>
              </p:cNvPr>
              <p:cNvSpPr txBox="1"/>
              <p:nvPr/>
            </p:nvSpPr>
            <p:spPr>
              <a:xfrm>
                <a:off x="468973" y="2066529"/>
                <a:ext cx="10999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ru-RU" sz="1200" dirty="0"/>
                  <a:t>Результат работы алгоритма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2B0C77-32C2-45C6-9BB9-F2D8E1FD9E02}"/>
                </a:ext>
              </a:extLst>
            </p:cNvPr>
            <p:cNvSpPr txBox="1"/>
            <p:nvPr/>
          </p:nvSpPr>
          <p:spPr>
            <a:xfrm>
              <a:off x="5289912" y="3671333"/>
              <a:ext cx="9839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/>
                <a:t>Экран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9386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Экран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TLB</a:t>
            </a:r>
            <a:endParaRPr lang="ru-RU" dirty="0"/>
          </a:p>
        </p:txBody>
      </p:sp>
      <p:pic>
        <p:nvPicPr>
          <p:cNvPr id="7" name="Рисунок 11">
            <a:extLst>
              <a:ext uri="{FF2B5EF4-FFF2-40B4-BE49-F238E27FC236}">
                <a16:creationId xmlns:a16="http://schemas.microsoft.com/office/drawing/2014/main" id="{D3BEC5F7-F433-419E-A709-46BF9B8FB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22" y="1686427"/>
            <a:ext cx="8924983" cy="4938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D291E2-1080-4EE2-82BD-403E58F6AADD}"/>
              </a:ext>
            </a:extLst>
          </p:cNvPr>
          <p:cNvSpPr txBox="1"/>
          <p:nvPr/>
        </p:nvSpPr>
        <p:spPr>
          <a:xfrm>
            <a:off x="326682" y="922906"/>
            <a:ext cx="11538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Экран формирования рекомендаций на отгрузку </a:t>
            </a:r>
            <a:r>
              <a:rPr lang="ru-RU" sz="1200" b="1" dirty="0"/>
              <a:t>позволяет</a:t>
            </a:r>
            <a:r>
              <a:rPr lang="ru-RU" sz="1200" dirty="0"/>
              <a:t> </a:t>
            </a:r>
            <a:r>
              <a:rPr lang="ru-RU" sz="1200" b="1" dirty="0"/>
              <a:t>проанализировать</a:t>
            </a:r>
            <a:r>
              <a:rPr lang="ru-RU" sz="1200" dirty="0"/>
              <a:t> </a:t>
            </a:r>
            <a:r>
              <a:rPr lang="ru-RU" sz="1200" b="1" dirty="0"/>
              <a:t>результаты</a:t>
            </a:r>
            <a:r>
              <a:rPr lang="ru-RU" sz="1200" dirty="0"/>
              <a:t> работы </a:t>
            </a:r>
            <a:r>
              <a:rPr lang="ru-RU" sz="1200" b="1" dirty="0"/>
              <a:t>алгоритма Transport </a:t>
            </a:r>
            <a:r>
              <a:rPr lang="ru-RU" sz="1200" b="1" dirty="0" err="1"/>
              <a:t>Load</a:t>
            </a:r>
            <a:r>
              <a:rPr lang="ru-RU" sz="1200" b="1" dirty="0"/>
              <a:t> </a:t>
            </a:r>
            <a:r>
              <a:rPr lang="ru-RU" sz="1200" b="1" dirty="0" err="1"/>
              <a:t>Builder</a:t>
            </a:r>
            <a:r>
              <a:rPr lang="ru-RU" sz="1200" b="1" dirty="0"/>
              <a:t> </a:t>
            </a:r>
            <a:r>
              <a:rPr lang="ru-RU" sz="1200" dirty="0"/>
              <a:t>- TLB - в интерактивном виде. У Пользователя есть возможность в режиме редактирования </a:t>
            </a:r>
            <a:r>
              <a:rPr lang="ru-RU" sz="1200" b="1" dirty="0"/>
              <a:t>опубликовать</a:t>
            </a:r>
            <a:r>
              <a:rPr lang="ru-RU" sz="1200" dirty="0"/>
              <a:t> </a:t>
            </a:r>
            <a:r>
              <a:rPr lang="ru-RU" sz="1200" b="1" dirty="0"/>
              <a:t>заявку</a:t>
            </a:r>
            <a:r>
              <a:rPr lang="ru-RU" sz="1200" dirty="0"/>
              <a:t> в ERP систему, </a:t>
            </a:r>
            <a:r>
              <a:rPr lang="ru-RU" sz="1200" b="1" dirty="0"/>
              <a:t>изменить статус фиксации заявки</a:t>
            </a:r>
            <a:r>
              <a:rPr lang="ru-RU" sz="1200" dirty="0"/>
              <a:t>, </a:t>
            </a:r>
            <a:r>
              <a:rPr lang="ru-RU" sz="1200" b="1" dirty="0"/>
              <a:t>расформировать</a:t>
            </a:r>
            <a:r>
              <a:rPr lang="ru-RU" sz="1200" dirty="0"/>
              <a:t> или </a:t>
            </a:r>
            <a:r>
              <a:rPr lang="ru-RU" sz="1200" b="1" dirty="0"/>
              <a:t>создать</a:t>
            </a:r>
            <a:r>
              <a:rPr lang="ru-RU" sz="1200" dirty="0"/>
              <a:t> </a:t>
            </a:r>
            <a:r>
              <a:rPr lang="ru-RU" sz="1200" b="1" dirty="0"/>
              <a:t>заявку</a:t>
            </a:r>
            <a:r>
              <a:rPr lang="ru-RU" sz="1200" dirty="0"/>
              <a:t>, </a:t>
            </a:r>
            <a:r>
              <a:rPr lang="ru-RU" sz="1200" b="1" dirty="0"/>
              <a:t>выгрузить/перегрузить/загрузить позиции заявок</a:t>
            </a:r>
          </a:p>
        </p:txBody>
      </p:sp>
    </p:spTree>
    <p:extLst>
      <p:ext uri="{BB962C8B-B14F-4D97-AF65-F5344CB8AC3E}">
        <p14:creationId xmlns:p14="http://schemas.microsoft.com/office/powerpoint/2010/main" val="1661655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56E7967-6811-4696-9141-A554666BD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D2E8D-60F5-492A-8218-1A3840C8D6FC}"/>
              </a:ext>
            </a:extLst>
          </p:cNvPr>
          <p:cNvSpPr txBox="1"/>
          <p:nvPr/>
        </p:nvSpPr>
        <p:spPr>
          <a:xfrm>
            <a:off x="2168434" y="1851645"/>
            <a:ext cx="7855132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solidFill>
                  <a:schemeClr val="accent3"/>
                </a:solidFill>
                <a:latin typeface="+mj-lt"/>
              </a:rPr>
              <a:t>Q</a:t>
            </a:r>
            <a:r>
              <a:rPr lang="en-US" sz="199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9900" dirty="0">
                <a:solidFill>
                  <a:schemeClr val="accent2"/>
                </a:solidFill>
                <a:latin typeface="+mj-lt"/>
              </a:rPr>
              <a:t>&amp;</a:t>
            </a:r>
            <a:r>
              <a:rPr lang="en-US" sz="199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9900" dirty="0">
                <a:solidFill>
                  <a:schemeClr val="accent1"/>
                </a:solidFill>
                <a:latin typeface="+mj-lt"/>
              </a:rPr>
              <a:t>A</a:t>
            </a:r>
            <a:endParaRPr lang="ru-RU" sz="199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579C0F7-4B75-4693-9135-0A1497383067}"/>
              </a:ext>
            </a:extLst>
          </p:cNvPr>
          <p:cNvSpPr/>
          <p:nvPr/>
        </p:nvSpPr>
        <p:spPr>
          <a:xfrm>
            <a:off x="8543579" y="-781184"/>
            <a:ext cx="2778034" cy="68797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Надо тут что-то еще?</a:t>
            </a:r>
          </a:p>
        </p:txBody>
      </p:sp>
    </p:spTree>
    <p:extLst>
      <p:ext uri="{BB962C8B-B14F-4D97-AF65-F5344CB8AC3E}">
        <p14:creationId xmlns:p14="http://schemas.microsoft.com/office/powerpoint/2010/main" val="3651769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A39408A-D6E8-485D-982A-6BD0746E1CF6}"/>
              </a:ext>
            </a:extLst>
          </p:cNvPr>
          <p:cNvSpPr txBox="1">
            <a:spLocks/>
          </p:cNvSpPr>
          <p:nvPr/>
        </p:nvSpPr>
        <p:spPr>
          <a:xfrm>
            <a:off x="493939" y="3742803"/>
            <a:ext cx="7500992" cy="6956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3589368-5F23-4D70-8179-0907C89F2861}"/>
              </a:ext>
            </a:extLst>
          </p:cNvPr>
          <p:cNvSpPr txBox="1">
            <a:spLocks/>
          </p:cNvSpPr>
          <p:nvPr/>
        </p:nvSpPr>
        <p:spPr>
          <a:xfrm>
            <a:off x="493938" y="2708701"/>
            <a:ext cx="10761666" cy="1440598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-52"/>
                <a:ea typeface="+mj-ea"/>
                <a:cs typeface="Arial" panose="020B0604020202020204" pitchFamily="34" charset="0"/>
              </a:rPr>
              <a:t>Спасибо!</a:t>
            </a:r>
          </a:p>
        </p:txBody>
      </p:sp>
      <p:cxnSp>
        <p:nvCxnSpPr>
          <p:cNvPr id="13" name="Прямая соединительная линия 17">
            <a:extLst>
              <a:ext uri="{FF2B5EF4-FFF2-40B4-BE49-F238E27FC236}">
                <a16:creationId xmlns:a16="http://schemas.microsoft.com/office/drawing/2014/main" id="{3DF83FBE-CA18-4854-995E-8F151A48F8C2}"/>
              </a:ext>
            </a:extLst>
          </p:cNvPr>
          <p:cNvCxnSpPr>
            <a:cxnSpLocks/>
          </p:cNvCxnSpPr>
          <p:nvPr/>
        </p:nvCxnSpPr>
        <p:spPr>
          <a:xfrm flipV="1">
            <a:off x="624569" y="4149299"/>
            <a:ext cx="331170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CEA70E-B545-26C8-2492-CBC1C182EF94}"/>
              </a:ext>
            </a:extLst>
          </p:cNvPr>
          <p:cNvSpPr txBox="1"/>
          <p:nvPr/>
        </p:nvSpPr>
        <p:spPr>
          <a:xfrm>
            <a:off x="9247956" y="5007806"/>
            <a:ext cx="1419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➜</a:t>
            </a:r>
            <a:r>
              <a:rPr lang="ru-RU" sz="1200" dirty="0">
                <a:solidFill>
                  <a:schemeClr val="bg1"/>
                </a:solidFill>
              </a:rPr>
              <a:t> Семён Гайдук, предпроектная экспертиза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E8F776-6558-4B90-F3C5-F7BAD6FF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449" y="4796376"/>
            <a:ext cx="1080000" cy="1080000"/>
          </a:xfrm>
          <a:prstGeom prst="ellipse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716F1A-B077-7DD5-9038-512E6DB7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658" y="4759146"/>
            <a:ext cx="1082805" cy="1080000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3D31C-5DC0-3D1B-6788-D58036A950EA}"/>
              </a:ext>
            </a:extLst>
          </p:cNvPr>
          <p:cNvSpPr txBox="1"/>
          <p:nvPr/>
        </p:nvSpPr>
        <p:spPr>
          <a:xfrm>
            <a:off x="5787464" y="5017956"/>
            <a:ext cx="1407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➜</a:t>
            </a:r>
            <a:r>
              <a:rPr lang="ru-RU" sz="1200" dirty="0">
                <a:solidFill>
                  <a:schemeClr val="bg1"/>
                </a:solidFill>
              </a:rPr>
              <a:t> Игорь </a:t>
            </a:r>
            <a:r>
              <a:rPr lang="ru-RU" sz="1200" dirty="0" err="1">
                <a:solidFill>
                  <a:schemeClr val="bg1"/>
                </a:solidFill>
              </a:rPr>
              <a:t>Дикинов</a:t>
            </a:r>
            <a:r>
              <a:rPr lang="ru-RU" sz="1200" dirty="0">
                <a:solidFill>
                  <a:schemeClr val="bg1"/>
                </a:solidFill>
              </a:rPr>
              <a:t>, Владелец  </a:t>
            </a:r>
            <a:r>
              <a:rPr lang="en-US" sz="1200" dirty="0">
                <a:solidFill>
                  <a:schemeClr val="bg1"/>
                </a:solidFill>
              </a:rPr>
              <a:t>MRP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691D6E-606B-214D-A67D-59C9CF5F266E}"/>
              </a:ext>
            </a:extLst>
          </p:cNvPr>
          <p:cNvSpPr txBox="1"/>
          <p:nvPr/>
        </p:nvSpPr>
        <p:spPr>
          <a:xfrm>
            <a:off x="9266449" y="561136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semen.gaiduk@axenix.pro</a:t>
            </a:r>
            <a:endParaRPr lang="en-US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C06830-2896-C034-A5BF-355A7C5C0F05}"/>
              </a:ext>
            </a:extLst>
          </p:cNvPr>
          <p:cNvSpPr txBox="1"/>
          <p:nvPr/>
        </p:nvSpPr>
        <p:spPr>
          <a:xfrm>
            <a:off x="5787464" y="561136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Igor.dikinov@axenix.pro</a:t>
            </a:r>
            <a:endParaRPr lang="en-US" sz="1400" dirty="0">
              <a:solidFill>
                <a:schemeClr val="bg1"/>
              </a:solidFill>
            </a:endParaRPr>
          </a:p>
          <a:p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70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A39408A-D6E8-485D-982A-6BD0746E1CF6}"/>
              </a:ext>
            </a:extLst>
          </p:cNvPr>
          <p:cNvSpPr txBox="1">
            <a:spLocks/>
          </p:cNvSpPr>
          <p:nvPr/>
        </p:nvSpPr>
        <p:spPr>
          <a:xfrm>
            <a:off x="493939" y="3742803"/>
            <a:ext cx="7500992" cy="6956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nrope"/>
              <a:ea typeface="+mn-ea"/>
              <a:cs typeface="+mn-cs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3589368-5F23-4D70-8179-0907C89F2861}"/>
              </a:ext>
            </a:extLst>
          </p:cNvPr>
          <p:cNvSpPr txBox="1">
            <a:spLocks/>
          </p:cNvSpPr>
          <p:nvPr/>
        </p:nvSpPr>
        <p:spPr>
          <a:xfrm>
            <a:off x="493938" y="2708701"/>
            <a:ext cx="10761666" cy="1440598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-52"/>
                <a:ea typeface="+mj-ea"/>
                <a:cs typeface="Arial" panose="020B0604020202020204" pitchFamily="34" charset="0"/>
              </a:rPr>
              <a:t>Вопросы и обсуждение</a:t>
            </a:r>
          </a:p>
        </p:txBody>
      </p:sp>
      <p:cxnSp>
        <p:nvCxnSpPr>
          <p:cNvPr id="13" name="Прямая соединительная линия 17">
            <a:extLst>
              <a:ext uri="{FF2B5EF4-FFF2-40B4-BE49-F238E27FC236}">
                <a16:creationId xmlns:a16="http://schemas.microsoft.com/office/drawing/2014/main" id="{3DF83FBE-CA18-4854-995E-8F151A48F8C2}"/>
              </a:ext>
            </a:extLst>
          </p:cNvPr>
          <p:cNvCxnSpPr>
            <a:cxnSpLocks/>
          </p:cNvCxnSpPr>
          <p:nvPr/>
        </p:nvCxnSpPr>
        <p:spPr>
          <a:xfrm>
            <a:off x="593248" y="4164537"/>
            <a:ext cx="887296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57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591652-4992-42CF-87C4-464AD6187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951" y="4197841"/>
            <a:ext cx="4848322" cy="24373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B66B3E-6A82-4B93-AC7C-4BA49AFBF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951" y="1010053"/>
            <a:ext cx="4935870" cy="2987886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Интерфейсы для специалистов планирования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80E27-E479-4F55-9A34-67DFA24FF3CB}"/>
              </a:ext>
            </a:extLst>
          </p:cNvPr>
          <p:cNvSpPr txBox="1"/>
          <p:nvPr/>
        </p:nvSpPr>
        <p:spPr>
          <a:xfrm>
            <a:off x="269481" y="1141194"/>
            <a:ext cx="6398225" cy="498418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RU"/>
            </a:defPPr>
            <a:lvl1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  <a:defRPr sz="1600" b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sz="1400" b="1" dirty="0"/>
              <a:t>Интерфейсы пользователя:</a:t>
            </a:r>
          </a:p>
          <a:p>
            <a:r>
              <a:rPr lang="ru-RU" sz="1400" b="1" dirty="0"/>
              <a:t>Книга планирования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Показывает баланс спроса и поступлений по продуктам и локациям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Позволяет вручную корректировать планы производства и перемещений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Отображает показатели, такие как: потребность, прогноз, плановые остатки, покрытие запасом в днях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Имеет функции запуска алгоритмов эвристики и оптимизации</a:t>
            </a:r>
          </a:p>
          <a:p>
            <a:endParaRPr lang="ru-RU" sz="1400" dirty="0"/>
          </a:p>
          <a:p>
            <a:r>
              <a:rPr lang="ru-RU" sz="1400" b="1" dirty="0"/>
              <a:t>Загрузка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Используется для анализа загрузки производственных и складских ресурсов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Отображает показатели: доступная мощность, план производства, коэффициенты загрузки и запаса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Позволяет учитывать ремонтные и календарные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3809966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Интерфейсы для специалистов планирования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80E27-E479-4F55-9A34-67DFA24FF3CB}"/>
              </a:ext>
            </a:extLst>
          </p:cNvPr>
          <p:cNvSpPr txBox="1"/>
          <p:nvPr/>
        </p:nvSpPr>
        <p:spPr>
          <a:xfrm>
            <a:off x="269481" y="1141194"/>
            <a:ext cx="11608754" cy="178375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RU"/>
            </a:defPPr>
            <a:lvl1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  <a:defRPr sz="1600" b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Для анализа результатов планирования Пользователь может воспользоваться различными визуальными инструментами, например: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BI отчет «</a:t>
            </a:r>
            <a:r>
              <a:rPr lang="ru-RU" dirty="0" err="1"/>
              <a:t>Дашборд</a:t>
            </a:r>
            <a:r>
              <a:rPr lang="ru-RU" dirty="0"/>
              <a:t> по покрытию спроса»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BI отчет «Отчет по загрузке мощностей»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BI отчет «Отчет по рискам»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31B3CA-7752-48B0-A512-60E981F46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89" y="3260430"/>
            <a:ext cx="4772832" cy="23371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E284D5-F6CA-4724-BEEE-6D7D5181C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963" y="3933049"/>
            <a:ext cx="4903471" cy="2302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66A729-658B-4065-BCBC-5CC987079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302" y="3260430"/>
            <a:ext cx="4813920" cy="2457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1273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699B22A-05A8-4C0F-93E5-A30A3480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81" y="233455"/>
            <a:ext cx="9708351" cy="572261"/>
          </a:xfrm>
        </p:spPr>
        <p:txBody>
          <a:bodyPr/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 ExtraBold"/>
                <a:ea typeface="+mj-ea"/>
                <a:cs typeface="Arial" panose="020B0604020202020204" pitchFamily="34" charset="0"/>
              </a:rPr>
              <a:t>Интерфейсы для специалистов планирования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480E27-E479-4F55-9A34-67DFA24FF3CB}"/>
              </a:ext>
            </a:extLst>
          </p:cNvPr>
          <p:cNvSpPr txBox="1"/>
          <p:nvPr/>
        </p:nvSpPr>
        <p:spPr>
          <a:xfrm>
            <a:off x="269481" y="1141194"/>
            <a:ext cx="11608754" cy="96096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RU"/>
            </a:defPPr>
            <a:lvl1pPr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  <a:defRPr sz="1600" b="0"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b="1" dirty="0"/>
              <a:t>Графики «Группы свежести» и «Доступность запасов»</a:t>
            </a:r>
          </a:p>
          <a:p>
            <a:r>
              <a:rPr lang="ru-RU" dirty="0"/>
              <a:t>Графики показывают объем как в относительном, так и в абсолютном значениях по каждой группе свежести / доступности запасов.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063F3C-CBBB-4A6F-8A43-CB471B65FA5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09109" y="2365466"/>
            <a:ext cx="9173782" cy="404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741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1lheWC5GUeqIi68Udn9H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1lheWC5GUeqIi68Udn9HQ"/>
</p:tagLst>
</file>

<file path=ppt/theme/theme1.xml><?xml version="1.0" encoding="utf-8"?>
<a:theme xmlns:a="http://schemas.openxmlformats.org/drawingml/2006/main" name="4_Office Theme">
  <a:themeElements>
    <a:clrScheme name="Другая 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000FF"/>
      </a:accent1>
      <a:accent2>
        <a:srgbClr val="E834E7"/>
      </a:accent2>
      <a:accent3>
        <a:srgbClr val="FF9A3B"/>
      </a:accent3>
      <a:accent4>
        <a:srgbClr val="FD2856"/>
      </a:accent4>
      <a:accent5>
        <a:srgbClr val="FFFFFF"/>
      </a:accent5>
      <a:accent6>
        <a:srgbClr val="FFFFFF"/>
      </a:accent6>
      <a:hlink>
        <a:srgbClr val="48007F"/>
      </a:hlink>
      <a:folHlink>
        <a:srgbClr val="BC65FF"/>
      </a:folHlink>
    </a:clrScheme>
    <a:fontScheme name="Manrope In.Plan">
      <a:majorFont>
        <a:latin typeface="Manrope ExtraBold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E24BE1C18EC446A0A6753EAF99387A" ma:contentTypeVersion="2" ma:contentTypeDescription="Create a new document." ma:contentTypeScope="" ma:versionID="244f8366877dcdc5368c82b279a30f47">
  <xsd:schema xmlns:xsd="http://www.w3.org/2001/XMLSchema" xmlns:xs="http://www.w3.org/2001/XMLSchema" xmlns:p="http://schemas.microsoft.com/office/2006/metadata/properties" xmlns:ns2="25156473-9b09-46bd-9f23-506bdb3c47da" targetNamespace="http://schemas.microsoft.com/office/2006/metadata/properties" ma:root="true" ma:fieldsID="330c833d1991d6b4c2006b60abca9c89" ns2:_="">
    <xsd:import namespace="25156473-9b09-46bd-9f23-506bdb3c47d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56473-9b09-46bd-9f23-506bdb3c47d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D163BC-F4B4-4E20-93D2-C77D90BA4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56473-9b09-46bd-9f23-506bdb3c4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0AA3FC-A5FC-486E-B39F-15C29051D4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C45C0D-B3DE-4D54-946E-6EE9F6858002}">
  <ds:schemaRefs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25156473-9b09-46bd-9f23-506bdb3c47d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2351</TotalTime>
  <Words>5101</Words>
  <Application>Microsoft Office PowerPoint</Application>
  <PresentationFormat>Widescreen</PresentationFormat>
  <Paragraphs>743</Paragraphs>
  <Slides>38</Slides>
  <Notes>29</Notes>
  <HiddenSlides>29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5" baseType="lpstr">
      <vt:lpstr>ＭＳ Ｐゴシック</vt:lpstr>
      <vt:lpstr>Arial</vt:lpstr>
      <vt:lpstr>Arial Black</vt:lpstr>
      <vt:lpstr>Calibri</vt:lpstr>
      <vt:lpstr>Courier New</vt:lpstr>
      <vt:lpstr>Manrope</vt:lpstr>
      <vt:lpstr>Manrope  </vt:lpstr>
      <vt:lpstr>Manrope (Основной текст)</vt:lpstr>
      <vt:lpstr>Manrope ExtraBold</vt:lpstr>
      <vt:lpstr>Manrope ExtraLight</vt:lpstr>
      <vt:lpstr>Manrope Medium</vt:lpstr>
      <vt:lpstr>Manrope SemiBold</vt:lpstr>
      <vt:lpstr>Montserrat</vt:lpstr>
      <vt:lpstr>Symbol</vt:lpstr>
      <vt:lpstr>Times New Roman</vt:lpstr>
      <vt:lpstr>4_Office Theme</vt:lpstr>
      <vt:lpstr>Слайд think-cell</vt:lpstr>
      <vt:lpstr>Вебинар In.Plan  Material Requirements Planning </vt:lpstr>
      <vt:lpstr>Содержание</vt:lpstr>
      <vt:lpstr>In.Plan: карта модулей</vt:lpstr>
      <vt:lpstr>MRP и Основные бизнес-задачи</vt:lpstr>
      <vt:lpstr>ERP против In.Plan: MRP в ERP и в SCP</vt:lpstr>
      <vt:lpstr>Архитектура процессов планирования</vt:lpstr>
      <vt:lpstr>Функциональное покрытие блока Material Requirements Planning</vt:lpstr>
      <vt:lpstr>MRP процесс</vt:lpstr>
      <vt:lpstr>Ядро расчета MRP</vt:lpstr>
      <vt:lpstr>PowerPoint Presentation</vt:lpstr>
      <vt:lpstr>Ядро расчета MRP</vt:lpstr>
      <vt:lpstr>Функциональное описание модуля MRP</vt:lpstr>
      <vt:lpstr>Детальное покрытие требований имеющимся функционалом</vt:lpstr>
      <vt:lpstr>Сценарий демо</vt:lpstr>
      <vt:lpstr>Поверхности показа и правила демо</vt:lpstr>
      <vt:lpstr>Эффект решений в числах</vt:lpstr>
      <vt:lpstr>Примеры работы с предупреждениями после прогона планирования</vt:lpstr>
      <vt:lpstr>Книга планирования для целей MRP</vt:lpstr>
      <vt:lpstr>Модель данных</vt:lpstr>
      <vt:lpstr>Управление основными данными</vt:lpstr>
      <vt:lpstr>Управление транзакционными данными</vt:lpstr>
      <vt:lpstr>Алгоритмы работы с данными</vt:lpstr>
      <vt:lpstr>Алгоритмы расчёта планов</vt:lpstr>
      <vt:lpstr>Эвристика</vt:lpstr>
      <vt:lpstr>Эвристика</vt:lpstr>
      <vt:lpstr>Эвристика</vt:lpstr>
      <vt:lpstr>Интерфейсы для специалистов планирования</vt:lpstr>
      <vt:lpstr>Интерфейсы для специалистов планирования</vt:lpstr>
      <vt:lpstr>Интерфейсы для специалистов планирования. Анализ результатов представляет из себя ведомость обеспеченности  (если сравнивать с SAP, то это MD04 и RRP3)</vt:lpstr>
      <vt:lpstr>Макет экрана балансировки элементов планирования как развитие PS Анализ результатов</vt:lpstr>
      <vt:lpstr>Алгоритм TLB</vt:lpstr>
      <vt:lpstr>Экран TLB</vt:lpstr>
      <vt:lpstr>PowerPoint Presentation</vt:lpstr>
      <vt:lpstr>PowerPoint Presentation</vt:lpstr>
      <vt:lpstr>PowerPoint Presentation</vt:lpstr>
      <vt:lpstr>Интерфейсы для специалистов планирования</vt:lpstr>
      <vt:lpstr>Интерфейсы для специалистов планирования</vt:lpstr>
      <vt:lpstr>Интерфейсы для специалистов планирования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Типовой процесс Material Requirements Planning</dc:title>
  <dc:creator>Gaiduk Semen</dc:creator>
  <cp:lastModifiedBy>Igor Dikinov</cp:lastModifiedBy>
  <cp:revision>55</cp:revision>
  <dcterms:created xsi:type="dcterms:W3CDTF">2025-10-15T14:35:59Z</dcterms:created>
  <dcterms:modified xsi:type="dcterms:W3CDTF">2026-08-18T08:45:13Z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0x01010083E24BE1C18EC446A0A6753EAF99387A</vt:lpwstr>
  </property>
</Properties>
</file>