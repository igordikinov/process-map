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4"/>
    <p:sldMasterId id="2147483760" r:id="rId5"/>
    <p:sldMasterId id="2147483763" r:id="rId6"/>
    <p:sldMasterId id="2147483768" r:id="rId7"/>
    <p:sldMasterId id="2147483829" r:id="rId8"/>
    <p:sldMasterId id="2147483854" r:id="rId9"/>
  </p:sldMasterIdLst>
  <p:notesMasterIdLst>
    <p:notesMasterId r:id="rId21"/>
  </p:notesMasterIdLst>
  <p:sldIdLst>
    <p:sldId id="346" r:id="rId10"/>
    <p:sldId id="268" r:id="rId11"/>
    <p:sldId id="2147477873" r:id="rId12"/>
    <p:sldId id="287" r:id="rId13"/>
    <p:sldId id="281" r:id="rId14"/>
    <p:sldId id="2147483645" r:id="rId15"/>
    <p:sldId id="293" r:id="rId16"/>
    <p:sldId id="327" r:id="rId17"/>
    <p:sldId id="338" r:id="rId18"/>
    <p:sldId id="271" r:id="rId19"/>
    <p:sldId id="276" r:id="rId20"/>
  </p:sldIdLst>
  <p:sldSz cx="12192000" cy="6858000"/>
  <p:notesSz cx="6797675" cy="9926638"/>
  <p:custDataLst>
    <p:tags r:id="rId22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iakhmedov Timur" initials="ST" lastIdx="2" clrIdx="0">
    <p:extLst>
      <p:ext uri="{19B8F6BF-5375-455C-9EA6-DF929625EA0E}">
        <p15:presenceInfo xmlns:p15="http://schemas.microsoft.com/office/powerpoint/2012/main" userId="S-1-5-21-2437565300-2024630967-1388371115-6026" providerId="AD"/>
      </p:ext>
    </p:extLst>
  </p:cmAuthor>
  <p:cmAuthor id="2" name="timur.shaiakhmedov@ax-team.corp" initials="tt" lastIdx="3" clrIdx="1">
    <p:extLst>
      <p:ext uri="{19B8F6BF-5375-455C-9EA6-DF929625EA0E}">
        <p15:presenceInfo xmlns:p15="http://schemas.microsoft.com/office/powerpoint/2012/main" userId="timur.shaiakhmedov@ax-team.corp" providerId="None"/>
      </p:ext>
    </p:extLst>
  </p:cmAuthor>
  <p:cmAuthor id="3" name="Gaiduk Semen" initials="GS" lastIdx="1" clrIdx="2">
    <p:extLst>
      <p:ext uri="{19B8F6BF-5375-455C-9EA6-DF929625EA0E}">
        <p15:presenceInfo xmlns:p15="http://schemas.microsoft.com/office/powerpoint/2012/main" userId="S-1-5-21-2437565300-2024630967-1388371115-14158" providerId="AD"/>
      </p:ext>
    </p:extLst>
  </p:cmAuthor>
  <p:cmAuthor id="4" name="Амина Ибрагимова" initials="АИ" lastIdx="1" clrIdx="3">
    <p:extLst>
      <p:ext uri="{19B8F6BF-5375-455C-9EA6-DF929625EA0E}">
        <p15:presenceInfo xmlns:p15="http://schemas.microsoft.com/office/powerpoint/2012/main" userId="96722ab9536f262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A6A6A6"/>
    <a:srgbClr val="0C0C0C"/>
    <a:srgbClr val="0A0A0A"/>
    <a:srgbClr val="1B1B1B"/>
    <a:srgbClr val="FF9A3B"/>
    <a:srgbClr val="A0A0A0"/>
    <a:srgbClr val="FD2956"/>
    <a:srgbClr val="AD00FF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Темный стиль 1 —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Темны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01" autoAdjust="0"/>
    <p:restoredTop sz="95388" autoAdjust="0"/>
  </p:normalViewPr>
  <p:slideViewPr>
    <p:cSldViewPr snapToGrid="0" showGuides="1">
      <p:cViewPr varScale="1">
        <p:scale>
          <a:sx n="105" d="100"/>
          <a:sy n="105" d="100"/>
        </p:scale>
        <p:origin x="792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commentAuthors" Target="commentAuthor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B4695-CEF7-4559-BE4E-BE88752D1B67}" type="datetimeFigureOut">
              <a:rPr lang="ru-RU" smtClean="0"/>
              <a:t>24.09.2026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80EF4-74AB-458A-B0DA-B5D555FB161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7990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/>
              <a:t>Процесс сквозной и охватывает: </a:t>
            </a:r>
            <a:r>
              <a:rPr lang="ru-RU" dirty="0"/>
              <a:t>планирование спроса, оптимизация запасов, планирование поставок, производственное планирование</a:t>
            </a:r>
          </a:p>
          <a:p>
            <a:endParaRPr lang="ru-RU" dirty="0"/>
          </a:p>
          <a:p>
            <a:r>
              <a:rPr lang="ru-RU" b="1" dirty="0"/>
              <a:t>Мы пройдем шаги планирования</a:t>
            </a:r>
            <a:r>
              <a:rPr lang="ru-RU" dirty="0"/>
              <a:t>: </a:t>
            </a:r>
          </a:p>
          <a:p>
            <a:pPr marL="685800" marR="0"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effectLst/>
                <a:latin typeface="Calibri" panose="020F0502020204030204" pitchFamily="34" charset="0"/>
              </a:rPr>
              <a:t> - начиная от получения исторических данных и промо в Планировании спроса, создадим неограниченный прогноз</a:t>
            </a:r>
          </a:p>
          <a:p>
            <a:pPr marL="685800" marR="0"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effectLst/>
                <a:latin typeface="Calibri" panose="020F0502020204030204" pitchFamily="34" charset="0"/>
              </a:rPr>
              <a:t> - далее рассчитаем необходимые параметры политик управления запасами </a:t>
            </a:r>
          </a:p>
          <a:p>
            <a:pPr marL="685800" marR="0"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effectLst/>
                <a:latin typeface="Calibri" panose="020F0502020204030204" pitchFamily="34" charset="0"/>
              </a:rPr>
              <a:t> - перейдем </a:t>
            </a:r>
          </a:p>
          <a:p>
            <a:pPr marL="6858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</a:rPr>
              <a:t> </a:t>
            </a:r>
            <a:r>
              <a:rPr lang="ru-RU" sz="1800" dirty="0">
                <a:effectLst/>
                <a:latin typeface="Calibri" panose="020F0502020204030204" pitchFamily="34" charset="0"/>
              </a:rPr>
              <a:t>- </a:t>
            </a:r>
            <a:r>
              <a:rPr lang="ru-RU" sz="1800" dirty="0" err="1">
                <a:effectLst/>
                <a:latin typeface="Calibri" panose="020F0502020204030204" pitchFamily="34" charset="0"/>
              </a:rPr>
              <a:t>Бакетное</a:t>
            </a:r>
            <a:r>
              <a:rPr lang="ru-RU" sz="1800" dirty="0">
                <a:effectLst/>
                <a:latin typeface="Calibri" panose="020F0502020204030204" pitchFamily="34" charset="0"/>
              </a:rPr>
              <a:t> объемное и календарное планирование (на непрерывной шкале времени)</a:t>
            </a:r>
          </a:p>
          <a:p>
            <a:pPr marL="685800" marR="0"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effectLst/>
                <a:latin typeface="Calibri" panose="020F0502020204030204" pitchFamily="34" charset="0"/>
              </a:rPr>
              <a:t> - Политика управления запасами (</a:t>
            </a:r>
            <a:r>
              <a:rPr lang="en-US" sz="1800" dirty="0">
                <a:effectLst/>
                <a:latin typeface="Calibri" panose="020F0502020204030204" pitchFamily="34" charset="0"/>
              </a:rPr>
              <a:t>Inventory Policy)</a:t>
            </a:r>
            <a:r>
              <a:rPr lang="ru-RU" sz="1800" dirty="0">
                <a:effectLst/>
                <a:latin typeface="Calibri" panose="020F0502020204030204" pitchFamily="34" charset="0"/>
              </a:rPr>
              <a:t>. Пересчет параметров планирования запасов: страх, максимальные и целевые запасы </a:t>
            </a:r>
          </a:p>
          <a:p>
            <a:pPr marL="685800" marR="0"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effectLst/>
                <a:latin typeface="Calibri" panose="020F0502020204030204" pitchFamily="34" charset="0"/>
              </a:rPr>
              <a:t> - Запланируем всю цепочку поставок, включая производство, обнаружим нехватку </a:t>
            </a:r>
            <a:r>
              <a:rPr lang="ru-RU" sz="1800" dirty="0" err="1">
                <a:effectLst/>
                <a:latin typeface="Calibri" panose="020F0502020204030204" pitchFamily="34" charset="0"/>
              </a:rPr>
              <a:t>можщностей</a:t>
            </a:r>
            <a:r>
              <a:rPr lang="ru-RU" sz="1800" dirty="0">
                <a:effectLst/>
                <a:latin typeface="Calibri" panose="020F0502020204030204" pitchFamily="34" charset="0"/>
              </a:rPr>
              <a:t> и в процессе перепланирования встреч решим противоречие, </a:t>
            </a:r>
            <a:r>
              <a:rPr lang="ru-RU" sz="1800" dirty="0" err="1">
                <a:effectLst/>
                <a:latin typeface="Calibri" panose="020F0502020204030204" pitchFamily="34" charset="0"/>
              </a:rPr>
              <a:t>передажим</a:t>
            </a:r>
            <a:r>
              <a:rPr lang="ru-RU" sz="1800" dirty="0">
                <a:effectLst/>
                <a:latin typeface="Calibri" panose="020F0502020204030204" pitchFamily="34" charset="0"/>
              </a:rPr>
              <a:t> итоговый план в производство</a:t>
            </a:r>
          </a:p>
          <a:p>
            <a:pPr marL="685800" marR="0"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effectLst/>
                <a:latin typeface="Calibri" panose="020F0502020204030204" pitchFamily="34" charset="0"/>
              </a:rPr>
              <a:t> - в производстве запланируем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B37BC9-B6E4-422E-8740-AC7F839112A8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003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Мы понимаем, что такое </a:t>
            </a:r>
            <a:r>
              <a:rPr lang="en-US" dirty="0"/>
              <a:t>sell out, sell in, off-take -&gt; </a:t>
            </a:r>
            <a:r>
              <a:rPr lang="ru-RU" dirty="0"/>
              <a:t>знаем, что такое </a:t>
            </a:r>
            <a:r>
              <a:rPr lang="en-US" dirty="0"/>
              <a:t>demand propagation</a:t>
            </a:r>
            <a:br>
              <a:rPr lang="ru-RU" dirty="0"/>
            </a:br>
            <a:r>
              <a:rPr lang="ru-RU" dirty="0"/>
              <a:t>Базовый процесс, который покрывается нашим демо. В жизни процессы сложнее. Мы к ним готовы. В рамках демо мы это демонстрировать не будем. В ходе рубрике вопросы/ответы – ответим на них.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880EF4-74AB-458A-B0DA-B5D555FB161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787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Мы понимаем, что такое </a:t>
            </a:r>
            <a:r>
              <a:rPr lang="en-US" dirty="0"/>
              <a:t>sell out, sell in, off-take -&gt; </a:t>
            </a:r>
            <a:r>
              <a:rPr lang="ru-RU" dirty="0"/>
              <a:t>знаем, что такое </a:t>
            </a:r>
            <a:r>
              <a:rPr lang="en-US" dirty="0"/>
              <a:t>demand propagation</a:t>
            </a:r>
            <a:br>
              <a:rPr lang="ru-RU" dirty="0"/>
            </a:br>
            <a:r>
              <a:rPr lang="ru-RU" dirty="0"/>
              <a:t>Базовый процесс, который покрывается нашим демо. В жизни процессы сложнее. Мы к ним готовы. В рамках демо мы это демонстрировать не будем. В ходе рубрике вопросы/ответы – ответим на них.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880EF4-74AB-458A-B0DA-B5D555FB161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429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1. Получение из </a:t>
            </a:r>
            <a:r>
              <a:rPr lang="en-US" dirty="0"/>
              <a:t>ERP</a:t>
            </a:r>
            <a:br>
              <a:rPr lang="en-US" dirty="0"/>
            </a:br>
            <a:r>
              <a:rPr lang="en-US" dirty="0"/>
              <a:t>2. </a:t>
            </a:r>
            <a:r>
              <a:rPr lang="ru-RU" dirty="0"/>
              <a:t>Получение планов </a:t>
            </a:r>
            <a:r>
              <a:rPr lang="en-US" dirty="0"/>
              <a:t>SNP </a:t>
            </a:r>
            <a:r>
              <a:rPr lang="ru-RU" dirty="0"/>
              <a:t>и принимаем себе в работу</a:t>
            </a:r>
            <a:br>
              <a:rPr lang="ru-RU" dirty="0"/>
            </a:br>
            <a:br>
              <a:rPr lang="ru-RU" dirty="0"/>
            </a:br>
            <a:r>
              <a:rPr lang="ru-RU" dirty="0"/>
              <a:t>1. Анализ плана </a:t>
            </a:r>
            <a:r>
              <a:rPr lang="en-US" dirty="0"/>
              <a:t>SNP</a:t>
            </a:r>
            <a:br>
              <a:rPr lang="en-US" dirty="0"/>
            </a:br>
            <a:r>
              <a:rPr lang="en-US" dirty="0"/>
              <a:t>2. </a:t>
            </a:r>
            <a:r>
              <a:rPr lang="ru-RU" dirty="0"/>
              <a:t>Формирование объемных планов и балансировки (планирование по ГП и ПФ)</a:t>
            </a:r>
            <a:br>
              <a:rPr lang="ru-RU" dirty="0"/>
            </a:br>
            <a:r>
              <a:rPr lang="ru-RU" dirty="0"/>
              <a:t>3. Анализ результатов и перепланирование в случае необходимости</a:t>
            </a:r>
            <a:br>
              <a:rPr lang="ru-RU" dirty="0"/>
            </a:br>
            <a:r>
              <a:rPr lang="ru-RU" dirty="0"/>
              <a:t>4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880EF4-74AB-458A-B0DA-B5D555FB161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908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.xml"/><Relationship Id="rId4" Type="http://schemas.openxmlformats.org/officeDocument/2006/relationships/image" Target="../media/image14.emf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8.emf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9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0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7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8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Basic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8206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4922651"/>
            <a:ext cx="7786607" cy="997702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34921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620773"/>
            <a:ext cx="2743200" cy="198318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DBD14B-9731-DDEB-2DE3-4E01B843A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37" y="161862"/>
            <a:ext cx="9847884" cy="341632"/>
          </a:xfrm>
        </p:spPr>
        <p:txBody>
          <a:bodyPr anchor="t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B23852-A67D-4CB1-9408-A63DC332E57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525" y="6431826"/>
            <a:ext cx="727075" cy="165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369B16-4CCB-4465-9699-E998CE33278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525" y="6431826"/>
            <a:ext cx="727075" cy="165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FA93F2-250C-49F9-844C-1902AAD703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525" y="6431826"/>
            <a:ext cx="727075" cy="16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0906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E4C168-38CE-3FC5-2AF5-64FE853F1A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D70ADCC-6BBF-C18A-7151-5E7D4E4024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1984" y="2799789"/>
            <a:ext cx="8968216" cy="1325563"/>
          </a:xfrm>
          <a:prstGeom prst="rect">
            <a:avLst/>
          </a:prstGeom>
        </p:spPr>
        <p:txBody>
          <a:bodyPr anchor="t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3BF918F-2A3D-7E23-2BE9-AC0165C4AF3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823484" y="5572405"/>
            <a:ext cx="7500992" cy="6956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320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3525" y="657107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l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571078"/>
            <a:ext cx="2743200" cy="198318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DBD14B-9731-DDEB-2DE3-4E01B843A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5257"/>
            <a:ext cx="10515600" cy="44542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63C87AE-461F-4691-BC75-9421974D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678"/>
            <a:ext cx="11948160" cy="29684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E3E5D1-2ABD-41C7-B20B-2E9AB54F80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0121" t="12540" r="1251" b="8607"/>
          <a:stretch/>
        </p:blipFill>
        <p:spPr>
          <a:xfrm>
            <a:off x="10755392" y="600677"/>
            <a:ext cx="119499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72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6">
          <p15:clr>
            <a:srgbClr val="FBAE40"/>
          </p15:clr>
        </p15:guide>
        <p15:guide id="3" orient="horz" pos="4133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slide without decorations and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0C369B-77C2-40B6-ADE1-1AB1EFC749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oup 26">
            <a:extLst>
              <a:ext uri="{FF2B5EF4-FFF2-40B4-BE49-F238E27FC236}">
                <a16:creationId xmlns:a16="http://schemas.microsoft.com/office/drawing/2014/main" id="{AA47F875-24BB-4222-9BE0-3D338C1189F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73693" y="5898603"/>
            <a:ext cx="1539620" cy="351172"/>
            <a:chOff x="6588" y="108"/>
            <a:chExt cx="890" cy="203"/>
          </a:xfrm>
        </p:grpSpPr>
        <p:sp>
          <p:nvSpPr>
            <p:cNvPr id="7" name="AutoShape 25">
              <a:extLst>
                <a:ext uri="{FF2B5EF4-FFF2-40B4-BE49-F238E27FC236}">
                  <a16:creationId xmlns:a16="http://schemas.microsoft.com/office/drawing/2014/main" id="{EFB25604-3226-458E-A195-41FB11A7C6C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AD401044-5574-4142-82A6-0942C3ACB8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96A51F06-0742-4A70-8FAD-AA0F6B1C75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6DBB966F-F045-4E46-9228-9FCA8D23F2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8727357C-030F-4E1C-A3D9-48092D2B7A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FFAB5B73-AFE1-44FE-AD30-9CDEEEA7FA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E502EC55-FD01-49CB-A606-68A89505D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574046BB-619F-41A0-AC31-C41F0D73E6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0C767B9E-C93E-4C8E-A5B0-DEFB60925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158917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302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731">
          <p15:clr>
            <a:srgbClr val="FBAE40"/>
          </p15:clr>
        </p15:guide>
        <p15:guide id="7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66A771-F66E-4564-EBF7-BFC7B63B1D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6985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A51931-13B8-EA81-74A8-52D75249C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430" y="1196322"/>
            <a:ext cx="4351020" cy="201752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5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54C9A-2E18-BEE9-1490-16373B9D7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430" y="3356630"/>
            <a:ext cx="3665220" cy="6956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30AEA54-383F-4E71-A209-DBC364ED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8300" y="4210050"/>
            <a:ext cx="4279900" cy="365125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67793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19EA50-607D-28CC-67F6-2FFB9F852F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E7A9E8-D2D3-63F3-F670-A2985062AE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984" y="3498289"/>
            <a:ext cx="10515600" cy="1325563"/>
          </a:xfrm>
          <a:prstGeom prst="rect">
            <a:avLst/>
          </a:prstGeom>
        </p:spPr>
        <p:txBody>
          <a:bodyPr anchor="t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861DEC2-FF0B-5B18-F5F3-2DC5888BD45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632984" y="5064405"/>
            <a:ext cx="7500992" cy="6956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6BE8C6B-EE2F-79F1-3573-F4AA6BC4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6900" y="5975350"/>
            <a:ext cx="4279900" cy="365125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79142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6E5273-B457-2AF1-9825-F94D09A24B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73F05-F182-659F-BEFA-012A73CE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2100" y="5683250"/>
            <a:ext cx="42799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334032-D35A-F1E1-0425-0818542D8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07" y="2785595"/>
            <a:ext cx="6694169" cy="2243605"/>
          </a:xfrm>
          <a:prstGeom prst="rect">
            <a:avLst/>
          </a:prstGeom>
        </p:spPr>
        <p:txBody>
          <a:bodyPr anchor="t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r>
              <a:rPr lang="ru-RU" dirty="0"/>
              <a:t> с</a:t>
            </a:r>
            <a:r>
              <a:rPr lang="en-GB" dirty="0"/>
              <a:t>lick to edit Master title style</a:t>
            </a:r>
            <a:endParaRPr lang="en-RU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5F1B96C-F791-5D53-98DF-BF271AA9B2A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0007" y="5050959"/>
            <a:ext cx="6694169" cy="69564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89961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B32013-1F9B-6436-20CF-2E51F0E43E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50B7BAB-BE77-6510-E5D5-8E77F2904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184" y="4082489"/>
            <a:ext cx="10515600" cy="1325563"/>
          </a:xfrm>
          <a:prstGeom prst="rect">
            <a:avLst/>
          </a:prstGeom>
        </p:spPr>
        <p:txBody>
          <a:bodyPr anchor="t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2857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E4C168-38CE-3FC5-2AF5-64FE853F1A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D70ADCC-6BBF-C18A-7151-5E7D4E4024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1984" y="2799789"/>
            <a:ext cx="8968216" cy="1325563"/>
          </a:xfrm>
          <a:prstGeom prst="rect">
            <a:avLst/>
          </a:prstGeom>
        </p:spPr>
        <p:txBody>
          <a:bodyPr anchor="t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3BF918F-2A3D-7E23-2BE9-AC0165C4AF3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823484" y="5572405"/>
            <a:ext cx="7500992" cy="6956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962876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67EF52-A65D-D624-2D86-5FB7FF6B9A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47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238-55CF-0B4E-9885-8C556527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87425"/>
            <a:ext cx="10515600" cy="7778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568C6-A177-D01B-67D6-0DC5E4DD0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0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CBEA0-35FA-4E81-C027-2599EDB8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67AF19B2-DC6B-D242-9281-E3853BE4330D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A0B9668-8D6A-FD21-B21A-474F90319F7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6888" y="1866900"/>
            <a:ext cx="6907212" cy="9017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97516C5-E723-1B3B-AEE2-1E16A8CC3992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96888" y="2819400"/>
            <a:ext cx="6907212" cy="33147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F263EA-B8FE-6C11-DB78-A8A66AD4AE38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7690860" y="1866900"/>
            <a:ext cx="41021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0970FBFD-32DE-FA6E-D499-6FF7CD59B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690860" y="3228109"/>
            <a:ext cx="4168631" cy="29233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88429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568C6-A177-D01B-67D6-0DC5E4DD0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0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CBEA0-35FA-4E81-C027-2599EDB8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67AF19B2-DC6B-D242-9281-E3853BE4330D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A0B9668-8D6A-FD21-B21A-474F90319F7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6888" y="1866900"/>
            <a:ext cx="6907212" cy="9017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97516C5-E723-1B3B-AEE2-1E16A8CC3992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96888" y="2819400"/>
            <a:ext cx="6907212" cy="33147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F263EA-B8FE-6C11-DB78-A8A66AD4AE38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7690860" y="1866900"/>
            <a:ext cx="41021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0970FBFD-32DE-FA6E-D499-6FF7CD59B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690860" y="3228109"/>
            <a:ext cx="4168631" cy="29233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31339AF-8DA7-402F-8041-A5F2DBD47E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6888" y="155257"/>
            <a:ext cx="10515600" cy="44542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 b="1" i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890925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B3BBE734-8B69-78C1-75E9-F30669DD56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AAEA1DC-7782-2C9A-6274-A5C051F9C9EE}"/>
              </a:ext>
            </a:extLst>
          </p:cNvPr>
          <p:cNvSpPr/>
          <p:nvPr userDrawn="1"/>
        </p:nvSpPr>
        <p:spPr>
          <a:xfrm>
            <a:off x="0" y="2323172"/>
            <a:ext cx="4627020" cy="2225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93461F-3BA8-2EFC-98CB-6A916BF11C4A}"/>
              </a:ext>
            </a:extLst>
          </p:cNvPr>
          <p:cNvSpPr/>
          <p:nvPr userDrawn="1"/>
        </p:nvSpPr>
        <p:spPr>
          <a:xfrm>
            <a:off x="0" y="0"/>
            <a:ext cx="2314937" cy="2314937"/>
          </a:xfrm>
          <a:prstGeom prst="rect">
            <a:avLst/>
          </a:prstGeom>
          <a:solidFill>
            <a:srgbClr val="FE0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C85C3C-9A7C-4F2A-39D0-BCDDE3D06A95}"/>
              </a:ext>
            </a:extLst>
          </p:cNvPr>
          <p:cNvSpPr/>
          <p:nvPr userDrawn="1"/>
        </p:nvSpPr>
        <p:spPr>
          <a:xfrm>
            <a:off x="2312083" y="4543063"/>
            <a:ext cx="2314937" cy="2314937"/>
          </a:xfrm>
          <a:prstGeom prst="rect">
            <a:avLst/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49E9B93-E2C5-0830-1F93-D8C37B667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771525"/>
            <a:ext cx="9220200" cy="5873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443C6DB-3B9C-452D-A7EA-FC74D9B3559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50684" y="1368705"/>
            <a:ext cx="9222216" cy="5616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421AE2F-7925-5136-3AD9-DB6E76202330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965700" y="2438400"/>
            <a:ext cx="6807200" cy="2057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BBC0B61-7A10-E1FC-27C1-C58418773B02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39000" y="4876800"/>
            <a:ext cx="45720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6B10B9C-B14D-5556-FBD2-3165C91C7E1B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9660" y="2924944"/>
            <a:ext cx="3978324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  <a:r>
              <a:rPr lang="en-US" dirty="0"/>
              <a:t>s</a:t>
            </a:r>
            <a:endParaRPr lang="en-GB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A52354-6591-35EE-DB86-C6C7C67AB6E4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49660" y="771525"/>
            <a:ext cx="1709340" cy="11811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D0594E2A-8DB8-26B0-0CDF-ED65DEB8D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3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67AF19B2-DC6B-D242-9281-E3853BE4330D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93D888-278B-9BC4-33E5-48DDAC4B701F}"/>
              </a:ext>
            </a:extLst>
          </p:cNvPr>
          <p:cNvSpPr/>
          <p:nvPr userDrawn="1"/>
        </p:nvSpPr>
        <p:spPr>
          <a:xfrm>
            <a:off x="4625471" y="4543063"/>
            <a:ext cx="2314937" cy="2314937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98240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58ECFE7-BDCE-FA5F-D465-5823C86B17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73B6CEC-431F-58BE-CF65-4F8419AAF2F1}"/>
              </a:ext>
            </a:extLst>
          </p:cNvPr>
          <p:cNvSpPr/>
          <p:nvPr userDrawn="1"/>
        </p:nvSpPr>
        <p:spPr>
          <a:xfrm>
            <a:off x="0" y="0"/>
            <a:ext cx="2314937" cy="2314937"/>
          </a:xfrm>
          <a:prstGeom prst="rect">
            <a:avLst/>
          </a:prstGeom>
          <a:solidFill>
            <a:srgbClr val="9F00FF"/>
          </a:solidFill>
          <a:ln>
            <a:solidFill>
              <a:srgbClr val="9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E0B39C2-8232-D961-DCD0-EEE67E52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140" y="1404938"/>
            <a:ext cx="9220200" cy="5873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30D1754-08C9-5625-375F-334E51108C3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50684" y="1368705"/>
            <a:ext cx="9222216" cy="5616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33DBCFA-CC79-1A82-51A3-73355322DBC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45912" y="4876800"/>
            <a:ext cx="45720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2658AC8-1F35-29D4-4431-FE98E8285CCD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7234177" y="2438400"/>
            <a:ext cx="4538722" cy="226092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18397AC-02DF-3F9A-4A6E-C468291705E5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49660" y="771525"/>
            <a:ext cx="1709340" cy="11811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2D72A2-C9F7-A905-C870-EF5A07A12132}"/>
              </a:ext>
            </a:extLst>
          </p:cNvPr>
          <p:cNvSpPr/>
          <p:nvPr userDrawn="1"/>
        </p:nvSpPr>
        <p:spPr>
          <a:xfrm>
            <a:off x="6272420" y="2313709"/>
            <a:ext cx="262492" cy="4543064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7DF09708-CE95-6CD3-B197-933B7770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3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AF19B2-DC6B-D242-9281-E3853BE4330D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46D373B-A651-D091-A8F1-E3F1F9423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01442" y="2299855"/>
            <a:ext cx="4279467" cy="45581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0C9757-314D-3A8E-B28B-6396507667E0}"/>
              </a:ext>
            </a:extLst>
          </p:cNvPr>
          <p:cNvSpPr/>
          <p:nvPr userDrawn="1"/>
        </p:nvSpPr>
        <p:spPr>
          <a:xfrm>
            <a:off x="0" y="2313709"/>
            <a:ext cx="6263014" cy="2225680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E5C77CC-2842-70ED-34E2-1AB37FF3D5BD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9660" y="2924944"/>
            <a:ext cx="3978324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  <a:r>
              <a:rPr lang="en-US" dirty="0"/>
              <a:t>s</a:t>
            </a:r>
            <a:endParaRPr lang="en-GB" dirty="0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FEFDD04-CD08-8C7D-880C-6B8F75B9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0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297326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02999" y="6601360"/>
            <a:ext cx="625475" cy="167740"/>
          </a:xfrm>
          <a:prstGeom prst="rect">
            <a:avLst/>
          </a:prstGeom>
        </p:spPr>
        <p:txBody>
          <a:bodyPr/>
          <a:lstStyle>
            <a:lvl1pPr algn="r">
              <a:defRPr sz="800"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DBD14B-9731-DDEB-2DE3-4E01B843A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260350"/>
            <a:ext cx="11664950" cy="42544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400" b="0" i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22151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3525" y="657107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l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571078"/>
            <a:ext cx="2743200" cy="198318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DBD14B-9731-DDEB-2DE3-4E01B843A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5257"/>
            <a:ext cx="10515600" cy="44542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63C87AE-461F-4691-BC75-9421974D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678"/>
            <a:ext cx="11948160" cy="29684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E3E5D1-2ABD-41C7-B20B-2E9AB54F80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0121" t="12540" r="1251" b="8607"/>
          <a:stretch/>
        </p:blipFill>
        <p:spPr>
          <a:xfrm>
            <a:off x="10755392" y="600677"/>
            <a:ext cx="119499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3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6">
          <p15:clr>
            <a:srgbClr val="FBAE40"/>
          </p15:clr>
        </p15:guide>
        <p15:guide id="3" orient="horz" pos="4133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C57A9C-48AB-97B8-5F68-7CB783A070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AADBD8-BAF1-DD2B-B966-0FB5A024255B}"/>
              </a:ext>
            </a:extLst>
          </p:cNvPr>
          <p:cNvSpPr/>
          <p:nvPr userDrawn="1"/>
        </p:nvSpPr>
        <p:spPr>
          <a:xfrm>
            <a:off x="2266682" y="4497983"/>
            <a:ext cx="2360017" cy="2360017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C3909-A973-1011-3B96-712B02814A16}"/>
              </a:ext>
            </a:extLst>
          </p:cNvPr>
          <p:cNvSpPr/>
          <p:nvPr userDrawn="1"/>
        </p:nvSpPr>
        <p:spPr>
          <a:xfrm>
            <a:off x="0" y="2310293"/>
            <a:ext cx="4627020" cy="2225680"/>
          </a:xfrm>
          <a:prstGeom prst="rect">
            <a:avLst/>
          </a:prstGeom>
          <a:solidFill>
            <a:srgbClr val="9F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27587D-53AE-75EA-A2F5-1D2FA215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771525"/>
            <a:ext cx="9220200" cy="5873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6EC4626-CF3B-5328-6C1F-17F5977BD6E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50684" y="1368705"/>
            <a:ext cx="9222216" cy="5616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D0C46E2-DC31-5ADF-2609-7941CFC34CCC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9660" y="2924944"/>
            <a:ext cx="3978324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  <a:r>
              <a:rPr lang="en-US" dirty="0"/>
              <a:t>s</a:t>
            </a:r>
            <a:endParaRPr lang="en-GB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53DD215-7D1F-4E15-845B-AFD62DA9AF37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49660" y="771525"/>
            <a:ext cx="1709340" cy="11811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83B4D98-0EE6-8ECA-44BC-581743D9A308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965700" y="2438400"/>
            <a:ext cx="6807200" cy="2057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5028A3D-555B-0B5A-44FB-040C79461F79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965700" y="4876800"/>
            <a:ext cx="45720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012FA4-519D-9175-A5D7-07ED26253214}"/>
              </a:ext>
            </a:extLst>
          </p:cNvPr>
          <p:cNvSpPr/>
          <p:nvPr userDrawn="1"/>
        </p:nvSpPr>
        <p:spPr>
          <a:xfrm>
            <a:off x="0" y="0"/>
            <a:ext cx="2314937" cy="2314937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6E964DA3-ACAB-CCE1-FE60-AA20F5E2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0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FA2CD1C-2F3B-B613-6D06-BE1C58EF1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571078"/>
            <a:ext cx="2743200" cy="19831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4822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8465" y="6419690"/>
            <a:ext cx="493275" cy="177960"/>
          </a:xfrm>
          <a:prstGeom prst="rect">
            <a:avLst/>
          </a:prstGeom>
        </p:spPr>
        <p:txBody>
          <a:bodyPr r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DBD14B-9731-DDEB-2DE3-4E01B843A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4" y="269812"/>
            <a:ext cx="11668215" cy="35029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319A0-A1CE-C07E-936D-8852F6F42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3526" y="6464412"/>
            <a:ext cx="584200" cy="13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54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8465" y="6419690"/>
            <a:ext cx="493275" cy="177960"/>
          </a:xfrm>
          <a:prstGeom prst="rect">
            <a:avLst/>
          </a:prstGeom>
        </p:spPr>
        <p:txBody>
          <a:bodyPr r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319A0-A1CE-C07E-936D-8852F6F42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3526" y="6464412"/>
            <a:ext cx="584200" cy="13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018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8465" y="6419690"/>
            <a:ext cx="493275" cy="17796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319A0-A1CE-C07E-936D-8852F6F42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3525" y="6431826"/>
            <a:ext cx="727075" cy="16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94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slide without decorations and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0C369B-77C2-40B6-ADE1-1AB1EFC749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oup 26">
            <a:extLst>
              <a:ext uri="{FF2B5EF4-FFF2-40B4-BE49-F238E27FC236}">
                <a16:creationId xmlns:a16="http://schemas.microsoft.com/office/drawing/2014/main" id="{AA47F875-24BB-4222-9BE0-3D338C1189F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73693" y="5898603"/>
            <a:ext cx="1539620" cy="351172"/>
            <a:chOff x="6588" y="108"/>
            <a:chExt cx="890" cy="203"/>
          </a:xfrm>
        </p:grpSpPr>
        <p:sp>
          <p:nvSpPr>
            <p:cNvPr id="7" name="AutoShape 25">
              <a:extLst>
                <a:ext uri="{FF2B5EF4-FFF2-40B4-BE49-F238E27FC236}">
                  <a16:creationId xmlns:a16="http://schemas.microsoft.com/office/drawing/2014/main" id="{EFB25604-3226-458E-A195-41FB11A7C6C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AD401044-5574-4142-82A6-0942C3ACB8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96A51F06-0742-4A70-8FAD-AA0F6B1C75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6DBB966F-F045-4E46-9228-9FCA8D23F2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8727357C-030F-4E1C-A3D9-48092D2B7A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FFAB5B73-AFE1-44FE-AD30-9CDEEEA7FA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E502EC55-FD01-49CB-A606-68A89505D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574046BB-619F-41A0-AC31-C41F0D73E6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0C767B9E-C93E-4C8E-A5B0-DEFB60925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97706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302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731">
          <p15:clr>
            <a:srgbClr val="FBAE40"/>
          </p15:clr>
        </p15:guide>
        <p15:guide id="7" orient="horz" pos="40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620773"/>
            <a:ext cx="2743200" cy="198318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Manrope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CF0FC9-75A9-4ADD-B36F-165725B23F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4" y="269812"/>
            <a:ext cx="9954533" cy="35029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Manrope ExtraBold" panose="00000906000000000000" pitchFamily="50" charset="-52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253550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6">
          <p15:clr>
            <a:srgbClr val="FBAE40"/>
          </p15:clr>
        </p15:guide>
        <p15:guide id="3" orient="horz" pos="4133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ысоконагруженный слайд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5873D31-3D89-40D6-A120-502561F388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0372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16" imgH="416" progId="TCLayout.ActiveDocument.1">
                  <p:embed/>
                </p:oleObj>
              </mc:Choice>
              <mc:Fallback>
                <p:oleObj name="Слайд think-cell" r:id="rId3" imgW="416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73D31-3D89-40D6-A120-502561F38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28F3C2-A5CB-4FE9-A8B8-DE9372D930DC}"/>
              </a:ext>
            </a:extLst>
          </p:cNvPr>
          <p:cNvSpPr/>
          <p:nvPr userDrawn="1"/>
        </p:nvSpPr>
        <p:spPr>
          <a:xfrm>
            <a:off x="0" y="2"/>
            <a:ext cx="12192000" cy="8366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EA4DC26-73CA-4656-93CD-CA841E5AD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275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B1BEC5-E007-43A8-B1FB-305E8B3E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260349"/>
            <a:ext cx="9708351" cy="57226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A4F18C6-D8B3-4D0D-8C8C-6DCABEA3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0"/>
            <a:ext cx="4114800" cy="198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</p:spTree>
    <p:extLst>
      <p:ext uri="{BB962C8B-B14F-4D97-AF65-F5344CB8AC3E}">
        <p14:creationId xmlns:p14="http://schemas.microsoft.com/office/powerpoint/2010/main" val="10555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27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618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pos="257">
          <p15:clr>
            <a:srgbClr val="FBAE40"/>
          </p15:clr>
        </p15:guide>
        <p15:guide id="9" pos="7423">
          <p15:clr>
            <a:srgbClr val="FBAE40"/>
          </p15:clr>
        </p15:guide>
        <p15:guide id="10" pos="2048">
          <p15:clr>
            <a:srgbClr val="FBAE40"/>
          </p15:clr>
        </p15:guide>
        <p15:guide id="11" pos="563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bg>
      <p:bgPr>
        <a:gradFill>
          <a:gsLst>
            <a:gs pos="52000">
              <a:schemeClr val="bg1">
                <a:alpha val="30000"/>
              </a:schemeClr>
            </a:gs>
            <a:gs pos="0">
              <a:schemeClr val="bg1">
                <a:alpha val="0"/>
              </a:schemeClr>
            </a:gs>
            <a:gs pos="100000">
              <a:schemeClr val="bg1">
                <a:alpha val="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1EB7A2-3569-4840-8616-C447CA68EDD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0" y="0"/>
            <a:ext cx="12193200" cy="6858000"/>
          </a:xfrm>
          <a:prstGeom prst="rect">
            <a:avLst/>
          </a:prstGeom>
        </p:spPr>
      </p:pic>
      <p:sp>
        <p:nvSpPr>
          <p:cNvPr id="44" name="Freeform 5">
            <a:extLst>
              <a:ext uri="{FF2B5EF4-FFF2-40B4-BE49-F238E27FC236}">
                <a16:creationId xmlns:a16="http://schemas.microsoft.com/office/drawing/2014/main" id="{2A8A131B-379E-4299-A082-FB5CB1A6787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50851" y="876568"/>
            <a:ext cx="262382" cy="274921"/>
          </a:xfrm>
          <a:custGeom>
            <a:avLst/>
            <a:gdLst>
              <a:gd name="T0" fmla="*/ 1914 w 2342"/>
              <a:gd name="T1" fmla="*/ 297 h 2452"/>
              <a:gd name="T2" fmla="*/ 1714 w 2342"/>
              <a:gd name="T3" fmla="*/ 134 h 2452"/>
              <a:gd name="T4" fmla="*/ 1172 w 2342"/>
              <a:gd name="T5" fmla="*/ 0 h 2452"/>
              <a:gd name="T6" fmla="*/ 342 w 2342"/>
              <a:gd name="T7" fmla="*/ 349 h 2452"/>
              <a:gd name="T8" fmla="*/ 0 w 2342"/>
              <a:gd name="T9" fmla="*/ 1225 h 2452"/>
              <a:gd name="T10" fmla="*/ 343 w 2342"/>
              <a:gd name="T11" fmla="*/ 2103 h 2452"/>
              <a:gd name="T12" fmla="*/ 1173 w 2342"/>
              <a:gd name="T13" fmla="*/ 2452 h 2452"/>
              <a:gd name="T14" fmla="*/ 1715 w 2342"/>
              <a:gd name="T15" fmla="*/ 2318 h 2452"/>
              <a:gd name="T16" fmla="*/ 1915 w 2342"/>
              <a:gd name="T17" fmla="*/ 2154 h 2452"/>
              <a:gd name="T18" fmla="*/ 1915 w 2342"/>
              <a:gd name="T19" fmla="*/ 2386 h 2452"/>
              <a:gd name="T20" fmla="*/ 2342 w 2342"/>
              <a:gd name="T21" fmla="*/ 2386 h 2452"/>
              <a:gd name="T22" fmla="*/ 2342 w 2342"/>
              <a:gd name="T23" fmla="*/ 66 h 2452"/>
              <a:gd name="T24" fmla="*/ 1915 w 2342"/>
              <a:gd name="T25" fmla="*/ 66 h 2452"/>
              <a:gd name="T26" fmla="*/ 1914 w 2342"/>
              <a:gd name="T27" fmla="*/ 297 h 2452"/>
              <a:gd name="T28" fmla="*/ 1177 w 2342"/>
              <a:gd name="T29" fmla="*/ 2047 h 2452"/>
              <a:gd name="T30" fmla="*/ 644 w 2342"/>
              <a:gd name="T31" fmla="*/ 1813 h 2452"/>
              <a:gd name="T32" fmla="*/ 431 w 2342"/>
              <a:gd name="T33" fmla="*/ 1225 h 2452"/>
              <a:gd name="T34" fmla="*/ 644 w 2342"/>
              <a:gd name="T35" fmla="*/ 638 h 2452"/>
              <a:gd name="T36" fmla="*/ 1177 w 2342"/>
              <a:gd name="T37" fmla="*/ 404 h 2452"/>
              <a:gd name="T38" fmla="*/ 1731 w 2342"/>
              <a:gd name="T39" fmla="*/ 639 h 2452"/>
              <a:gd name="T40" fmla="*/ 1954 w 2342"/>
              <a:gd name="T41" fmla="*/ 1225 h 2452"/>
              <a:gd name="T42" fmla="*/ 1731 w 2342"/>
              <a:gd name="T43" fmla="*/ 1812 h 2452"/>
              <a:gd name="T44" fmla="*/ 1177 w 2342"/>
              <a:gd name="T45" fmla="*/ 2047 h 2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42" h="2452">
                <a:moveTo>
                  <a:pt x="1914" y="297"/>
                </a:moveTo>
                <a:cubicBezTo>
                  <a:pt x="1861" y="238"/>
                  <a:pt x="1795" y="181"/>
                  <a:pt x="1714" y="134"/>
                </a:cubicBezTo>
                <a:cubicBezTo>
                  <a:pt x="1577" y="54"/>
                  <a:pt x="1398" y="0"/>
                  <a:pt x="1172" y="0"/>
                </a:cubicBezTo>
                <a:cubicBezTo>
                  <a:pt x="848" y="0"/>
                  <a:pt x="554" y="130"/>
                  <a:pt x="342" y="349"/>
                </a:cubicBezTo>
                <a:cubicBezTo>
                  <a:pt x="130" y="567"/>
                  <a:pt x="0" y="874"/>
                  <a:pt x="0" y="1225"/>
                </a:cubicBezTo>
                <a:cubicBezTo>
                  <a:pt x="0" y="1577"/>
                  <a:pt x="130" y="1884"/>
                  <a:pt x="343" y="2103"/>
                </a:cubicBezTo>
                <a:cubicBezTo>
                  <a:pt x="555" y="2321"/>
                  <a:pt x="849" y="2452"/>
                  <a:pt x="1173" y="2452"/>
                </a:cubicBezTo>
                <a:cubicBezTo>
                  <a:pt x="1399" y="2452"/>
                  <a:pt x="1578" y="2398"/>
                  <a:pt x="1715" y="2318"/>
                </a:cubicBezTo>
                <a:cubicBezTo>
                  <a:pt x="1796" y="2270"/>
                  <a:pt x="1862" y="2214"/>
                  <a:pt x="1915" y="2154"/>
                </a:cubicBezTo>
                <a:cubicBezTo>
                  <a:pt x="1915" y="2386"/>
                  <a:pt x="1915" y="2386"/>
                  <a:pt x="1915" y="2386"/>
                </a:cubicBezTo>
                <a:cubicBezTo>
                  <a:pt x="2342" y="2386"/>
                  <a:pt x="2342" y="2386"/>
                  <a:pt x="2342" y="2386"/>
                </a:cubicBezTo>
                <a:cubicBezTo>
                  <a:pt x="2342" y="66"/>
                  <a:pt x="2342" y="66"/>
                  <a:pt x="2342" y="66"/>
                </a:cubicBezTo>
                <a:cubicBezTo>
                  <a:pt x="1915" y="66"/>
                  <a:pt x="1915" y="66"/>
                  <a:pt x="1915" y="66"/>
                </a:cubicBezTo>
                <a:cubicBezTo>
                  <a:pt x="1914" y="297"/>
                  <a:pt x="1914" y="297"/>
                  <a:pt x="1914" y="297"/>
                </a:cubicBezTo>
                <a:close/>
                <a:moveTo>
                  <a:pt x="1177" y="2047"/>
                </a:moveTo>
                <a:cubicBezTo>
                  <a:pt x="961" y="2047"/>
                  <a:pt x="776" y="1959"/>
                  <a:pt x="644" y="1813"/>
                </a:cubicBezTo>
                <a:cubicBezTo>
                  <a:pt x="511" y="1667"/>
                  <a:pt x="431" y="1462"/>
                  <a:pt x="431" y="1225"/>
                </a:cubicBezTo>
                <a:cubicBezTo>
                  <a:pt x="431" y="989"/>
                  <a:pt x="512" y="784"/>
                  <a:pt x="644" y="638"/>
                </a:cubicBezTo>
                <a:cubicBezTo>
                  <a:pt x="776" y="492"/>
                  <a:pt x="961" y="404"/>
                  <a:pt x="1177" y="404"/>
                </a:cubicBezTo>
                <a:cubicBezTo>
                  <a:pt x="1400" y="404"/>
                  <a:pt x="1593" y="492"/>
                  <a:pt x="1731" y="639"/>
                </a:cubicBezTo>
                <a:cubicBezTo>
                  <a:pt x="1870" y="784"/>
                  <a:pt x="1954" y="990"/>
                  <a:pt x="1954" y="1225"/>
                </a:cubicBezTo>
                <a:cubicBezTo>
                  <a:pt x="1954" y="1461"/>
                  <a:pt x="1870" y="1666"/>
                  <a:pt x="1731" y="1812"/>
                </a:cubicBezTo>
                <a:cubicBezTo>
                  <a:pt x="1593" y="1959"/>
                  <a:pt x="1400" y="2047"/>
                  <a:pt x="1177" y="2047"/>
                </a:cubicBezTo>
                <a:close/>
              </a:path>
            </a:pathLst>
          </a:custGeom>
          <a:solidFill>
            <a:srgbClr val="F3702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45" name="Freeform 6">
            <a:extLst>
              <a:ext uri="{FF2B5EF4-FFF2-40B4-BE49-F238E27FC236}">
                <a16:creationId xmlns:a16="http://schemas.microsoft.com/office/drawing/2014/main" id="{CE6877F5-8E50-4C12-8F85-C23E5729491F}"/>
              </a:ext>
            </a:extLst>
          </p:cNvPr>
          <p:cNvSpPr>
            <a:spLocks/>
          </p:cNvSpPr>
          <p:nvPr userDrawn="1"/>
        </p:nvSpPr>
        <p:spPr bwMode="auto">
          <a:xfrm>
            <a:off x="766174" y="883998"/>
            <a:ext cx="251237" cy="260060"/>
          </a:xfrm>
          <a:custGeom>
            <a:avLst/>
            <a:gdLst>
              <a:gd name="T0" fmla="*/ 523 w 541"/>
              <a:gd name="T1" fmla="*/ 0 h 560"/>
              <a:gd name="T2" fmla="*/ 500 w 541"/>
              <a:gd name="T3" fmla="*/ 0 h 560"/>
              <a:gd name="T4" fmla="*/ 405 w 541"/>
              <a:gd name="T5" fmla="*/ 0 h 560"/>
              <a:gd name="T6" fmla="*/ 270 w 541"/>
              <a:gd name="T7" fmla="*/ 182 h 560"/>
              <a:gd name="T8" fmla="*/ 134 w 541"/>
              <a:gd name="T9" fmla="*/ 0 h 560"/>
              <a:gd name="T10" fmla="*/ 17 w 541"/>
              <a:gd name="T11" fmla="*/ 0 h 560"/>
              <a:gd name="T12" fmla="*/ 213 w 541"/>
              <a:gd name="T13" fmla="*/ 263 h 560"/>
              <a:gd name="T14" fmla="*/ 0 w 541"/>
              <a:gd name="T15" fmla="*/ 560 h 560"/>
              <a:gd name="T16" fmla="*/ 116 w 541"/>
              <a:gd name="T17" fmla="*/ 560 h 560"/>
              <a:gd name="T18" fmla="*/ 271 w 541"/>
              <a:gd name="T19" fmla="*/ 345 h 560"/>
              <a:gd name="T20" fmla="*/ 423 w 541"/>
              <a:gd name="T21" fmla="*/ 560 h 560"/>
              <a:gd name="T22" fmla="*/ 541 w 541"/>
              <a:gd name="T23" fmla="*/ 560 h 560"/>
              <a:gd name="T24" fmla="*/ 328 w 541"/>
              <a:gd name="T25" fmla="*/ 262 h 560"/>
              <a:gd name="T26" fmla="*/ 523 w 541"/>
              <a:gd name="T27" fmla="*/ 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1" h="560">
                <a:moveTo>
                  <a:pt x="523" y="0"/>
                </a:moveTo>
                <a:lnTo>
                  <a:pt x="500" y="0"/>
                </a:lnTo>
                <a:lnTo>
                  <a:pt x="405" y="0"/>
                </a:lnTo>
                <a:lnTo>
                  <a:pt x="270" y="182"/>
                </a:lnTo>
                <a:lnTo>
                  <a:pt x="134" y="0"/>
                </a:lnTo>
                <a:lnTo>
                  <a:pt x="17" y="0"/>
                </a:lnTo>
                <a:lnTo>
                  <a:pt x="213" y="263"/>
                </a:lnTo>
                <a:lnTo>
                  <a:pt x="0" y="560"/>
                </a:lnTo>
                <a:lnTo>
                  <a:pt x="116" y="560"/>
                </a:lnTo>
                <a:lnTo>
                  <a:pt x="271" y="345"/>
                </a:lnTo>
                <a:lnTo>
                  <a:pt x="423" y="560"/>
                </a:lnTo>
                <a:lnTo>
                  <a:pt x="541" y="560"/>
                </a:lnTo>
                <a:lnTo>
                  <a:pt x="328" y="262"/>
                </a:lnTo>
                <a:lnTo>
                  <a:pt x="523" y="0"/>
                </a:lnTo>
                <a:close/>
              </a:path>
            </a:pathLst>
          </a:custGeom>
          <a:solidFill>
            <a:srgbClr val="F3702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46" name="Freeform 7">
            <a:extLst>
              <a:ext uri="{FF2B5EF4-FFF2-40B4-BE49-F238E27FC236}">
                <a16:creationId xmlns:a16="http://schemas.microsoft.com/office/drawing/2014/main" id="{544317A4-BDCF-4C96-BB80-549F5D96DCE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44345" y="876568"/>
            <a:ext cx="250772" cy="273992"/>
          </a:xfrm>
          <a:custGeom>
            <a:avLst/>
            <a:gdLst>
              <a:gd name="T0" fmla="*/ 1605 w 2235"/>
              <a:gd name="T1" fmla="*/ 92 h 2444"/>
              <a:gd name="T2" fmla="*/ 1165 w 2235"/>
              <a:gd name="T3" fmla="*/ 0 h 2444"/>
              <a:gd name="T4" fmla="*/ 333 w 2235"/>
              <a:gd name="T5" fmla="*/ 339 h 2444"/>
              <a:gd name="T6" fmla="*/ 1 w 2235"/>
              <a:gd name="T7" fmla="*/ 1236 h 2444"/>
              <a:gd name="T8" fmla="*/ 1 w 2235"/>
              <a:gd name="T9" fmla="*/ 1253 h 2444"/>
              <a:gd name="T10" fmla="*/ 328 w 2235"/>
              <a:gd name="T11" fmla="*/ 2119 h 2444"/>
              <a:gd name="T12" fmla="*/ 1174 w 2235"/>
              <a:gd name="T13" fmla="*/ 2444 h 2444"/>
              <a:gd name="T14" fmla="*/ 1658 w 2235"/>
              <a:gd name="T15" fmla="*/ 2360 h 2444"/>
              <a:gd name="T16" fmla="*/ 2109 w 2235"/>
              <a:gd name="T17" fmla="*/ 2036 h 2444"/>
              <a:gd name="T18" fmla="*/ 2140 w 2235"/>
              <a:gd name="T19" fmla="*/ 2001 h 2444"/>
              <a:gd name="T20" fmla="*/ 1851 w 2235"/>
              <a:gd name="T21" fmla="*/ 1719 h 2444"/>
              <a:gd name="T22" fmla="*/ 1817 w 2235"/>
              <a:gd name="T23" fmla="*/ 1754 h 2444"/>
              <a:gd name="T24" fmla="*/ 1540 w 2235"/>
              <a:gd name="T25" fmla="*/ 1972 h 2444"/>
              <a:gd name="T26" fmla="*/ 1172 w 2235"/>
              <a:gd name="T27" fmla="*/ 2048 h 2444"/>
              <a:gd name="T28" fmla="*/ 871 w 2235"/>
              <a:gd name="T29" fmla="*/ 1995 h 2444"/>
              <a:gd name="T30" fmla="*/ 558 w 2235"/>
              <a:gd name="T31" fmla="*/ 1738 h 2444"/>
              <a:gd name="T32" fmla="*/ 434 w 2235"/>
              <a:gd name="T33" fmla="*/ 1345 h 2444"/>
              <a:gd name="T34" fmla="*/ 2228 w 2235"/>
              <a:gd name="T35" fmla="*/ 1345 h 2444"/>
              <a:gd name="T36" fmla="*/ 2230 w 2235"/>
              <a:gd name="T37" fmla="*/ 1300 h 2444"/>
              <a:gd name="T38" fmla="*/ 2235 w 2235"/>
              <a:gd name="T39" fmla="*/ 1156 h 2444"/>
              <a:gd name="T40" fmla="*/ 1943 w 2235"/>
              <a:gd name="T41" fmla="*/ 341 h 2444"/>
              <a:gd name="T42" fmla="*/ 1605 w 2235"/>
              <a:gd name="T43" fmla="*/ 92 h 2444"/>
              <a:gd name="T44" fmla="*/ 673 w 2235"/>
              <a:gd name="T45" fmla="*/ 585 h 2444"/>
              <a:gd name="T46" fmla="*/ 1165 w 2235"/>
              <a:gd name="T47" fmla="*/ 406 h 2444"/>
              <a:gd name="T48" fmla="*/ 1606 w 2235"/>
              <a:gd name="T49" fmla="*/ 585 h 2444"/>
              <a:gd name="T50" fmla="*/ 1786 w 2235"/>
              <a:gd name="T51" fmla="*/ 964 h 2444"/>
              <a:gd name="T52" fmla="*/ 459 w 2235"/>
              <a:gd name="T53" fmla="*/ 964 h 2444"/>
              <a:gd name="T54" fmla="*/ 673 w 2235"/>
              <a:gd name="T55" fmla="*/ 585 h 2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235" h="2444">
                <a:moveTo>
                  <a:pt x="1605" y="92"/>
                </a:moveTo>
                <a:cubicBezTo>
                  <a:pt x="1474" y="33"/>
                  <a:pt x="1325" y="0"/>
                  <a:pt x="1165" y="0"/>
                </a:cubicBezTo>
                <a:cubicBezTo>
                  <a:pt x="834" y="0"/>
                  <a:pt x="540" y="122"/>
                  <a:pt x="333" y="339"/>
                </a:cubicBezTo>
                <a:cubicBezTo>
                  <a:pt x="124" y="556"/>
                  <a:pt x="0" y="865"/>
                  <a:pt x="1" y="1236"/>
                </a:cubicBezTo>
                <a:cubicBezTo>
                  <a:pt x="1" y="1253"/>
                  <a:pt x="1" y="1253"/>
                  <a:pt x="1" y="1253"/>
                </a:cubicBezTo>
                <a:cubicBezTo>
                  <a:pt x="1" y="1610"/>
                  <a:pt x="120" y="1909"/>
                  <a:pt x="328" y="2119"/>
                </a:cubicBezTo>
                <a:cubicBezTo>
                  <a:pt x="536" y="2328"/>
                  <a:pt x="831" y="2444"/>
                  <a:pt x="1174" y="2444"/>
                </a:cubicBezTo>
                <a:cubicBezTo>
                  <a:pt x="1339" y="2444"/>
                  <a:pt x="1502" y="2423"/>
                  <a:pt x="1658" y="2360"/>
                </a:cubicBezTo>
                <a:cubicBezTo>
                  <a:pt x="1815" y="2298"/>
                  <a:pt x="1966" y="2195"/>
                  <a:pt x="2109" y="2036"/>
                </a:cubicBezTo>
                <a:cubicBezTo>
                  <a:pt x="2140" y="2001"/>
                  <a:pt x="2140" y="2001"/>
                  <a:pt x="2140" y="2001"/>
                </a:cubicBezTo>
                <a:cubicBezTo>
                  <a:pt x="1851" y="1719"/>
                  <a:pt x="1851" y="1719"/>
                  <a:pt x="1851" y="1719"/>
                </a:cubicBezTo>
                <a:cubicBezTo>
                  <a:pt x="1817" y="1754"/>
                  <a:pt x="1817" y="1754"/>
                  <a:pt x="1817" y="1754"/>
                </a:cubicBezTo>
                <a:cubicBezTo>
                  <a:pt x="1727" y="1849"/>
                  <a:pt x="1640" y="1922"/>
                  <a:pt x="1540" y="1972"/>
                </a:cubicBezTo>
                <a:cubicBezTo>
                  <a:pt x="1441" y="2021"/>
                  <a:pt x="1325" y="2048"/>
                  <a:pt x="1172" y="2048"/>
                </a:cubicBezTo>
                <a:cubicBezTo>
                  <a:pt x="1061" y="2048"/>
                  <a:pt x="960" y="2030"/>
                  <a:pt x="871" y="1995"/>
                </a:cubicBezTo>
                <a:cubicBezTo>
                  <a:pt x="739" y="1943"/>
                  <a:pt x="632" y="1856"/>
                  <a:pt x="558" y="1738"/>
                </a:cubicBezTo>
                <a:cubicBezTo>
                  <a:pt x="489" y="1631"/>
                  <a:pt x="447" y="1499"/>
                  <a:pt x="434" y="1345"/>
                </a:cubicBezTo>
                <a:cubicBezTo>
                  <a:pt x="2228" y="1345"/>
                  <a:pt x="2228" y="1345"/>
                  <a:pt x="2228" y="1345"/>
                </a:cubicBezTo>
                <a:cubicBezTo>
                  <a:pt x="2230" y="1300"/>
                  <a:pt x="2230" y="1300"/>
                  <a:pt x="2230" y="1300"/>
                </a:cubicBezTo>
                <a:cubicBezTo>
                  <a:pt x="2235" y="1232"/>
                  <a:pt x="2235" y="1156"/>
                  <a:pt x="2235" y="1156"/>
                </a:cubicBezTo>
                <a:cubicBezTo>
                  <a:pt x="2235" y="839"/>
                  <a:pt x="2130" y="551"/>
                  <a:pt x="1943" y="341"/>
                </a:cubicBezTo>
                <a:cubicBezTo>
                  <a:pt x="1850" y="236"/>
                  <a:pt x="1736" y="151"/>
                  <a:pt x="1605" y="92"/>
                </a:cubicBezTo>
                <a:close/>
                <a:moveTo>
                  <a:pt x="673" y="585"/>
                </a:moveTo>
                <a:cubicBezTo>
                  <a:pt x="800" y="475"/>
                  <a:pt x="974" y="406"/>
                  <a:pt x="1165" y="406"/>
                </a:cubicBezTo>
                <a:cubicBezTo>
                  <a:pt x="1337" y="406"/>
                  <a:pt x="1492" y="475"/>
                  <a:pt x="1606" y="585"/>
                </a:cubicBezTo>
                <a:cubicBezTo>
                  <a:pt x="1707" y="685"/>
                  <a:pt x="1774" y="817"/>
                  <a:pt x="1786" y="964"/>
                </a:cubicBezTo>
                <a:cubicBezTo>
                  <a:pt x="459" y="964"/>
                  <a:pt x="459" y="964"/>
                  <a:pt x="459" y="964"/>
                </a:cubicBezTo>
                <a:cubicBezTo>
                  <a:pt x="481" y="816"/>
                  <a:pt x="559" y="684"/>
                  <a:pt x="673" y="58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B0F7B544-FDEB-46B2-8C45-7B7A6497D06F}"/>
              </a:ext>
            </a:extLst>
          </p:cNvPr>
          <p:cNvSpPr>
            <a:spLocks/>
          </p:cNvSpPr>
          <p:nvPr userDrawn="1"/>
        </p:nvSpPr>
        <p:spPr bwMode="auto">
          <a:xfrm>
            <a:off x="1357346" y="879819"/>
            <a:ext cx="220122" cy="264240"/>
          </a:xfrm>
          <a:custGeom>
            <a:avLst/>
            <a:gdLst>
              <a:gd name="T0" fmla="*/ 1608 w 1965"/>
              <a:gd name="T1" fmla="*/ 142 h 2354"/>
              <a:gd name="T2" fmla="*/ 1093 w 1965"/>
              <a:gd name="T3" fmla="*/ 0 h 2354"/>
              <a:gd name="T4" fmla="*/ 627 w 1965"/>
              <a:gd name="T5" fmla="*/ 122 h 2354"/>
              <a:gd name="T6" fmla="*/ 431 w 1965"/>
              <a:gd name="T7" fmla="*/ 293 h 2354"/>
              <a:gd name="T8" fmla="*/ 431 w 1965"/>
              <a:gd name="T9" fmla="*/ 35 h 2354"/>
              <a:gd name="T10" fmla="*/ 0 w 1965"/>
              <a:gd name="T11" fmla="*/ 35 h 2354"/>
              <a:gd name="T12" fmla="*/ 0 w 1965"/>
              <a:gd name="T13" fmla="*/ 2354 h 2354"/>
              <a:gd name="T14" fmla="*/ 431 w 1965"/>
              <a:gd name="T15" fmla="*/ 2354 h 2354"/>
              <a:gd name="T16" fmla="*/ 431 w 1965"/>
              <a:gd name="T17" fmla="*/ 979 h 2354"/>
              <a:gd name="T18" fmla="*/ 591 w 1965"/>
              <a:gd name="T19" fmla="*/ 562 h 2354"/>
              <a:gd name="T20" fmla="*/ 1009 w 1965"/>
              <a:gd name="T21" fmla="*/ 405 h 2354"/>
              <a:gd name="T22" fmla="*/ 1232 w 1965"/>
              <a:gd name="T23" fmla="*/ 443 h 2354"/>
              <a:gd name="T24" fmla="*/ 1456 w 1965"/>
              <a:gd name="T25" fmla="*/ 631 h 2354"/>
              <a:gd name="T26" fmla="*/ 1537 w 1965"/>
              <a:gd name="T27" fmla="*/ 956 h 2354"/>
              <a:gd name="T28" fmla="*/ 1537 w 1965"/>
              <a:gd name="T29" fmla="*/ 2354 h 2354"/>
              <a:gd name="T30" fmla="*/ 1965 w 1965"/>
              <a:gd name="T31" fmla="*/ 2354 h 2354"/>
              <a:gd name="T32" fmla="*/ 1965 w 1965"/>
              <a:gd name="T33" fmla="*/ 886 h 2354"/>
              <a:gd name="T34" fmla="*/ 1906 w 1965"/>
              <a:gd name="T35" fmla="*/ 528 h 2354"/>
              <a:gd name="T36" fmla="*/ 1608 w 1965"/>
              <a:gd name="T37" fmla="*/ 142 h 2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65" h="2354">
                <a:moveTo>
                  <a:pt x="1608" y="142"/>
                </a:moveTo>
                <a:cubicBezTo>
                  <a:pt x="1469" y="50"/>
                  <a:pt x="1295" y="0"/>
                  <a:pt x="1093" y="0"/>
                </a:cubicBezTo>
                <a:cubicBezTo>
                  <a:pt x="913" y="0"/>
                  <a:pt x="755" y="45"/>
                  <a:pt x="627" y="122"/>
                </a:cubicBezTo>
                <a:cubicBezTo>
                  <a:pt x="550" y="169"/>
                  <a:pt x="485" y="227"/>
                  <a:pt x="431" y="293"/>
                </a:cubicBezTo>
                <a:cubicBezTo>
                  <a:pt x="431" y="35"/>
                  <a:pt x="431" y="35"/>
                  <a:pt x="431" y="35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2354"/>
                  <a:pt x="0" y="2354"/>
                  <a:pt x="0" y="2354"/>
                </a:cubicBezTo>
                <a:cubicBezTo>
                  <a:pt x="431" y="2354"/>
                  <a:pt x="431" y="2354"/>
                  <a:pt x="431" y="2354"/>
                </a:cubicBezTo>
                <a:cubicBezTo>
                  <a:pt x="431" y="979"/>
                  <a:pt x="431" y="979"/>
                  <a:pt x="431" y="979"/>
                </a:cubicBezTo>
                <a:cubicBezTo>
                  <a:pt x="431" y="804"/>
                  <a:pt x="491" y="662"/>
                  <a:pt x="591" y="562"/>
                </a:cubicBezTo>
                <a:cubicBezTo>
                  <a:pt x="691" y="463"/>
                  <a:pt x="834" y="405"/>
                  <a:pt x="1009" y="405"/>
                </a:cubicBezTo>
                <a:cubicBezTo>
                  <a:pt x="1093" y="405"/>
                  <a:pt x="1168" y="419"/>
                  <a:pt x="1232" y="443"/>
                </a:cubicBezTo>
                <a:cubicBezTo>
                  <a:pt x="1329" y="481"/>
                  <a:pt x="1405" y="545"/>
                  <a:pt x="1456" y="631"/>
                </a:cubicBezTo>
                <a:cubicBezTo>
                  <a:pt x="1509" y="717"/>
                  <a:pt x="1537" y="826"/>
                  <a:pt x="1537" y="956"/>
                </a:cubicBezTo>
                <a:cubicBezTo>
                  <a:pt x="1537" y="2354"/>
                  <a:pt x="1537" y="2354"/>
                  <a:pt x="1537" y="2354"/>
                </a:cubicBezTo>
                <a:cubicBezTo>
                  <a:pt x="1965" y="2354"/>
                  <a:pt x="1965" y="2354"/>
                  <a:pt x="1965" y="2354"/>
                </a:cubicBezTo>
                <a:cubicBezTo>
                  <a:pt x="1965" y="886"/>
                  <a:pt x="1965" y="886"/>
                  <a:pt x="1965" y="886"/>
                </a:cubicBezTo>
                <a:cubicBezTo>
                  <a:pt x="1965" y="757"/>
                  <a:pt x="1944" y="636"/>
                  <a:pt x="1906" y="528"/>
                </a:cubicBezTo>
                <a:cubicBezTo>
                  <a:pt x="1848" y="367"/>
                  <a:pt x="1746" y="233"/>
                  <a:pt x="1608" y="14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48" name="Freeform 9">
            <a:extLst>
              <a:ext uri="{FF2B5EF4-FFF2-40B4-BE49-F238E27FC236}">
                <a16:creationId xmlns:a16="http://schemas.microsoft.com/office/drawing/2014/main" id="{66269EB8-9283-48F9-8794-D370FF445A26}"/>
              </a:ext>
            </a:extLst>
          </p:cNvPr>
          <p:cNvSpPr>
            <a:spLocks/>
          </p:cNvSpPr>
          <p:nvPr userDrawn="1"/>
        </p:nvSpPr>
        <p:spPr bwMode="auto">
          <a:xfrm>
            <a:off x="1649914" y="883998"/>
            <a:ext cx="48297" cy="260060"/>
          </a:xfrm>
          <a:custGeom>
            <a:avLst/>
            <a:gdLst>
              <a:gd name="T0" fmla="*/ 0 w 104"/>
              <a:gd name="T1" fmla="*/ 560 h 560"/>
              <a:gd name="T2" fmla="*/ 11 w 104"/>
              <a:gd name="T3" fmla="*/ 560 h 560"/>
              <a:gd name="T4" fmla="*/ 104 w 104"/>
              <a:gd name="T5" fmla="*/ 560 h 560"/>
              <a:gd name="T6" fmla="*/ 104 w 104"/>
              <a:gd name="T7" fmla="*/ 0 h 560"/>
              <a:gd name="T8" fmla="*/ 0 w 104"/>
              <a:gd name="T9" fmla="*/ 0 h 560"/>
              <a:gd name="T10" fmla="*/ 0 w 104"/>
              <a:gd name="T11" fmla="*/ 56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4" h="560">
                <a:moveTo>
                  <a:pt x="0" y="560"/>
                </a:moveTo>
                <a:lnTo>
                  <a:pt x="11" y="560"/>
                </a:lnTo>
                <a:lnTo>
                  <a:pt x="104" y="560"/>
                </a:lnTo>
                <a:lnTo>
                  <a:pt x="104" y="0"/>
                </a:lnTo>
                <a:lnTo>
                  <a:pt x="0" y="0"/>
                </a:lnTo>
                <a:lnTo>
                  <a:pt x="0" y="5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49" name="Freeform 10">
            <a:extLst>
              <a:ext uri="{FF2B5EF4-FFF2-40B4-BE49-F238E27FC236}">
                <a16:creationId xmlns:a16="http://schemas.microsoft.com/office/drawing/2014/main" id="{72504E86-77F6-40AB-839D-6AE196C88220}"/>
              </a:ext>
            </a:extLst>
          </p:cNvPr>
          <p:cNvSpPr>
            <a:spLocks/>
          </p:cNvSpPr>
          <p:nvPr userDrawn="1"/>
        </p:nvSpPr>
        <p:spPr bwMode="auto">
          <a:xfrm>
            <a:off x="1751616" y="883998"/>
            <a:ext cx="251237" cy="260060"/>
          </a:xfrm>
          <a:custGeom>
            <a:avLst/>
            <a:gdLst>
              <a:gd name="T0" fmla="*/ 328 w 541"/>
              <a:gd name="T1" fmla="*/ 262 h 560"/>
              <a:gd name="T2" fmla="*/ 523 w 541"/>
              <a:gd name="T3" fmla="*/ 0 h 560"/>
              <a:gd name="T4" fmla="*/ 405 w 541"/>
              <a:gd name="T5" fmla="*/ 0 h 560"/>
              <a:gd name="T6" fmla="*/ 270 w 541"/>
              <a:gd name="T7" fmla="*/ 182 h 560"/>
              <a:gd name="T8" fmla="*/ 134 w 541"/>
              <a:gd name="T9" fmla="*/ 0 h 560"/>
              <a:gd name="T10" fmla="*/ 17 w 541"/>
              <a:gd name="T11" fmla="*/ 0 h 560"/>
              <a:gd name="T12" fmla="*/ 213 w 541"/>
              <a:gd name="T13" fmla="*/ 263 h 560"/>
              <a:gd name="T14" fmla="*/ 0 w 541"/>
              <a:gd name="T15" fmla="*/ 560 h 560"/>
              <a:gd name="T16" fmla="*/ 116 w 541"/>
              <a:gd name="T17" fmla="*/ 560 h 560"/>
              <a:gd name="T18" fmla="*/ 271 w 541"/>
              <a:gd name="T19" fmla="*/ 345 h 560"/>
              <a:gd name="T20" fmla="*/ 424 w 541"/>
              <a:gd name="T21" fmla="*/ 560 h 560"/>
              <a:gd name="T22" fmla="*/ 541 w 541"/>
              <a:gd name="T23" fmla="*/ 560 h 560"/>
              <a:gd name="T24" fmla="*/ 328 w 541"/>
              <a:gd name="T25" fmla="*/ 262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1" h="560">
                <a:moveTo>
                  <a:pt x="328" y="262"/>
                </a:moveTo>
                <a:lnTo>
                  <a:pt x="523" y="0"/>
                </a:lnTo>
                <a:lnTo>
                  <a:pt x="405" y="0"/>
                </a:lnTo>
                <a:lnTo>
                  <a:pt x="270" y="182"/>
                </a:lnTo>
                <a:lnTo>
                  <a:pt x="134" y="0"/>
                </a:lnTo>
                <a:lnTo>
                  <a:pt x="17" y="0"/>
                </a:lnTo>
                <a:lnTo>
                  <a:pt x="213" y="263"/>
                </a:lnTo>
                <a:lnTo>
                  <a:pt x="0" y="560"/>
                </a:lnTo>
                <a:lnTo>
                  <a:pt x="116" y="560"/>
                </a:lnTo>
                <a:lnTo>
                  <a:pt x="271" y="345"/>
                </a:lnTo>
                <a:lnTo>
                  <a:pt x="424" y="560"/>
                </a:lnTo>
                <a:lnTo>
                  <a:pt x="541" y="560"/>
                </a:lnTo>
                <a:lnTo>
                  <a:pt x="328" y="2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50" name="Freeform 11">
            <a:extLst>
              <a:ext uri="{FF2B5EF4-FFF2-40B4-BE49-F238E27FC236}">
                <a16:creationId xmlns:a16="http://schemas.microsoft.com/office/drawing/2014/main" id="{D11B9626-CEB0-4884-8120-1F8172970267}"/>
              </a:ext>
            </a:extLst>
          </p:cNvPr>
          <p:cNvSpPr>
            <a:spLocks/>
          </p:cNvSpPr>
          <p:nvPr userDrawn="1"/>
        </p:nvSpPr>
        <p:spPr bwMode="auto">
          <a:xfrm>
            <a:off x="604101" y="271463"/>
            <a:ext cx="406344" cy="544734"/>
          </a:xfrm>
          <a:custGeom>
            <a:avLst/>
            <a:gdLst>
              <a:gd name="T0" fmla="*/ 535 w 3625"/>
              <a:gd name="T1" fmla="*/ 4303 h 4860"/>
              <a:gd name="T2" fmla="*/ 459 w 3625"/>
              <a:gd name="T3" fmla="*/ 4139 h 4860"/>
              <a:gd name="T4" fmla="*/ 435 w 3625"/>
              <a:gd name="T5" fmla="*/ 3604 h 4860"/>
              <a:gd name="T6" fmla="*/ 718 w 3625"/>
              <a:gd name="T7" fmla="*/ 3134 h 4860"/>
              <a:gd name="T8" fmla="*/ 3624 w 3625"/>
              <a:gd name="T9" fmla="*/ 518 h 4860"/>
              <a:gd name="T10" fmla="*/ 3624 w 3625"/>
              <a:gd name="T11" fmla="*/ 0 h 4860"/>
              <a:gd name="T12" fmla="*/ 461 w 3625"/>
              <a:gd name="T13" fmla="*/ 2848 h 4860"/>
              <a:gd name="T14" fmla="*/ 148 w 3625"/>
              <a:gd name="T15" fmla="*/ 3271 h 4860"/>
              <a:gd name="T16" fmla="*/ 36 w 3625"/>
              <a:gd name="T17" fmla="*/ 4016 h 4860"/>
              <a:gd name="T18" fmla="*/ 363 w 3625"/>
              <a:gd name="T19" fmla="*/ 4717 h 4860"/>
              <a:gd name="T20" fmla="*/ 363 w 3625"/>
              <a:gd name="T21" fmla="*/ 4717 h 4860"/>
              <a:gd name="T22" fmla="*/ 493 w 3625"/>
              <a:gd name="T23" fmla="*/ 4860 h 4860"/>
              <a:gd name="T24" fmla="*/ 3625 w 3625"/>
              <a:gd name="T25" fmla="*/ 2040 h 4860"/>
              <a:gd name="T26" fmla="*/ 3625 w 3625"/>
              <a:gd name="T27" fmla="*/ 1522 h 4860"/>
              <a:gd name="T28" fmla="*/ 535 w 3625"/>
              <a:gd name="T29" fmla="*/ 4303 h 4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625" h="4860">
                <a:moveTo>
                  <a:pt x="535" y="4303"/>
                </a:moveTo>
                <a:cubicBezTo>
                  <a:pt x="505" y="4250"/>
                  <a:pt x="479" y="4195"/>
                  <a:pt x="459" y="4139"/>
                </a:cubicBezTo>
                <a:cubicBezTo>
                  <a:pt x="399" y="3966"/>
                  <a:pt x="392" y="3780"/>
                  <a:pt x="435" y="3604"/>
                </a:cubicBezTo>
                <a:cubicBezTo>
                  <a:pt x="479" y="3428"/>
                  <a:pt x="573" y="3264"/>
                  <a:pt x="718" y="3134"/>
                </a:cubicBezTo>
                <a:cubicBezTo>
                  <a:pt x="3624" y="518"/>
                  <a:pt x="3624" y="518"/>
                  <a:pt x="3624" y="518"/>
                </a:cubicBezTo>
                <a:cubicBezTo>
                  <a:pt x="3624" y="0"/>
                  <a:pt x="3624" y="0"/>
                  <a:pt x="3624" y="0"/>
                </a:cubicBezTo>
                <a:cubicBezTo>
                  <a:pt x="461" y="2848"/>
                  <a:pt x="461" y="2848"/>
                  <a:pt x="461" y="2848"/>
                </a:cubicBezTo>
                <a:cubicBezTo>
                  <a:pt x="326" y="2970"/>
                  <a:pt x="220" y="3115"/>
                  <a:pt x="148" y="3271"/>
                </a:cubicBezTo>
                <a:cubicBezTo>
                  <a:pt x="38" y="3505"/>
                  <a:pt x="0" y="3764"/>
                  <a:pt x="36" y="4016"/>
                </a:cubicBezTo>
                <a:cubicBezTo>
                  <a:pt x="71" y="4268"/>
                  <a:pt x="180" y="4514"/>
                  <a:pt x="363" y="4717"/>
                </a:cubicBezTo>
                <a:cubicBezTo>
                  <a:pt x="363" y="4717"/>
                  <a:pt x="363" y="4717"/>
                  <a:pt x="363" y="4717"/>
                </a:cubicBezTo>
                <a:cubicBezTo>
                  <a:pt x="493" y="4860"/>
                  <a:pt x="493" y="4860"/>
                  <a:pt x="493" y="4860"/>
                </a:cubicBezTo>
                <a:cubicBezTo>
                  <a:pt x="3625" y="2040"/>
                  <a:pt x="3625" y="2040"/>
                  <a:pt x="3625" y="2040"/>
                </a:cubicBezTo>
                <a:cubicBezTo>
                  <a:pt x="3625" y="1522"/>
                  <a:pt x="3625" y="1522"/>
                  <a:pt x="3625" y="1522"/>
                </a:cubicBezTo>
                <a:lnTo>
                  <a:pt x="535" y="4303"/>
                </a:lnTo>
                <a:close/>
              </a:path>
            </a:pathLst>
          </a:custGeom>
          <a:solidFill>
            <a:srgbClr val="F3702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51" name="Freeform 12">
            <a:extLst>
              <a:ext uri="{FF2B5EF4-FFF2-40B4-BE49-F238E27FC236}">
                <a16:creationId xmlns:a16="http://schemas.microsoft.com/office/drawing/2014/main" id="{A8CFCB7C-7156-4ACF-A024-680F775C404C}"/>
              </a:ext>
            </a:extLst>
          </p:cNvPr>
          <p:cNvSpPr>
            <a:spLocks/>
          </p:cNvSpPr>
          <p:nvPr userDrawn="1"/>
        </p:nvSpPr>
        <p:spPr bwMode="auto">
          <a:xfrm>
            <a:off x="787536" y="616508"/>
            <a:ext cx="221980" cy="199689"/>
          </a:xfrm>
          <a:custGeom>
            <a:avLst/>
            <a:gdLst>
              <a:gd name="T0" fmla="*/ 0 w 478"/>
              <a:gd name="T1" fmla="*/ 430 h 430"/>
              <a:gd name="T2" fmla="*/ 140 w 478"/>
              <a:gd name="T3" fmla="*/ 430 h 430"/>
              <a:gd name="T4" fmla="*/ 478 w 478"/>
              <a:gd name="T5" fmla="*/ 125 h 430"/>
              <a:gd name="T6" fmla="*/ 478 w 478"/>
              <a:gd name="T7" fmla="*/ 0 h 430"/>
              <a:gd name="T8" fmla="*/ 0 w 478"/>
              <a:gd name="T9" fmla="*/ 430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8" h="430">
                <a:moveTo>
                  <a:pt x="0" y="430"/>
                </a:moveTo>
                <a:lnTo>
                  <a:pt x="140" y="430"/>
                </a:lnTo>
                <a:lnTo>
                  <a:pt x="478" y="125"/>
                </a:lnTo>
                <a:lnTo>
                  <a:pt x="478" y="0"/>
                </a:lnTo>
                <a:lnTo>
                  <a:pt x="0" y="430"/>
                </a:lnTo>
                <a:close/>
              </a:path>
            </a:pathLst>
          </a:custGeom>
          <a:solidFill>
            <a:srgbClr val="F3702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F910E70E-7EF3-42D3-8EA5-2187DFED778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50851" y="2660733"/>
            <a:ext cx="6747108" cy="2901869"/>
          </a:xfrm>
          <a:prstGeom prst="rect">
            <a:avLst/>
          </a:prstGeom>
          <a:effectLst/>
        </p:spPr>
        <p:txBody>
          <a:bodyPr wrap="square" lIns="0" tIns="0" rIns="0" bIns="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500">
                <a:solidFill>
                  <a:schemeClr val="bg1"/>
                </a:solidFill>
                <a:effectLst/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2829075-C0A5-4F29-89A4-9244347885ED}"/>
              </a:ext>
            </a:extLst>
          </p:cNvPr>
          <p:cNvSpPr txBox="1">
            <a:spLocks/>
          </p:cNvSpPr>
          <p:nvPr userDrawn="1"/>
        </p:nvSpPr>
        <p:spPr>
          <a:xfrm>
            <a:off x="7439444" y="6104394"/>
            <a:ext cx="4303294" cy="21544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marL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ru-RU" sz="1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Технологии. Стратегии. Консалтинг. Аутсорсинг.</a:t>
            </a:r>
          </a:p>
        </p:txBody>
      </p:sp>
      <p:sp>
        <p:nvSpPr>
          <p:cNvPr id="72" name="Text Placeholder 46">
            <a:extLst>
              <a:ext uri="{FF2B5EF4-FFF2-40B4-BE49-F238E27FC236}">
                <a16:creationId xmlns:a16="http://schemas.microsoft.com/office/drawing/2014/main" id="{57D7415A-1117-4EF2-B32F-7FA747E0C3ED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0851" y="6104394"/>
            <a:ext cx="6747108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400" b="1" dirty="0" smtClean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lang="en-US" sz="1800" dirty="0" smtClean="0"/>
            </a:lvl2pPr>
            <a:lvl3pPr marL="0" indent="0">
              <a:spcBef>
                <a:spcPts val="0"/>
              </a:spcBef>
              <a:buFontTx/>
              <a:buNone/>
              <a:defRPr lang="en-US" sz="1800" dirty="0" smtClean="0"/>
            </a:lvl3pPr>
            <a:lvl4pPr marL="0" indent="0">
              <a:spcBef>
                <a:spcPts val="0"/>
              </a:spcBef>
              <a:buFontTx/>
              <a:buNone/>
              <a:defRPr lang="en-US" sz="1800" dirty="0" smtClean="0"/>
            </a:lvl4pPr>
            <a:lvl5pPr marL="0" indent="0">
              <a:spcBef>
                <a:spcPts val="0"/>
              </a:spcBef>
              <a:buFontTx/>
              <a:buNone/>
              <a:defRPr lang="ru-RU" sz="1800" dirty="0"/>
            </a:lvl5pPr>
          </a:lstStyle>
          <a:p>
            <a:pPr lvl="0"/>
            <a:r>
              <a:rPr lang="ru-RU" dirty="0"/>
              <a:t>Дата в формате ДД Месяц </a:t>
            </a:r>
            <a:r>
              <a:rPr lang="ru-RU" dirty="0" err="1"/>
              <a:t>ГГГГг</a:t>
            </a:r>
            <a:r>
              <a:rPr lang="ru-RU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06631-D854-4AB0-8DCE-7768E1A0261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50851" y="5711764"/>
            <a:ext cx="6747108" cy="2492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Тип документа</a:t>
            </a:r>
          </a:p>
        </p:txBody>
      </p:sp>
      <p:sp>
        <p:nvSpPr>
          <p:cNvPr id="70" name="Slide Number Placeholder 5">
            <a:extLst>
              <a:ext uri="{FF2B5EF4-FFF2-40B4-BE49-F238E27FC236}">
                <a16:creationId xmlns:a16="http://schemas.microsoft.com/office/drawing/2014/main" id="{AE58F953-1384-4D3B-8641-692B4FCBD393}"/>
              </a:ext>
            </a:extLst>
          </p:cNvPr>
          <p:cNvSpPr txBox="1">
            <a:spLocks/>
          </p:cNvSpPr>
          <p:nvPr userDrawn="1"/>
        </p:nvSpPr>
        <p:spPr>
          <a:xfrm>
            <a:off x="450850" y="6588000"/>
            <a:ext cx="2880000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bg1"/>
                </a:solidFill>
              </a:rPr>
              <a:t>AXENIX </a:t>
            </a:r>
            <a:r>
              <a:rPr lang="ru-RU" dirty="0">
                <a:solidFill>
                  <a:schemeClr val="bg1"/>
                </a:solidFill>
              </a:rPr>
              <a:t>© ООО «АксТим»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199E7FC-DFDC-4DE4-9D75-E5F35AEF7005}"/>
              </a:ext>
            </a:extLst>
          </p:cNvPr>
          <p:cNvGrpSpPr/>
          <p:nvPr userDrawn="1"/>
        </p:nvGrpSpPr>
        <p:grpSpPr>
          <a:xfrm>
            <a:off x="7473950" y="271463"/>
            <a:ext cx="4268788" cy="5702300"/>
            <a:chOff x="7465072" y="258763"/>
            <a:chExt cx="4268788" cy="5702300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FFF667EB-6BC4-4981-8EE8-B48AD67E0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87535" y="3862388"/>
              <a:ext cx="2346325" cy="2098675"/>
            </a:xfrm>
            <a:custGeom>
              <a:avLst/>
              <a:gdLst>
                <a:gd name="T0" fmla="*/ 1478 w 1478"/>
                <a:gd name="T1" fmla="*/ 383 h 1322"/>
                <a:gd name="T2" fmla="*/ 1478 w 1478"/>
                <a:gd name="T3" fmla="*/ 0 h 1322"/>
                <a:gd name="T4" fmla="*/ 0 w 1478"/>
                <a:gd name="T5" fmla="*/ 1322 h 1322"/>
                <a:gd name="T6" fmla="*/ 427 w 1478"/>
                <a:gd name="T7" fmla="*/ 1322 h 1322"/>
                <a:gd name="T8" fmla="*/ 1478 w 1478"/>
                <a:gd name="T9" fmla="*/ 383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8" h="1322">
                  <a:moveTo>
                    <a:pt x="1478" y="383"/>
                  </a:moveTo>
                  <a:lnTo>
                    <a:pt x="1478" y="0"/>
                  </a:lnTo>
                  <a:lnTo>
                    <a:pt x="0" y="1322"/>
                  </a:lnTo>
                  <a:lnTo>
                    <a:pt x="427" y="1322"/>
                  </a:lnTo>
                  <a:lnTo>
                    <a:pt x="1478" y="383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B55C5117-7681-41F9-9FA6-C561790998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65072" y="258763"/>
              <a:ext cx="4268788" cy="5692775"/>
            </a:xfrm>
            <a:custGeom>
              <a:avLst/>
              <a:gdLst>
                <a:gd name="T0" fmla="*/ 225 w 1535"/>
                <a:gd name="T1" fmla="*/ 1812 h 2048"/>
                <a:gd name="T2" fmla="*/ 194 w 1535"/>
                <a:gd name="T3" fmla="*/ 1743 h 2048"/>
                <a:gd name="T4" fmla="*/ 184 w 1535"/>
                <a:gd name="T5" fmla="*/ 1516 h 2048"/>
                <a:gd name="T6" fmla="*/ 305 w 1535"/>
                <a:gd name="T7" fmla="*/ 1318 h 2048"/>
                <a:gd name="T8" fmla="*/ 1535 w 1535"/>
                <a:gd name="T9" fmla="*/ 219 h 2048"/>
                <a:gd name="T10" fmla="*/ 1535 w 1535"/>
                <a:gd name="T11" fmla="*/ 0 h 2048"/>
                <a:gd name="T12" fmla="*/ 197 w 1535"/>
                <a:gd name="T13" fmla="*/ 1197 h 2048"/>
                <a:gd name="T14" fmla="*/ 63 w 1535"/>
                <a:gd name="T15" fmla="*/ 1375 h 2048"/>
                <a:gd name="T16" fmla="*/ 15 w 1535"/>
                <a:gd name="T17" fmla="*/ 1690 h 2048"/>
                <a:gd name="T18" fmla="*/ 152 w 1535"/>
                <a:gd name="T19" fmla="*/ 1987 h 2048"/>
                <a:gd name="T20" fmla="*/ 207 w 1535"/>
                <a:gd name="T21" fmla="*/ 2048 h 2048"/>
                <a:gd name="T22" fmla="*/ 1535 w 1535"/>
                <a:gd name="T23" fmla="*/ 861 h 2048"/>
                <a:gd name="T24" fmla="*/ 1535 w 1535"/>
                <a:gd name="T25" fmla="*/ 642 h 2048"/>
                <a:gd name="T26" fmla="*/ 225 w 1535"/>
                <a:gd name="T27" fmla="*/ 1812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35" h="2048">
                  <a:moveTo>
                    <a:pt x="225" y="1812"/>
                  </a:moveTo>
                  <a:cubicBezTo>
                    <a:pt x="213" y="1790"/>
                    <a:pt x="202" y="1767"/>
                    <a:pt x="194" y="1743"/>
                  </a:cubicBezTo>
                  <a:cubicBezTo>
                    <a:pt x="169" y="1670"/>
                    <a:pt x="166" y="1591"/>
                    <a:pt x="184" y="1516"/>
                  </a:cubicBezTo>
                  <a:cubicBezTo>
                    <a:pt x="203" y="1442"/>
                    <a:pt x="243" y="1373"/>
                    <a:pt x="305" y="1318"/>
                  </a:cubicBezTo>
                  <a:cubicBezTo>
                    <a:pt x="1535" y="219"/>
                    <a:pt x="1535" y="219"/>
                    <a:pt x="1535" y="219"/>
                  </a:cubicBezTo>
                  <a:cubicBezTo>
                    <a:pt x="1535" y="0"/>
                    <a:pt x="1535" y="0"/>
                    <a:pt x="1535" y="0"/>
                  </a:cubicBezTo>
                  <a:cubicBezTo>
                    <a:pt x="197" y="1197"/>
                    <a:pt x="197" y="1197"/>
                    <a:pt x="197" y="1197"/>
                  </a:cubicBezTo>
                  <a:cubicBezTo>
                    <a:pt x="139" y="1248"/>
                    <a:pt x="94" y="1309"/>
                    <a:pt x="63" y="1375"/>
                  </a:cubicBezTo>
                  <a:cubicBezTo>
                    <a:pt x="16" y="1474"/>
                    <a:pt x="0" y="1584"/>
                    <a:pt x="15" y="1690"/>
                  </a:cubicBezTo>
                  <a:cubicBezTo>
                    <a:pt x="29" y="1797"/>
                    <a:pt x="75" y="1901"/>
                    <a:pt x="152" y="1987"/>
                  </a:cubicBezTo>
                  <a:cubicBezTo>
                    <a:pt x="207" y="2048"/>
                    <a:pt x="207" y="2048"/>
                    <a:pt x="207" y="2048"/>
                  </a:cubicBezTo>
                  <a:cubicBezTo>
                    <a:pt x="1535" y="861"/>
                    <a:pt x="1535" y="861"/>
                    <a:pt x="1535" y="861"/>
                  </a:cubicBezTo>
                  <a:cubicBezTo>
                    <a:pt x="1535" y="642"/>
                    <a:pt x="1535" y="642"/>
                    <a:pt x="1535" y="642"/>
                  </a:cubicBezTo>
                  <a:lnTo>
                    <a:pt x="225" y="181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499896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2ACC94F0-4CD1-4470-8A69-695D206E4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851" y="271463"/>
            <a:ext cx="11290300" cy="461665"/>
          </a:xfrm>
          <a:prstGeom prst="rect">
            <a:avLst/>
          </a:prstGeom>
        </p:spPr>
        <p:txBody>
          <a:bodyPr wrap="square" lIns="0" tIns="0" rIns="396000" bIns="0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000"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24" name="Slide Number">
            <a:extLst>
              <a:ext uri="{FF2B5EF4-FFF2-40B4-BE49-F238E27FC236}">
                <a16:creationId xmlns:a16="http://schemas.microsoft.com/office/drawing/2014/main" id="{1245E675-A92D-4A84-BDF0-3656A4244B93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5753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E263EB9-E809-464D-BFDA-649110028A1A}"/>
              </a:ext>
            </a:extLst>
          </p:cNvPr>
          <p:cNvSpPr/>
          <p:nvPr userDrawn="1"/>
        </p:nvSpPr>
        <p:spPr>
          <a:xfrm flipH="1">
            <a:off x="0" y="5142270"/>
            <a:ext cx="12192000" cy="1715730"/>
          </a:xfrm>
          <a:custGeom>
            <a:avLst/>
            <a:gdLst>
              <a:gd name="connsiteX0" fmla="*/ 12192000 w 12192000"/>
              <a:gd name="connsiteY0" fmla="*/ 0 h 1715730"/>
              <a:gd name="connsiteX1" fmla="*/ 6096000 w 12192000"/>
              <a:gd name="connsiteY1" fmla="*/ 343146 h 1715730"/>
              <a:gd name="connsiteX2" fmla="*/ 6096000 w 12192000"/>
              <a:gd name="connsiteY2" fmla="*/ 343147 h 1715730"/>
              <a:gd name="connsiteX3" fmla="*/ 0 w 12192000"/>
              <a:gd name="connsiteY3" fmla="*/ 1 h 1715730"/>
              <a:gd name="connsiteX4" fmla="*/ 0 w 12192000"/>
              <a:gd name="connsiteY4" fmla="*/ 1715730 h 1715730"/>
              <a:gd name="connsiteX5" fmla="*/ 6096000 w 12192000"/>
              <a:gd name="connsiteY5" fmla="*/ 1715730 h 1715730"/>
              <a:gd name="connsiteX6" fmla="*/ 6096000 w 12192000"/>
              <a:gd name="connsiteY6" fmla="*/ 1715729 h 1715730"/>
              <a:gd name="connsiteX7" fmla="*/ 12192000 w 12192000"/>
              <a:gd name="connsiteY7" fmla="*/ 1715729 h 1715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715730">
                <a:moveTo>
                  <a:pt x="12192000" y="0"/>
                </a:moveTo>
                <a:lnTo>
                  <a:pt x="6096000" y="343146"/>
                </a:lnTo>
                <a:lnTo>
                  <a:pt x="6096000" y="343147"/>
                </a:lnTo>
                <a:lnTo>
                  <a:pt x="0" y="1"/>
                </a:lnTo>
                <a:lnTo>
                  <a:pt x="0" y="1715730"/>
                </a:lnTo>
                <a:lnTo>
                  <a:pt x="6096000" y="1715730"/>
                </a:lnTo>
                <a:lnTo>
                  <a:pt x="6096000" y="1715729"/>
                </a:lnTo>
                <a:lnTo>
                  <a:pt x="12192000" y="1715729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ru-RU" b="1" kern="0" dirty="0">
              <a:solidFill>
                <a:prstClr val="white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ACC94F0-4CD1-4470-8A69-695D206E4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851" y="271463"/>
            <a:ext cx="11290300" cy="461665"/>
          </a:xfrm>
          <a:prstGeom prst="rect">
            <a:avLst/>
          </a:prstGeom>
        </p:spPr>
        <p:txBody>
          <a:bodyPr wrap="square" lIns="0" tIns="0" rIns="396000" bIns="0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000"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24" name="Slide Number">
            <a:extLst>
              <a:ext uri="{FF2B5EF4-FFF2-40B4-BE49-F238E27FC236}">
                <a16:creationId xmlns:a16="http://schemas.microsoft.com/office/drawing/2014/main" id="{1245E675-A92D-4A84-BDF0-3656A4244B93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A290F45-D48B-4887-8770-2511C1E16E7A}"/>
              </a:ext>
            </a:extLst>
          </p:cNvPr>
          <p:cNvSpPr txBox="1">
            <a:spLocks/>
          </p:cNvSpPr>
          <p:nvPr userDrawn="1"/>
        </p:nvSpPr>
        <p:spPr>
          <a:xfrm>
            <a:off x="450850" y="6588000"/>
            <a:ext cx="2880000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bg1"/>
                </a:solidFill>
              </a:rPr>
              <a:t>AXENIX </a:t>
            </a:r>
            <a:r>
              <a:rPr lang="ru-RU" dirty="0">
                <a:solidFill>
                  <a:schemeClr val="bg1"/>
                </a:solidFill>
              </a:rPr>
              <a:t>© ООО «АксТим»</a:t>
            </a:r>
          </a:p>
        </p:txBody>
      </p:sp>
    </p:spTree>
    <p:extLst>
      <p:ext uri="{BB962C8B-B14F-4D97-AF65-F5344CB8AC3E}">
        <p14:creationId xmlns:p14="http://schemas.microsoft.com/office/powerpoint/2010/main" val="4506066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Orange">
    <p:bg>
      <p:bgPr>
        <a:gradFill>
          <a:gsLst>
            <a:gs pos="52000">
              <a:schemeClr val="bg1">
                <a:alpha val="30000"/>
              </a:schemeClr>
            </a:gs>
            <a:gs pos="0">
              <a:schemeClr val="bg1">
                <a:alpha val="0"/>
              </a:schemeClr>
            </a:gs>
            <a:gs pos="100000">
              <a:schemeClr val="bg1">
                <a:alpha val="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55FA9B-14CB-409A-8BC2-DDE02EE9A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ru-RU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F910E70E-7EF3-42D3-8EA5-2187DFED7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852" y="1450975"/>
            <a:ext cx="6436447" cy="692497"/>
          </a:xfrm>
          <a:prstGeom prst="rect">
            <a:avLst/>
          </a:prstGeom>
          <a:effectLst/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500">
                <a:solidFill>
                  <a:schemeClr val="bg1"/>
                </a:solidFill>
                <a:effectLst/>
              </a:defRPr>
            </a:lvl1pPr>
          </a:lstStyle>
          <a:p>
            <a:r>
              <a:rPr lang="ru-RU" dirty="0"/>
              <a:t>Название секции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1FC5BA4-B8E7-4B85-A4F0-4BA19DEAB3DA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EC8520-FBFA-44EF-AED2-484097D86FE2}"/>
              </a:ext>
            </a:extLst>
          </p:cNvPr>
          <p:cNvGrpSpPr/>
          <p:nvPr userDrawn="1"/>
        </p:nvGrpSpPr>
        <p:grpSpPr>
          <a:xfrm>
            <a:off x="7216140" y="271463"/>
            <a:ext cx="4526598" cy="6046686"/>
            <a:chOff x="7465072" y="258763"/>
            <a:chExt cx="4268788" cy="5702300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B6A28DF-A79B-4454-B870-5FA48FE05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87535" y="3862388"/>
              <a:ext cx="2346325" cy="2098675"/>
            </a:xfrm>
            <a:custGeom>
              <a:avLst/>
              <a:gdLst>
                <a:gd name="T0" fmla="*/ 1478 w 1478"/>
                <a:gd name="T1" fmla="*/ 383 h 1322"/>
                <a:gd name="T2" fmla="*/ 1478 w 1478"/>
                <a:gd name="T3" fmla="*/ 0 h 1322"/>
                <a:gd name="T4" fmla="*/ 0 w 1478"/>
                <a:gd name="T5" fmla="*/ 1322 h 1322"/>
                <a:gd name="T6" fmla="*/ 427 w 1478"/>
                <a:gd name="T7" fmla="*/ 1322 h 1322"/>
                <a:gd name="T8" fmla="*/ 1478 w 1478"/>
                <a:gd name="T9" fmla="*/ 383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8" h="1322">
                  <a:moveTo>
                    <a:pt x="1478" y="383"/>
                  </a:moveTo>
                  <a:lnTo>
                    <a:pt x="1478" y="0"/>
                  </a:lnTo>
                  <a:lnTo>
                    <a:pt x="0" y="1322"/>
                  </a:lnTo>
                  <a:lnTo>
                    <a:pt x="427" y="1322"/>
                  </a:lnTo>
                  <a:lnTo>
                    <a:pt x="1478" y="383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7A3F6E-4A12-4FD6-94F9-7FE974CC58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65072" y="258763"/>
              <a:ext cx="4268788" cy="5692775"/>
            </a:xfrm>
            <a:custGeom>
              <a:avLst/>
              <a:gdLst>
                <a:gd name="T0" fmla="*/ 225 w 1535"/>
                <a:gd name="T1" fmla="*/ 1812 h 2048"/>
                <a:gd name="T2" fmla="*/ 194 w 1535"/>
                <a:gd name="T3" fmla="*/ 1743 h 2048"/>
                <a:gd name="T4" fmla="*/ 184 w 1535"/>
                <a:gd name="T5" fmla="*/ 1516 h 2048"/>
                <a:gd name="T6" fmla="*/ 305 w 1535"/>
                <a:gd name="T7" fmla="*/ 1318 h 2048"/>
                <a:gd name="T8" fmla="*/ 1535 w 1535"/>
                <a:gd name="T9" fmla="*/ 219 h 2048"/>
                <a:gd name="T10" fmla="*/ 1535 w 1535"/>
                <a:gd name="T11" fmla="*/ 0 h 2048"/>
                <a:gd name="T12" fmla="*/ 197 w 1535"/>
                <a:gd name="T13" fmla="*/ 1197 h 2048"/>
                <a:gd name="T14" fmla="*/ 63 w 1535"/>
                <a:gd name="T15" fmla="*/ 1375 h 2048"/>
                <a:gd name="T16" fmla="*/ 15 w 1535"/>
                <a:gd name="T17" fmla="*/ 1690 h 2048"/>
                <a:gd name="T18" fmla="*/ 152 w 1535"/>
                <a:gd name="T19" fmla="*/ 1987 h 2048"/>
                <a:gd name="T20" fmla="*/ 207 w 1535"/>
                <a:gd name="T21" fmla="*/ 2048 h 2048"/>
                <a:gd name="T22" fmla="*/ 1535 w 1535"/>
                <a:gd name="T23" fmla="*/ 861 h 2048"/>
                <a:gd name="T24" fmla="*/ 1535 w 1535"/>
                <a:gd name="T25" fmla="*/ 642 h 2048"/>
                <a:gd name="T26" fmla="*/ 225 w 1535"/>
                <a:gd name="T27" fmla="*/ 1812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35" h="2048">
                  <a:moveTo>
                    <a:pt x="225" y="1812"/>
                  </a:moveTo>
                  <a:cubicBezTo>
                    <a:pt x="213" y="1790"/>
                    <a:pt x="202" y="1767"/>
                    <a:pt x="194" y="1743"/>
                  </a:cubicBezTo>
                  <a:cubicBezTo>
                    <a:pt x="169" y="1670"/>
                    <a:pt x="166" y="1591"/>
                    <a:pt x="184" y="1516"/>
                  </a:cubicBezTo>
                  <a:cubicBezTo>
                    <a:pt x="203" y="1442"/>
                    <a:pt x="243" y="1373"/>
                    <a:pt x="305" y="1318"/>
                  </a:cubicBezTo>
                  <a:cubicBezTo>
                    <a:pt x="1535" y="219"/>
                    <a:pt x="1535" y="219"/>
                    <a:pt x="1535" y="219"/>
                  </a:cubicBezTo>
                  <a:cubicBezTo>
                    <a:pt x="1535" y="0"/>
                    <a:pt x="1535" y="0"/>
                    <a:pt x="1535" y="0"/>
                  </a:cubicBezTo>
                  <a:cubicBezTo>
                    <a:pt x="197" y="1197"/>
                    <a:pt x="197" y="1197"/>
                    <a:pt x="197" y="1197"/>
                  </a:cubicBezTo>
                  <a:cubicBezTo>
                    <a:pt x="139" y="1248"/>
                    <a:pt x="94" y="1309"/>
                    <a:pt x="63" y="1375"/>
                  </a:cubicBezTo>
                  <a:cubicBezTo>
                    <a:pt x="16" y="1474"/>
                    <a:pt x="0" y="1584"/>
                    <a:pt x="15" y="1690"/>
                  </a:cubicBezTo>
                  <a:cubicBezTo>
                    <a:pt x="29" y="1797"/>
                    <a:pt x="75" y="1901"/>
                    <a:pt x="152" y="1987"/>
                  </a:cubicBezTo>
                  <a:cubicBezTo>
                    <a:pt x="207" y="2048"/>
                    <a:pt x="207" y="2048"/>
                    <a:pt x="207" y="2048"/>
                  </a:cubicBezTo>
                  <a:cubicBezTo>
                    <a:pt x="1535" y="861"/>
                    <a:pt x="1535" y="861"/>
                    <a:pt x="1535" y="861"/>
                  </a:cubicBezTo>
                  <a:cubicBezTo>
                    <a:pt x="1535" y="642"/>
                    <a:pt x="1535" y="642"/>
                    <a:pt x="1535" y="642"/>
                  </a:cubicBezTo>
                  <a:lnTo>
                    <a:pt x="225" y="181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9810973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Image">
    <p:bg>
      <p:bgPr>
        <a:gradFill>
          <a:gsLst>
            <a:gs pos="52000">
              <a:schemeClr val="bg1">
                <a:alpha val="30000"/>
              </a:schemeClr>
            </a:gs>
            <a:gs pos="0">
              <a:schemeClr val="bg1">
                <a:alpha val="0"/>
              </a:schemeClr>
            </a:gs>
            <a:gs pos="100000">
              <a:schemeClr val="bg1">
                <a:alpha val="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D064ABC-E23E-46C0-88E9-7DF6ECDB250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0" y="0"/>
            <a:ext cx="12193200" cy="6858000"/>
          </a:xfrm>
          <a:prstGeom prst="rect">
            <a:avLst/>
          </a:prstGeom>
        </p:spPr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12827D9F-542C-4647-A24A-1754651D9DE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50851" y="876568"/>
            <a:ext cx="262382" cy="274921"/>
          </a:xfrm>
          <a:custGeom>
            <a:avLst/>
            <a:gdLst>
              <a:gd name="T0" fmla="*/ 1914 w 2342"/>
              <a:gd name="T1" fmla="*/ 297 h 2452"/>
              <a:gd name="T2" fmla="*/ 1714 w 2342"/>
              <a:gd name="T3" fmla="*/ 134 h 2452"/>
              <a:gd name="T4" fmla="*/ 1172 w 2342"/>
              <a:gd name="T5" fmla="*/ 0 h 2452"/>
              <a:gd name="T6" fmla="*/ 342 w 2342"/>
              <a:gd name="T7" fmla="*/ 349 h 2452"/>
              <a:gd name="T8" fmla="*/ 0 w 2342"/>
              <a:gd name="T9" fmla="*/ 1225 h 2452"/>
              <a:gd name="T10" fmla="*/ 343 w 2342"/>
              <a:gd name="T11" fmla="*/ 2103 h 2452"/>
              <a:gd name="T12" fmla="*/ 1173 w 2342"/>
              <a:gd name="T13" fmla="*/ 2452 h 2452"/>
              <a:gd name="T14" fmla="*/ 1715 w 2342"/>
              <a:gd name="T15" fmla="*/ 2318 h 2452"/>
              <a:gd name="T16" fmla="*/ 1915 w 2342"/>
              <a:gd name="T17" fmla="*/ 2154 h 2452"/>
              <a:gd name="T18" fmla="*/ 1915 w 2342"/>
              <a:gd name="T19" fmla="*/ 2386 h 2452"/>
              <a:gd name="T20" fmla="*/ 2342 w 2342"/>
              <a:gd name="T21" fmla="*/ 2386 h 2452"/>
              <a:gd name="T22" fmla="*/ 2342 w 2342"/>
              <a:gd name="T23" fmla="*/ 66 h 2452"/>
              <a:gd name="T24" fmla="*/ 1915 w 2342"/>
              <a:gd name="T25" fmla="*/ 66 h 2452"/>
              <a:gd name="T26" fmla="*/ 1914 w 2342"/>
              <a:gd name="T27" fmla="*/ 297 h 2452"/>
              <a:gd name="T28" fmla="*/ 1177 w 2342"/>
              <a:gd name="T29" fmla="*/ 2047 h 2452"/>
              <a:gd name="T30" fmla="*/ 644 w 2342"/>
              <a:gd name="T31" fmla="*/ 1813 h 2452"/>
              <a:gd name="T32" fmla="*/ 431 w 2342"/>
              <a:gd name="T33" fmla="*/ 1225 h 2452"/>
              <a:gd name="T34" fmla="*/ 644 w 2342"/>
              <a:gd name="T35" fmla="*/ 638 h 2452"/>
              <a:gd name="T36" fmla="*/ 1177 w 2342"/>
              <a:gd name="T37" fmla="*/ 404 h 2452"/>
              <a:gd name="T38" fmla="*/ 1731 w 2342"/>
              <a:gd name="T39" fmla="*/ 639 h 2452"/>
              <a:gd name="T40" fmla="*/ 1954 w 2342"/>
              <a:gd name="T41" fmla="*/ 1225 h 2452"/>
              <a:gd name="T42" fmla="*/ 1731 w 2342"/>
              <a:gd name="T43" fmla="*/ 1812 h 2452"/>
              <a:gd name="T44" fmla="*/ 1177 w 2342"/>
              <a:gd name="T45" fmla="*/ 2047 h 2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42" h="2452">
                <a:moveTo>
                  <a:pt x="1914" y="297"/>
                </a:moveTo>
                <a:cubicBezTo>
                  <a:pt x="1861" y="238"/>
                  <a:pt x="1795" y="181"/>
                  <a:pt x="1714" y="134"/>
                </a:cubicBezTo>
                <a:cubicBezTo>
                  <a:pt x="1577" y="54"/>
                  <a:pt x="1398" y="0"/>
                  <a:pt x="1172" y="0"/>
                </a:cubicBezTo>
                <a:cubicBezTo>
                  <a:pt x="848" y="0"/>
                  <a:pt x="554" y="130"/>
                  <a:pt x="342" y="349"/>
                </a:cubicBezTo>
                <a:cubicBezTo>
                  <a:pt x="130" y="567"/>
                  <a:pt x="0" y="874"/>
                  <a:pt x="0" y="1225"/>
                </a:cubicBezTo>
                <a:cubicBezTo>
                  <a:pt x="0" y="1577"/>
                  <a:pt x="130" y="1884"/>
                  <a:pt x="343" y="2103"/>
                </a:cubicBezTo>
                <a:cubicBezTo>
                  <a:pt x="555" y="2321"/>
                  <a:pt x="849" y="2452"/>
                  <a:pt x="1173" y="2452"/>
                </a:cubicBezTo>
                <a:cubicBezTo>
                  <a:pt x="1399" y="2452"/>
                  <a:pt x="1578" y="2398"/>
                  <a:pt x="1715" y="2318"/>
                </a:cubicBezTo>
                <a:cubicBezTo>
                  <a:pt x="1796" y="2270"/>
                  <a:pt x="1862" y="2214"/>
                  <a:pt x="1915" y="2154"/>
                </a:cubicBezTo>
                <a:cubicBezTo>
                  <a:pt x="1915" y="2386"/>
                  <a:pt x="1915" y="2386"/>
                  <a:pt x="1915" y="2386"/>
                </a:cubicBezTo>
                <a:cubicBezTo>
                  <a:pt x="2342" y="2386"/>
                  <a:pt x="2342" y="2386"/>
                  <a:pt x="2342" y="2386"/>
                </a:cubicBezTo>
                <a:cubicBezTo>
                  <a:pt x="2342" y="66"/>
                  <a:pt x="2342" y="66"/>
                  <a:pt x="2342" y="66"/>
                </a:cubicBezTo>
                <a:cubicBezTo>
                  <a:pt x="1915" y="66"/>
                  <a:pt x="1915" y="66"/>
                  <a:pt x="1915" y="66"/>
                </a:cubicBezTo>
                <a:cubicBezTo>
                  <a:pt x="1914" y="297"/>
                  <a:pt x="1914" y="297"/>
                  <a:pt x="1914" y="297"/>
                </a:cubicBezTo>
                <a:close/>
                <a:moveTo>
                  <a:pt x="1177" y="2047"/>
                </a:moveTo>
                <a:cubicBezTo>
                  <a:pt x="961" y="2047"/>
                  <a:pt x="776" y="1959"/>
                  <a:pt x="644" y="1813"/>
                </a:cubicBezTo>
                <a:cubicBezTo>
                  <a:pt x="511" y="1667"/>
                  <a:pt x="431" y="1462"/>
                  <a:pt x="431" y="1225"/>
                </a:cubicBezTo>
                <a:cubicBezTo>
                  <a:pt x="431" y="989"/>
                  <a:pt x="512" y="784"/>
                  <a:pt x="644" y="638"/>
                </a:cubicBezTo>
                <a:cubicBezTo>
                  <a:pt x="776" y="492"/>
                  <a:pt x="961" y="404"/>
                  <a:pt x="1177" y="404"/>
                </a:cubicBezTo>
                <a:cubicBezTo>
                  <a:pt x="1400" y="404"/>
                  <a:pt x="1593" y="492"/>
                  <a:pt x="1731" y="639"/>
                </a:cubicBezTo>
                <a:cubicBezTo>
                  <a:pt x="1870" y="784"/>
                  <a:pt x="1954" y="990"/>
                  <a:pt x="1954" y="1225"/>
                </a:cubicBezTo>
                <a:cubicBezTo>
                  <a:pt x="1954" y="1461"/>
                  <a:pt x="1870" y="1666"/>
                  <a:pt x="1731" y="1812"/>
                </a:cubicBezTo>
                <a:cubicBezTo>
                  <a:pt x="1593" y="1959"/>
                  <a:pt x="1400" y="2047"/>
                  <a:pt x="1177" y="2047"/>
                </a:cubicBezTo>
                <a:close/>
              </a:path>
            </a:pathLst>
          </a:custGeom>
          <a:solidFill>
            <a:srgbClr val="F3702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BCC6A28F-F7D2-42C1-A8FD-A5A5F85B780E}"/>
              </a:ext>
            </a:extLst>
          </p:cNvPr>
          <p:cNvSpPr>
            <a:spLocks/>
          </p:cNvSpPr>
          <p:nvPr userDrawn="1"/>
        </p:nvSpPr>
        <p:spPr bwMode="auto">
          <a:xfrm>
            <a:off x="766174" y="883998"/>
            <a:ext cx="251237" cy="260060"/>
          </a:xfrm>
          <a:custGeom>
            <a:avLst/>
            <a:gdLst>
              <a:gd name="T0" fmla="*/ 523 w 541"/>
              <a:gd name="T1" fmla="*/ 0 h 560"/>
              <a:gd name="T2" fmla="*/ 500 w 541"/>
              <a:gd name="T3" fmla="*/ 0 h 560"/>
              <a:gd name="T4" fmla="*/ 405 w 541"/>
              <a:gd name="T5" fmla="*/ 0 h 560"/>
              <a:gd name="T6" fmla="*/ 270 w 541"/>
              <a:gd name="T7" fmla="*/ 182 h 560"/>
              <a:gd name="T8" fmla="*/ 134 w 541"/>
              <a:gd name="T9" fmla="*/ 0 h 560"/>
              <a:gd name="T10" fmla="*/ 17 w 541"/>
              <a:gd name="T11" fmla="*/ 0 h 560"/>
              <a:gd name="T12" fmla="*/ 213 w 541"/>
              <a:gd name="T13" fmla="*/ 263 h 560"/>
              <a:gd name="T14" fmla="*/ 0 w 541"/>
              <a:gd name="T15" fmla="*/ 560 h 560"/>
              <a:gd name="T16" fmla="*/ 116 w 541"/>
              <a:gd name="T17" fmla="*/ 560 h 560"/>
              <a:gd name="T18" fmla="*/ 271 w 541"/>
              <a:gd name="T19" fmla="*/ 345 h 560"/>
              <a:gd name="T20" fmla="*/ 423 w 541"/>
              <a:gd name="T21" fmla="*/ 560 h 560"/>
              <a:gd name="T22" fmla="*/ 541 w 541"/>
              <a:gd name="T23" fmla="*/ 560 h 560"/>
              <a:gd name="T24" fmla="*/ 328 w 541"/>
              <a:gd name="T25" fmla="*/ 262 h 560"/>
              <a:gd name="T26" fmla="*/ 523 w 541"/>
              <a:gd name="T27" fmla="*/ 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1" h="560">
                <a:moveTo>
                  <a:pt x="523" y="0"/>
                </a:moveTo>
                <a:lnTo>
                  <a:pt x="500" y="0"/>
                </a:lnTo>
                <a:lnTo>
                  <a:pt x="405" y="0"/>
                </a:lnTo>
                <a:lnTo>
                  <a:pt x="270" y="182"/>
                </a:lnTo>
                <a:lnTo>
                  <a:pt x="134" y="0"/>
                </a:lnTo>
                <a:lnTo>
                  <a:pt x="17" y="0"/>
                </a:lnTo>
                <a:lnTo>
                  <a:pt x="213" y="263"/>
                </a:lnTo>
                <a:lnTo>
                  <a:pt x="0" y="560"/>
                </a:lnTo>
                <a:lnTo>
                  <a:pt x="116" y="560"/>
                </a:lnTo>
                <a:lnTo>
                  <a:pt x="271" y="345"/>
                </a:lnTo>
                <a:lnTo>
                  <a:pt x="423" y="560"/>
                </a:lnTo>
                <a:lnTo>
                  <a:pt x="541" y="560"/>
                </a:lnTo>
                <a:lnTo>
                  <a:pt x="328" y="262"/>
                </a:lnTo>
                <a:lnTo>
                  <a:pt x="523" y="0"/>
                </a:lnTo>
                <a:close/>
              </a:path>
            </a:pathLst>
          </a:custGeom>
          <a:solidFill>
            <a:srgbClr val="F3702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434E160A-A48A-40C2-B0ED-331B29DB8D7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44345" y="876568"/>
            <a:ext cx="250772" cy="273992"/>
          </a:xfrm>
          <a:custGeom>
            <a:avLst/>
            <a:gdLst>
              <a:gd name="T0" fmla="*/ 1605 w 2235"/>
              <a:gd name="T1" fmla="*/ 92 h 2444"/>
              <a:gd name="T2" fmla="*/ 1165 w 2235"/>
              <a:gd name="T3" fmla="*/ 0 h 2444"/>
              <a:gd name="T4" fmla="*/ 333 w 2235"/>
              <a:gd name="T5" fmla="*/ 339 h 2444"/>
              <a:gd name="T6" fmla="*/ 1 w 2235"/>
              <a:gd name="T7" fmla="*/ 1236 h 2444"/>
              <a:gd name="T8" fmla="*/ 1 w 2235"/>
              <a:gd name="T9" fmla="*/ 1253 h 2444"/>
              <a:gd name="T10" fmla="*/ 328 w 2235"/>
              <a:gd name="T11" fmla="*/ 2119 h 2444"/>
              <a:gd name="T12" fmla="*/ 1174 w 2235"/>
              <a:gd name="T13" fmla="*/ 2444 h 2444"/>
              <a:gd name="T14" fmla="*/ 1658 w 2235"/>
              <a:gd name="T15" fmla="*/ 2360 h 2444"/>
              <a:gd name="T16" fmla="*/ 2109 w 2235"/>
              <a:gd name="T17" fmla="*/ 2036 h 2444"/>
              <a:gd name="T18" fmla="*/ 2140 w 2235"/>
              <a:gd name="T19" fmla="*/ 2001 h 2444"/>
              <a:gd name="T20" fmla="*/ 1851 w 2235"/>
              <a:gd name="T21" fmla="*/ 1719 h 2444"/>
              <a:gd name="T22" fmla="*/ 1817 w 2235"/>
              <a:gd name="T23" fmla="*/ 1754 h 2444"/>
              <a:gd name="T24" fmla="*/ 1540 w 2235"/>
              <a:gd name="T25" fmla="*/ 1972 h 2444"/>
              <a:gd name="T26" fmla="*/ 1172 w 2235"/>
              <a:gd name="T27" fmla="*/ 2048 h 2444"/>
              <a:gd name="T28" fmla="*/ 871 w 2235"/>
              <a:gd name="T29" fmla="*/ 1995 h 2444"/>
              <a:gd name="T30" fmla="*/ 558 w 2235"/>
              <a:gd name="T31" fmla="*/ 1738 h 2444"/>
              <a:gd name="T32" fmla="*/ 434 w 2235"/>
              <a:gd name="T33" fmla="*/ 1345 h 2444"/>
              <a:gd name="T34" fmla="*/ 2228 w 2235"/>
              <a:gd name="T35" fmla="*/ 1345 h 2444"/>
              <a:gd name="T36" fmla="*/ 2230 w 2235"/>
              <a:gd name="T37" fmla="*/ 1300 h 2444"/>
              <a:gd name="T38" fmla="*/ 2235 w 2235"/>
              <a:gd name="T39" fmla="*/ 1156 h 2444"/>
              <a:gd name="T40" fmla="*/ 1943 w 2235"/>
              <a:gd name="T41" fmla="*/ 341 h 2444"/>
              <a:gd name="T42" fmla="*/ 1605 w 2235"/>
              <a:gd name="T43" fmla="*/ 92 h 2444"/>
              <a:gd name="T44" fmla="*/ 673 w 2235"/>
              <a:gd name="T45" fmla="*/ 585 h 2444"/>
              <a:gd name="T46" fmla="*/ 1165 w 2235"/>
              <a:gd name="T47" fmla="*/ 406 h 2444"/>
              <a:gd name="T48" fmla="*/ 1606 w 2235"/>
              <a:gd name="T49" fmla="*/ 585 h 2444"/>
              <a:gd name="T50" fmla="*/ 1786 w 2235"/>
              <a:gd name="T51" fmla="*/ 964 h 2444"/>
              <a:gd name="T52" fmla="*/ 459 w 2235"/>
              <a:gd name="T53" fmla="*/ 964 h 2444"/>
              <a:gd name="T54" fmla="*/ 673 w 2235"/>
              <a:gd name="T55" fmla="*/ 585 h 2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235" h="2444">
                <a:moveTo>
                  <a:pt x="1605" y="92"/>
                </a:moveTo>
                <a:cubicBezTo>
                  <a:pt x="1474" y="33"/>
                  <a:pt x="1325" y="0"/>
                  <a:pt x="1165" y="0"/>
                </a:cubicBezTo>
                <a:cubicBezTo>
                  <a:pt x="834" y="0"/>
                  <a:pt x="540" y="122"/>
                  <a:pt x="333" y="339"/>
                </a:cubicBezTo>
                <a:cubicBezTo>
                  <a:pt x="124" y="556"/>
                  <a:pt x="0" y="865"/>
                  <a:pt x="1" y="1236"/>
                </a:cubicBezTo>
                <a:cubicBezTo>
                  <a:pt x="1" y="1253"/>
                  <a:pt x="1" y="1253"/>
                  <a:pt x="1" y="1253"/>
                </a:cubicBezTo>
                <a:cubicBezTo>
                  <a:pt x="1" y="1610"/>
                  <a:pt x="120" y="1909"/>
                  <a:pt x="328" y="2119"/>
                </a:cubicBezTo>
                <a:cubicBezTo>
                  <a:pt x="536" y="2328"/>
                  <a:pt x="831" y="2444"/>
                  <a:pt x="1174" y="2444"/>
                </a:cubicBezTo>
                <a:cubicBezTo>
                  <a:pt x="1339" y="2444"/>
                  <a:pt x="1502" y="2423"/>
                  <a:pt x="1658" y="2360"/>
                </a:cubicBezTo>
                <a:cubicBezTo>
                  <a:pt x="1815" y="2298"/>
                  <a:pt x="1966" y="2195"/>
                  <a:pt x="2109" y="2036"/>
                </a:cubicBezTo>
                <a:cubicBezTo>
                  <a:pt x="2140" y="2001"/>
                  <a:pt x="2140" y="2001"/>
                  <a:pt x="2140" y="2001"/>
                </a:cubicBezTo>
                <a:cubicBezTo>
                  <a:pt x="1851" y="1719"/>
                  <a:pt x="1851" y="1719"/>
                  <a:pt x="1851" y="1719"/>
                </a:cubicBezTo>
                <a:cubicBezTo>
                  <a:pt x="1817" y="1754"/>
                  <a:pt x="1817" y="1754"/>
                  <a:pt x="1817" y="1754"/>
                </a:cubicBezTo>
                <a:cubicBezTo>
                  <a:pt x="1727" y="1849"/>
                  <a:pt x="1640" y="1922"/>
                  <a:pt x="1540" y="1972"/>
                </a:cubicBezTo>
                <a:cubicBezTo>
                  <a:pt x="1441" y="2021"/>
                  <a:pt x="1325" y="2048"/>
                  <a:pt x="1172" y="2048"/>
                </a:cubicBezTo>
                <a:cubicBezTo>
                  <a:pt x="1061" y="2048"/>
                  <a:pt x="960" y="2030"/>
                  <a:pt x="871" y="1995"/>
                </a:cubicBezTo>
                <a:cubicBezTo>
                  <a:pt x="739" y="1943"/>
                  <a:pt x="632" y="1856"/>
                  <a:pt x="558" y="1738"/>
                </a:cubicBezTo>
                <a:cubicBezTo>
                  <a:pt x="489" y="1631"/>
                  <a:pt x="447" y="1499"/>
                  <a:pt x="434" y="1345"/>
                </a:cubicBezTo>
                <a:cubicBezTo>
                  <a:pt x="2228" y="1345"/>
                  <a:pt x="2228" y="1345"/>
                  <a:pt x="2228" y="1345"/>
                </a:cubicBezTo>
                <a:cubicBezTo>
                  <a:pt x="2230" y="1300"/>
                  <a:pt x="2230" y="1300"/>
                  <a:pt x="2230" y="1300"/>
                </a:cubicBezTo>
                <a:cubicBezTo>
                  <a:pt x="2235" y="1232"/>
                  <a:pt x="2235" y="1156"/>
                  <a:pt x="2235" y="1156"/>
                </a:cubicBezTo>
                <a:cubicBezTo>
                  <a:pt x="2235" y="839"/>
                  <a:pt x="2130" y="551"/>
                  <a:pt x="1943" y="341"/>
                </a:cubicBezTo>
                <a:cubicBezTo>
                  <a:pt x="1850" y="236"/>
                  <a:pt x="1736" y="151"/>
                  <a:pt x="1605" y="92"/>
                </a:cubicBezTo>
                <a:close/>
                <a:moveTo>
                  <a:pt x="673" y="585"/>
                </a:moveTo>
                <a:cubicBezTo>
                  <a:pt x="800" y="475"/>
                  <a:pt x="974" y="406"/>
                  <a:pt x="1165" y="406"/>
                </a:cubicBezTo>
                <a:cubicBezTo>
                  <a:pt x="1337" y="406"/>
                  <a:pt x="1492" y="475"/>
                  <a:pt x="1606" y="585"/>
                </a:cubicBezTo>
                <a:cubicBezTo>
                  <a:pt x="1707" y="685"/>
                  <a:pt x="1774" y="817"/>
                  <a:pt x="1786" y="964"/>
                </a:cubicBezTo>
                <a:cubicBezTo>
                  <a:pt x="459" y="964"/>
                  <a:pt x="459" y="964"/>
                  <a:pt x="459" y="964"/>
                </a:cubicBezTo>
                <a:cubicBezTo>
                  <a:pt x="481" y="816"/>
                  <a:pt x="559" y="684"/>
                  <a:pt x="673" y="58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481C9018-B0DC-4C5C-8678-62E1123483AC}"/>
              </a:ext>
            </a:extLst>
          </p:cNvPr>
          <p:cNvSpPr>
            <a:spLocks/>
          </p:cNvSpPr>
          <p:nvPr userDrawn="1"/>
        </p:nvSpPr>
        <p:spPr bwMode="auto">
          <a:xfrm>
            <a:off x="1357346" y="879819"/>
            <a:ext cx="220122" cy="264240"/>
          </a:xfrm>
          <a:custGeom>
            <a:avLst/>
            <a:gdLst>
              <a:gd name="T0" fmla="*/ 1608 w 1965"/>
              <a:gd name="T1" fmla="*/ 142 h 2354"/>
              <a:gd name="T2" fmla="*/ 1093 w 1965"/>
              <a:gd name="T3" fmla="*/ 0 h 2354"/>
              <a:gd name="T4" fmla="*/ 627 w 1965"/>
              <a:gd name="T5" fmla="*/ 122 h 2354"/>
              <a:gd name="T6" fmla="*/ 431 w 1965"/>
              <a:gd name="T7" fmla="*/ 293 h 2354"/>
              <a:gd name="T8" fmla="*/ 431 w 1965"/>
              <a:gd name="T9" fmla="*/ 35 h 2354"/>
              <a:gd name="T10" fmla="*/ 0 w 1965"/>
              <a:gd name="T11" fmla="*/ 35 h 2354"/>
              <a:gd name="T12" fmla="*/ 0 w 1965"/>
              <a:gd name="T13" fmla="*/ 2354 h 2354"/>
              <a:gd name="T14" fmla="*/ 431 w 1965"/>
              <a:gd name="T15" fmla="*/ 2354 h 2354"/>
              <a:gd name="T16" fmla="*/ 431 w 1965"/>
              <a:gd name="T17" fmla="*/ 979 h 2354"/>
              <a:gd name="T18" fmla="*/ 591 w 1965"/>
              <a:gd name="T19" fmla="*/ 562 h 2354"/>
              <a:gd name="T20" fmla="*/ 1009 w 1965"/>
              <a:gd name="T21" fmla="*/ 405 h 2354"/>
              <a:gd name="T22" fmla="*/ 1232 w 1965"/>
              <a:gd name="T23" fmla="*/ 443 h 2354"/>
              <a:gd name="T24" fmla="*/ 1456 w 1965"/>
              <a:gd name="T25" fmla="*/ 631 h 2354"/>
              <a:gd name="T26" fmla="*/ 1537 w 1965"/>
              <a:gd name="T27" fmla="*/ 956 h 2354"/>
              <a:gd name="T28" fmla="*/ 1537 w 1965"/>
              <a:gd name="T29" fmla="*/ 2354 h 2354"/>
              <a:gd name="T30" fmla="*/ 1965 w 1965"/>
              <a:gd name="T31" fmla="*/ 2354 h 2354"/>
              <a:gd name="T32" fmla="*/ 1965 w 1965"/>
              <a:gd name="T33" fmla="*/ 886 h 2354"/>
              <a:gd name="T34" fmla="*/ 1906 w 1965"/>
              <a:gd name="T35" fmla="*/ 528 h 2354"/>
              <a:gd name="T36" fmla="*/ 1608 w 1965"/>
              <a:gd name="T37" fmla="*/ 142 h 2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65" h="2354">
                <a:moveTo>
                  <a:pt x="1608" y="142"/>
                </a:moveTo>
                <a:cubicBezTo>
                  <a:pt x="1469" y="50"/>
                  <a:pt x="1295" y="0"/>
                  <a:pt x="1093" y="0"/>
                </a:cubicBezTo>
                <a:cubicBezTo>
                  <a:pt x="913" y="0"/>
                  <a:pt x="755" y="45"/>
                  <a:pt x="627" y="122"/>
                </a:cubicBezTo>
                <a:cubicBezTo>
                  <a:pt x="550" y="169"/>
                  <a:pt x="485" y="227"/>
                  <a:pt x="431" y="293"/>
                </a:cubicBezTo>
                <a:cubicBezTo>
                  <a:pt x="431" y="35"/>
                  <a:pt x="431" y="35"/>
                  <a:pt x="431" y="35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2354"/>
                  <a:pt x="0" y="2354"/>
                  <a:pt x="0" y="2354"/>
                </a:cubicBezTo>
                <a:cubicBezTo>
                  <a:pt x="431" y="2354"/>
                  <a:pt x="431" y="2354"/>
                  <a:pt x="431" y="2354"/>
                </a:cubicBezTo>
                <a:cubicBezTo>
                  <a:pt x="431" y="979"/>
                  <a:pt x="431" y="979"/>
                  <a:pt x="431" y="979"/>
                </a:cubicBezTo>
                <a:cubicBezTo>
                  <a:pt x="431" y="804"/>
                  <a:pt x="491" y="662"/>
                  <a:pt x="591" y="562"/>
                </a:cubicBezTo>
                <a:cubicBezTo>
                  <a:pt x="691" y="463"/>
                  <a:pt x="834" y="405"/>
                  <a:pt x="1009" y="405"/>
                </a:cubicBezTo>
                <a:cubicBezTo>
                  <a:pt x="1093" y="405"/>
                  <a:pt x="1168" y="419"/>
                  <a:pt x="1232" y="443"/>
                </a:cubicBezTo>
                <a:cubicBezTo>
                  <a:pt x="1329" y="481"/>
                  <a:pt x="1405" y="545"/>
                  <a:pt x="1456" y="631"/>
                </a:cubicBezTo>
                <a:cubicBezTo>
                  <a:pt x="1509" y="717"/>
                  <a:pt x="1537" y="826"/>
                  <a:pt x="1537" y="956"/>
                </a:cubicBezTo>
                <a:cubicBezTo>
                  <a:pt x="1537" y="2354"/>
                  <a:pt x="1537" y="2354"/>
                  <a:pt x="1537" y="2354"/>
                </a:cubicBezTo>
                <a:cubicBezTo>
                  <a:pt x="1965" y="2354"/>
                  <a:pt x="1965" y="2354"/>
                  <a:pt x="1965" y="2354"/>
                </a:cubicBezTo>
                <a:cubicBezTo>
                  <a:pt x="1965" y="886"/>
                  <a:pt x="1965" y="886"/>
                  <a:pt x="1965" y="886"/>
                </a:cubicBezTo>
                <a:cubicBezTo>
                  <a:pt x="1965" y="757"/>
                  <a:pt x="1944" y="636"/>
                  <a:pt x="1906" y="528"/>
                </a:cubicBezTo>
                <a:cubicBezTo>
                  <a:pt x="1848" y="367"/>
                  <a:pt x="1746" y="233"/>
                  <a:pt x="1608" y="1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34A981F0-A23C-4ACF-B9E9-C23B6CEEA30F}"/>
              </a:ext>
            </a:extLst>
          </p:cNvPr>
          <p:cNvSpPr>
            <a:spLocks/>
          </p:cNvSpPr>
          <p:nvPr userDrawn="1"/>
        </p:nvSpPr>
        <p:spPr bwMode="auto">
          <a:xfrm>
            <a:off x="1649914" y="883998"/>
            <a:ext cx="48297" cy="260060"/>
          </a:xfrm>
          <a:custGeom>
            <a:avLst/>
            <a:gdLst>
              <a:gd name="T0" fmla="*/ 0 w 104"/>
              <a:gd name="T1" fmla="*/ 560 h 560"/>
              <a:gd name="T2" fmla="*/ 11 w 104"/>
              <a:gd name="T3" fmla="*/ 560 h 560"/>
              <a:gd name="T4" fmla="*/ 104 w 104"/>
              <a:gd name="T5" fmla="*/ 560 h 560"/>
              <a:gd name="T6" fmla="*/ 104 w 104"/>
              <a:gd name="T7" fmla="*/ 0 h 560"/>
              <a:gd name="T8" fmla="*/ 0 w 104"/>
              <a:gd name="T9" fmla="*/ 0 h 560"/>
              <a:gd name="T10" fmla="*/ 0 w 104"/>
              <a:gd name="T11" fmla="*/ 56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4" h="560">
                <a:moveTo>
                  <a:pt x="0" y="560"/>
                </a:moveTo>
                <a:lnTo>
                  <a:pt x="11" y="560"/>
                </a:lnTo>
                <a:lnTo>
                  <a:pt x="104" y="560"/>
                </a:lnTo>
                <a:lnTo>
                  <a:pt x="104" y="0"/>
                </a:lnTo>
                <a:lnTo>
                  <a:pt x="0" y="0"/>
                </a:lnTo>
                <a:lnTo>
                  <a:pt x="0" y="5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9EAFDA3E-05AB-4431-BC92-FFD2DA7279A4}"/>
              </a:ext>
            </a:extLst>
          </p:cNvPr>
          <p:cNvSpPr>
            <a:spLocks/>
          </p:cNvSpPr>
          <p:nvPr userDrawn="1"/>
        </p:nvSpPr>
        <p:spPr bwMode="auto">
          <a:xfrm>
            <a:off x="1751616" y="883998"/>
            <a:ext cx="251237" cy="260060"/>
          </a:xfrm>
          <a:custGeom>
            <a:avLst/>
            <a:gdLst>
              <a:gd name="T0" fmla="*/ 328 w 541"/>
              <a:gd name="T1" fmla="*/ 262 h 560"/>
              <a:gd name="T2" fmla="*/ 523 w 541"/>
              <a:gd name="T3" fmla="*/ 0 h 560"/>
              <a:gd name="T4" fmla="*/ 405 w 541"/>
              <a:gd name="T5" fmla="*/ 0 h 560"/>
              <a:gd name="T6" fmla="*/ 270 w 541"/>
              <a:gd name="T7" fmla="*/ 182 h 560"/>
              <a:gd name="T8" fmla="*/ 134 w 541"/>
              <a:gd name="T9" fmla="*/ 0 h 560"/>
              <a:gd name="T10" fmla="*/ 17 w 541"/>
              <a:gd name="T11" fmla="*/ 0 h 560"/>
              <a:gd name="T12" fmla="*/ 213 w 541"/>
              <a:gd name="T13" fmla="*/ 263 h 560"/>
              <a:gd name="T14" fmla="*/ 0 w 541"/>
              <a:gd name="T15" fmla="*/ 560 h 560"/>
              <a:gd name="T16" fmla="*/ 116 w 541"/>
              <a:gd name="T17" fmla="*/ 560 h 560"/>
              <a:gd name="T18" fmla="*/ 271 w 541"/>
              <a:gd name="T19" fmla="*/ 345 h 560"/>
              <a:gd name="T20" fmla="*/ 424 w 541"/>
              <a:gd name="T21" fmla="*/ 560 h 560"/>
              <a:gd name="T22" fmla="*/ 541 w 541"/>
              <a:gd name="T23" fmla="*/ 560 h 560"/>
              <a:gd name="T24" fmla="*/ 328 w 541"/>
              <a:gd name="T25" fmla="*/ 262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1" h="560">
                <a:moveTo>
                  <a:pt x="328" y="262"/>
                </a:moveTo>
                <a:lnTo>
                  <a:pt x="523" y="0"/>
                </a:lnTo>
                <a:lnTo>
                  <a:pt x="405" y="0"/>
                </a:lnTo>
                <a:lnTo>
                  <a:pt x="270" y="182"/>
                </a:lnTo>
                <a:lnTo>
                  <a:pt x="134" y="0"/>
                </a:lnTo>
                <a:lnTo>
                  <a:pt x="17" y="0"/>
                </a:lnTo>
                <a:lnTo>
                  <a:pt x="213" y="263"/>
                </a:lnTo>
                <a:lnTo>
                  <a:pt x="0" y="560"/>
                </a:lnTo>
                <a:lnTo>
                  <a:pt x="116" y="560"/>
                </a:lnTo>
                <a:lnTo>
                  <a:pt x="271" y="345"/>
                </a:lnTo>
                <a:lnTo>
                  <a:pt x="424" y="560"/>
                </a:lnTo>
                <a:lnTo>
                  <a:pt x="541" y="560"/>
                </a:lnTo>
                <a:lnTo>
                  <a:pt x="328" y="2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E8234A06-B833-401B-BC4B-0D909EA9EA7B}"/>
              </a:ext>
            </a:extLst>
          </p:cNvPr>
          <p:cNvSpPr>
            <a:spLocks/>
          </p:cNvSpPr>
          <p:nvPr userDrawn="1"/>
        </p:nvSpPr>
        <p:spPr bwMode="auto">
          <a:xfrm>
            <a:off x="604101" y="271463"/>
            <a:ext cx="406344" cy="544734"/>
          </a:xfrm>
          <a:custGeom>
            <a:avLst/>
            <a:gdLst>
              <a:gd name="T0" fmla="*/ 535 w 3625"/>
              <a:gd name="T1" fmla="*/ 4303 h 4860"/>
              <a:gd name="T2" fmla="*/ 459 w 3625"/>
              <a:gd name="T3" fmla="*/ 4139 h 4860"/>
              <a:gd name="T4" fmla="*/ 435 w 3625"/>
              <a:gd name="T5" fmla="*/ 3604 h 4860"/>
              <a:gd name="T6" fmla="*/ 718 w 3625"/>
              <a:gd name="T7" fmla="*/ 3134 h 4860"/>
              <a:gd name="T8" fmla="*/ 3624 w 3625"/>
              <a:gd name="T9" fmla="*/ 518 h 4860"/>
              <a:gd name="T10" fmla="*/ 3624 w 3625"/>
              <a:gd name="T11" fmla="*/ 0 h 4860"/>
              <a:gd name="T12" fmla="*/ 461 w 3625"/>
              <a:gd name="T13" fmla="*/ 2848 h 4860"/>
              <a:gd name="T14" fmla="*/ 148 w 3625"/>
              <a:gd name="T15" fmla="*/ 3271 h 4860"/>
              <a:gd name="T16" fmla="*/ 36 w 3625"/>
              <a:gd name="T17" fmla="*/ 4016 h 4860"/>
              <a:gd name="T18" fmla="*/ 363 w 3625"/>
              <a:gd name="T19" fmla="*/ 4717 h 4860"/>
              <a:gd name="T20" fmla="*/ 363 w 3625"/>
              <a:gd name="T21" fmla="*/ 4717 h 4860"/>
              <a:gd name="T22" fmla="*/ 493 w 3625"/>
              <a:gd name="T23" fmla="*/ 4860 h 4860"/>
              <a:gd name="T24" fmla="*/ 3625 w 3625"/>
              <a:gd name="T25" fmla="*/ 2040 h 4860"/>
              <a:gd name="T26" fmla="*/ 3625 w 3625"/>
              <a:gd name="T27" fmla="*/ 1522 h 4860"/>
              <a:gd name="T28" fmla="*/ 535 w 3625"/>
              <a:gd name="T29" fmla="*/ 4303 h 4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625" h="4860">
                <a:moveTo>
                  <a:pt x="535" y="4303"/>
                </a:moveTo>
                <a:cubicBezTo>
                  <a:pt x="505" y="4250"/>
                  <a:pt x="479" y="4195"/>
                  <a:pt x="459" y="4139"/>
                </a:cubicBezTo>
                <a:cubicBezTo>
                  <a:pt x="399" y="3966"/>
                  <a:pt x="392" y="3780"/>
                  <a:pt x="435" y="3604"/>
                </a:cubicBezTo>
                <a:cubicBezTo>
                  <a:pt x="479" y="3428"/>
                  <a:pt x="573" y="3264"/>
                  <a:pt x="718" y="3134"/>
                </a:cubicBezTo>
                <a:cubicBezTo>
                  <a:pt x="3624" y="518"/>
                  <a:pt x="3624" y="518"/>
                  <a:pt x="3624" y="518"/>
                </a:cubicBezTo>
                <a:cubicBezTo>
                  <a:pt x="3624" y="0"/>
                  <a:pt x="3624" y="0"/>
                  <a:pt x="3624" y="0"/>
                </a:cubicBezTo>
                <a:cubicBezTo>
                  <a:pt x="461" y="2848"/>
                  <a:pt x="461" y="2848"/>
                  <a:pt x="461" y="2848"/>
                </a:cubicBezTo>
                <a:cubicBezTo>
                  <a:pt x="326" y="2970"/>
                  <a:pt x="220" y="3115"/>
                  <a:pt x="148" y="3271"/>
                </a:cubicBezTo>
                <a:cubicBezTo>
                  <a:pt x="38" y="3505"/>
                  <a:pt x="0" y="3764"/>
                  <a:pt x="36" y="4016"/>
                </a:cubicBezTo>
                <a:cubicBezTo>
                  <a:pt x="71" y="4268"/>
                  <a:pt x="180" y="4514"/>
                  <a:pt x="363" y="4717"/>
                </a:cubicBezTo>
                <a:cubicBezTo>
                  <a:pt x="363" y="4717"/>
                  <a:pt x="363" y="4717"/>
                  <a:pt x="363" y="4717"/>
                </a:cubicBezTo>
                <a:cubicBezTo>
                  <a:pt x="493" y="4860"/>
                  <a:pt x="493" y="4860"/>
                  <a:pt x="493" y="4860"/>
                </a:cubicBezTo>
                <a:cubicBezTo>
                  <a:pt x="3625" y="2040"/>
                  <a:pt x="3625" y="2040"/>
                  <a:pt x="3625" y="2040"/>
                </a:cubicBezTo>
                <a:cubicBezTo>
                  <a:pt x="3625" y="1522"/>
                  <a:pt x="3625" y="1522"/>
                  <a:pt x="3625" y="1522"/>
                </a:cubicBezTo>
                <a:lnTo>
                  <a:pt x="535" y="4303"/>
                </a:lnTo>
                <a:close/>
              </a:path>
            </a:pathLst>
          </a:custGeom>
          <a:solidFill>
            <a:srgbClr val="F3702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22" name="Freeform 12">
            <a:extLst>
              <a:ext uri="{FF2B5EF4-FFF2-40B4-BE49-F238E27FC236}">
                <a16:creationId xmlns:a16="http://schemas.microsoft.com/office/drawing/2014/main" id="{1AF2DADA-D462-4896-91A8-A7E2DE8491CD}"/>
              </a:ext>
            </a:extLst>
          </p:cNvPr>
          <p:cNvSpPr>
            <a:spLocks/>
          </p:cNvSpPr>
          <p:nvPr userDrawn="1"/>
        </p:nvSpPr>
        <p:spPr bwMode="auto">
          <a:xfrm>
            <a:off x="787536" y="616508"/>
            <a:ext cx="221980" cy="199689"/>
          </a:xfrm>
          <a:custGeom>
            <a:avLst/>
            <a:gdLst>
              <a:gd name="T0" fmla="*/ 0 w 478"/>
              <a:gd name="T1" fmla="*/ 430 h 430"/>
              <a:gd name="T2" fmla="*/ 140 w 478"/>
              <a:gd name="T3" fmla="*/ 430 h 430"/>
              <a:gd name="T4" fmla="*/ 478 w 478"/>
              <a:gd name="T5" fmla="*/ 125 h 430"/>
              <a:gd name="T6" fmla="*/ 478 w 478"/>
              <a:gd name="T7" fmla="*/ 0 h 430"/>
              <a:gd name="T8" fmla="*/ 0 w 478"/>
              <a:gd name="T9" fmla="*/ 430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8" h="430">
                <a:moveTo>
                  <a:pt x="0" y="430"/>
                </a:moveTo>
                <a:lnTo>
                  <a:pt x="140" y="430"/>
                </a:lnTo>
                <a:lnTo>
                  <a:pt x="478" y="125"/>
                </a:lnTo>
                <a:lnTo>
                  <a:pt x="478" y="0"/>
                </a:lnTo>
                <a:lnTo>
                  <a:pt x="0" y="430"/>
                </a:lnTo>
                <a:close/>
              </a:path>
            </a:pathLst>
          </a:custGeom>
          <a:solidFill>
            <a:srgbClr val="F3702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7E0E32-6D10-44B4-88E0-FA6A24AC67C0}"/>
              </a:ext>
            </a:extLst>
          </p:cNvPr>
          <p:cNvSpPr>
            <a:spLocks/>
          </p:cNvSpPr>
          <p:nvPr userDrawn="1"/>
        </p:nvSpPr>
        <p:spPr>
          <a:xfrm>
            <a:off x="450850" y="5038794"/>
            <a:ext cx="7406964" cy="129266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chemeClr val="bg1"/>
                </a:solidFill>
              </a:rPr>
              <a:t>О компании </a:t>
            </a:r>
            <a:r>
              <a:rPr lang="en-US" sz="1400" b="1" dirty="0">
                <a:solidFill>
                  <a:schemeClr val="bg1"/>
                </a:solidFill>
              </a:rPr>
              <a:t>AXENIX</a:t>
            </a:r>
            <a:endParaRPr lang="ru-RU" sz="1400" b="1" dirty="0">
              <a:solidFill>
                <a:schemeClr val="bg1"/>
              </a:solidFill>
            </a:endParaRPr>
          </a:p>
          <a:p>
            <a:pPr>
              <a:spcAft>
                <a:spcPts val="1200"/>
              </a:spcAft>
            </a:pPr>
            <a:r>
              <a:rPr lang="en-US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AXENIX </a:t>
            </a:r>
            <a: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</a:t>
            </a:r>
            <a:b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</a:br>
            <a: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в области цифровых сервисов, облачных технологий и решений для обеспечения информационной безопасности.</a:t>
            </a:r>
            <a:b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</a:br>
            <a: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В офисах и центрах разработки в Москве, Твери, Ростове-на-Дону, Краснодаре, Санкт-Петербурге и Алматы работают около 2 000 сотрудников. Благодаря сочетанию уникальных знаний, опыта и компетенций более чем в 40 отраслях, предлагает услуги в области стратегии и бизнес-консалтинга, технологических решений и других операций,</a:t>
            </a:r>
            <a:b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</a:br>
            <a: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направленных на цифровизацию бизнеса.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51286E-94D4-47EF-9AE5-4CAFBE882139}"/>
              </a:ext>
            </a:extLst>
          </p:cNvPr>
          <p:cNvGrpSpPr/>
          <p:nvPr userDrawn="1"/>
        </p:nvGrpSpPr>
        <p:grpSpPr>
          <a:xfrm>
            <a:off x="10496981" y="4771699"/>
            <a:ext cx="1244601" cy="1559757"/>
            <a:chOff x="8858249" y="4771699"/>
            <a:chExt cx="1244601" cy="1559757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E5943AA-8DF0-4042-8DD0-3A3478728281}"/>
                </a:ext>
              </a:extLst>
            </p:cNvPr>
            <p:cNvSpPr/>
            <p:nvPr userDrawn="1"/>
          </p:nvSpPr>
          <p:spPr>
            <a:xfrm>
              <a:off x="8858249" y="4771699"/>
              <a:ext cx="1244601" cy="1559757"/>
            </a:xfrm>
            <a:prstGeom prst="roundRect">
              <a:avLst>
                <a:gd name="adj" fmla="val 8104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tlCol="0" anchor="ctr">
              <a:noAutofit/>
            </a:bodyPr>
            <a:lstStyle/>
            <a:p>
              <a:pPr algn="ctr"/>
              <a:endParaRPr lang="ru-RU" b="1" kern="0" dirty="0">
                <a:solidFill>
                  <a:prstClr val="white"/>
                </a:solidFill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0D7D378-55F9-4910-A988-B16EF544CD15}"/>
                </a:ext>
              </a:extLst>
            </p:cNvPr>
            <p:cNvPicPr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978734" y="4889934"/>
              <a:ext cx="1003631" cy="1008131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5753B3A-2F1D-4A0A-95A4-705EC7083188}"/>
                </a:ext>
              </a:extLst>
            </p:cNvPr>
            <p:cNvSpPr>
              <a:spLocks/>
            </p:cNvSpPr>
            <p:nvPr userDrawn="1"/>
          </p:nvSpPr>
          <p:spPr>
            <a:xfrm>
              <a:off x="8858249" y="6037816"/>
              <a:ext cx="1244601" cy="153888"/>
            </a:xfrm>
            <a:prstGeom prst="rect">
              <a:avLst/>
            </a:prstGeom>
          </p:spPr>
          <p:txBody>
            <a:bodyPr wrap="square" lIns="0" tIns="0" rIns="0" bIns="0" anchor="b" anchorCtr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000" b="1" dirty="0">
                  <a:solidFill>
                    <a:schemeClr val="tx1"/>
                  </a:solidFill>
                  <a:effectLst/>
                  <a:latin typeface="+mn-lt"/>
                  <a:ea typeface="Calibri" panose="020F0502020204030204" pitchFamily="34" charset="0"/>
                </a:rPr>
                <a:t>axenix.pro</a:t>
              </a:r>
              <a:endParaRPr lang="ru-RU" sz="1000" b="1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96B6298-6C9C-4F56-9C03-60D1CAB5D326}"/>
              </a:ext>
            </a:extLst>
          </p:cNvPr>
          <p:cNvGrpSpPr/>
          <p:nvPr userDrawn="1"/>
        </p:nvGrpSpPr>
        <p:grpSpPr>
          <a:xfrm>
            <a:off x="8828756" y="4771699"/>
            <a:ext cx="1244601" cy="1559757"/>
            <a:chOff x="10467974" y="4771699"/>
            <a:chExt cx="1244601" cy="155975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41C7AAA-ABD4-45B6-BBDF-D5F0E1D6EF94}"/>
                </a:ext>
              </a:extLst>
            </p:cNvPr>
            <p:cNvSpPr/>
            <p:nvPr userDrawn="1"/>
          </p:nvSpPr>
          <p:spPr>
            <a:xfrm>
              <a:off x="10467974" y="4771699"/>
              <a:ext cx="1244601" cy="1559757"/>
            </a:xfrm>
            <a:prstGeom prst="roundRect">
              <a:avLst>
                <a:gd name="adj" fmla="val 8104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tlCol="0" anchor="ctr">
              <a:noAutofit/>
            </a:bodyPr>
            <a:lstStyle/>
            <a:p>
              <a:pPr algn="ctr"/>
              <a:endParaRPr lang="ru-RU" b="1" kern="0" dirty="0">
                <a:solidFill>
                  <a:prstClr val="white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193D91F-ECD1-437A-AB99-5134799C024E}"/>
                </a:ext>
              </a:extLst>
            </p:cNvPr>
            <p:cNvPicPr>
              <a:picLocks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588459" y="4889934"/>
              <a:ext cx="1003631" cy="1008131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61F16EC-034C-46CE-B459-0A0B8DF738B5}"/>
                </a:ext>
              </a:extLst>
            </p:cNvPr>
            <p:cNvSpPr>
              <a:spLocks/>
            </p:cNvSpPr>
            <p:nvPr userDrawn="1"/>
          </p:nvSpPr>
          <p:spPr>
            <a:xfrm>
              <a:off x="10467974" y="6037816"/>
              <a:ext cx="1244601" cy="153888"/>
            </a:xfrm>
            <a:prstGeom prst="rect">
              <a:avLst/>
            </a:prstGeom>
          </p:spPr>
          <p:txBody>
            <a:bodyPr wrap="square" lIns="0" tIns="0" rIns="0" bIns="0" anchor="b" anchorCtr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000" b="1" dirty="0">
                  <a:solidFill>
                    <a:schemeClr val="tx1"/>
                  </a:solidFill>
                  <a:effectLst/>
                  <a:latin typeface="+mn-lt"/>
                  <a:ea typeface="Calibri" panose="020F0502020204030204" pitchFamily="34" charset="0"/>
                </a:rPr>
                <a:t>@axenix_ru</a:t>
              </a:r>
              <a:endParaRPr lang="ru-RU" sz="1000" b="1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287EC87-3D97-40AD-B938-1DC57B30743E}"/>
              </a:ext>
            </a:extLst>
          </p:cNvPr>
          <p:cNvSpPr txBox="1">
            <a:spLocks/>
          </p:cNvSpPr>
          <p:nvPr userDrawn="1"/>
        </p:nvSpPr>
        <p:spPr>
          <a:xfrm>
            <a:off x="450849" y="2239493"/>
            <a:ext cx="5465505" cy="1477328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defPPr>
              <a:defRPr lang="ru-RU"/>
            </a:defPPr>
            <a:lvl1pPr>
              <a:spcAft>
                <a:spcPts val="1200"/>
              </a:spcAft>
              <a:defRPr sz="1000">
                <a:solidFill>
                  <a:schemeClr val="bg1"/>
                </a:solidFill>
                <a:effectLst/>
                <a:ea typeface="Calibri" panose="020F0502020204030204" pitchFamily="34" charset="0"/>
              </a:defRPr>
            </a:lvl1pPr>
          </a:lstStyle>
          <a:p>
            <a:pPr lvl="0"/>
            <a:r>
              <a:rPr lang="ru-RU" sz="7200" b="1" dirty="0">
                <a:latin typeface="+mj-lt"/>
              </a:rPr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7181211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o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E67736-2CFF-411B-A9E2-8C6A8C18AE13}"/>
              </a:ext>
            </a:extLst>
          </p:cNvPr>
          <p:cNvSpPr>
            <a:spLocks/>
          </p:cNvSpPr>
          <p:nvPr userDrawn="1"/>
        </p:nvSpPr>
        <p:spPr bwMode="gray">
          <a:xfrm>
            <a:off x="9188903" y="0"/>
            <a:ext cx="3003097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l">
              <a:spcBef>
                <a:spcPts val="0"/>
              </a:spcBef>
              <a:spcAft>
                <a:spcPts val="600"/>
              </a:spcAft>
            </a:pPr>
            <a:endParaRPr lang="ru-RU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A1F0855-F439-4289-A4E8-7ECBEBD8AA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638903" y="1438275"/>
            <a:ext cx="2102678" cy="4881563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ru-RU" sz="28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r>
              <a:rPr lang="ru-RU" dirty="0"/>
              <a:t>Здесь может быть цитата, ключевой вывод слайда и другой контент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D387F2F-2329-4113-AE63-60B7CE9BC1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851" y="271463"/>
            <a:ext cx="8288052" cy="46166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9DD2F828-9251-44C9-A72F-77BA3D4FED70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60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60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A44FA2D-5EA9-46AB-B4C7-318838ABC508}"/>
              </a:ext>
            </a:extLst>
          </p:cNvPr>
          <p:cNvGrpSpPr/>
          <p:nvPr userDrawn="1"/>
        </p:nvGrpSpPr>
        <p:grpSpPr>
          <a:xfrm>
            <a:off x="11480085" y="271463"/>
            <a:ext cx="262653" cy="352106"/>
            <a:chOff x="693246" y="360000"/>
            <a:chExt cx="406344" cy="544734"/>
          </a:xfrm>
          <a:solidFill>
            <a:srgbClr val="F05626"/>
          </a:solidFill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D2ACF44B-21E4-4A3F-9506-C987E5BEEC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3246" y="360000"/>
              <a:ext cx="406344" cy="544734"/>
            </a:xfrm>
            <a:custGeom>
              <a:avLst/>
              <a:gdLst>
                <a:gd name="T0" fmla="*/ 535 w 3625"/>
                <a:gd name="T1" fmla="*/ 4303 h 4860"/>
                <a:gd name="T2" fmla="*/ 459 w 3625"/>
                <a:gd name="T3" fmla="*/ 4139 h 4860"/>
                <a:gd name="T4" fmla="*/ 435 w 3625"/>
                <a:gd name="T5" fmla="*/ 3604 h 4860"/>
                <a:gd name="T6" fmla="*/ 718 w 3625"/>
                <a:gd name="T7" fmla="*/ 3134 h 4860"/>
                <a:gd name="T8" fmla="*/ 3624 w 3625"/>
                <a:gd name="T9" fmla="*/ 518 h 4860"/>
                <a:gd name="T10" fmla="*/ 3624 w 3625"/>
                <a:gd name="T11" fmla="*/ 0 h 4860"/>
                <a:gd name="T12" fmla="*/ 461 w 3625"/>
                <a:gd name="T13" fmla="*/ 2848 h 4860"/>
                <a:gd name="T14" fmla="*/ 148 w 3625"/>
                <a:gd name="T15" fmla="*/ 3271 h 4860"/>
                <a:gd name="T16" fmla="*/ 36 w 3625"/>
                <a:gd name="T17" fmla="*/ 4016 h 4860"/>
                <a:gd name="T18" fmla="*/ 363 w 3625"/>
                <a:gd name="T19" fmla="*/ 4717 h 4860"/>
                <a:gd name="T20" fmla="*/ 363 w 3625"/>
                <a:gd name="T21" fmla="*/ 4717 h 4860"/>
                <a:gd name="T22" fmla="*/ 493 w 3625"/>
                <a:gd name="T23" fmla="*/ 4860 h 4860"/>
                <a:gd name="T24" fmla="*/ 3625 w 3625"/>
                <a:gd name="T25" fmla="*/ 2040 h 4860"/>
                <a:gd name="T26" fmla="*/ 3625 w 3625"/>
                <a:gd name="T27" fmla="*/ 1522 h 4860"/>
                <a:gd name="T28" fmla="*/ 535 w 3625"/>
                <a:gd name="T29" fmla="*/ 4303 h 4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25" h="4860">
                  <a:moveTo>
                    <a:pt x="535" y="4303"/>
                  </a:moveTo>
                  <a:cubicBezTo>
                    <a:pt x="505" y="4250"/>
                    <a:pt x="479" y="4195"/>
                    <a:pt x="459" y="4139"/>
                  </a:cubicBezTo>
                  <a:cubicBezTo>
                    <a:pt x="399" y="3966"/>
                    <a:pt x="392" y="3780"/>
                    <a:pt x="435" y="3604"/>
                  </a:cubicBezTo>
                  <a:cubicBezTo>
                    <a:pt x="479" y="3428"/>
                    <a:pt x="573" y="3264"/>
                    <a:pt x="718" y="3134"/>
                  </a:cubicBezTo>
                  <a:cubicBezTo>
                    <a:pt x="3624" y="518"/>
                    <a:pt x="3624" y="518"/>
                    <a:pt x="3624" y="518"/>
                  </a:cubicBezTo>
                  <a:cubicBezTo>
                    <a:pt x="3624" y="0"/>
                    <a:pt x="3624" y="0"/>
                    <a:pt x="3624" y="0"/>
                  </a:cubicBezTo>
                  <a:cubicBezTo>
                    <a:pt x="461" y="2848"/>
                    <a:pt x="461" y="2848"/>
                    <a:pt x="461" y="2848"/>
                  </a:cubicBezTo>
                  <a:cubicBezTo>
                    <a:pt x="326" y="2970"/>
                    <a:pt x="220" y="3115"/>
                    <a:pt x="148" y="3271"/>
                  </a:cubicBezTo>
                  <a:cubicBezTo>
                    <a:pt x="38" y="3505"/>
                    <a:pt x="0" y="3764"/>
                    <a:pt x="36" y="4016"/>
                  </a:cubicBezTo>
                  <a:cubicBezTo>
                    <a:pt x="71" y="4268"/>
                    <a:pt x="180" y="4514"/>
                    <a:pt x="363" y="4717"/>
                  </a:cubicBezTo>
                  <a:cubicBezTo>
                    <a:pt x="363" y="4717"/>
                    <a:pt x="363" y="4717"/>
                    <a:pt x="363" y="4717"/>
                  </a:cubicBezTo>
                  <a:cubicBezTo>
                    <a:pt x="493" y="4860"/>
                    <a:pt x="493" y="4860"/>
                    <a:pt x="493" y="4860"/>
                  </a:cubicBezTo>
                  <a:cubicBezTo>
                    <a:pt x="3625" y="2040"/>
                    <a:pt x="3625" y="2040"/>
                    <a:pt x="3625" y="2040"/>
                  </a:cubicBezTo>
                  <a:cubicBezTo>
                    <a:pt x="3625" y="1522"/>
                    <a:pt x="3625" y="1522"/>
                    <a:pt x="3625" y="1522"/>
                  </a:cubicBezTo>
                  <a:lnTo>
                    <a:pt x="535" y="4303"/>
                  </a:lnTo>
                  <a:close/>
                </a:path>
              </a:pathLst>
            </a:custGeom>
            <a:solidFill>
              <a:srgbClr val="F37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040BA7E4-132C-43EC-8034-51D331202C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6681" y="705045"/>
              <a:ext cx="221980" cy="199689"/>
            </a:xfrm>
            <a:custGeom>
              <a:avLst/>
              <a:gdLst>
                <a:gd name="T0" fmla="*/ 0 w 478"/>
                <a:gd name="T1" fmla="*/ 430 h 430"/>
                <a:gd name="T2" fmla="*/ 140 w 478"/>
                <a:gd name="T3" fmla="*/ 430 h 430"/>
                <a:gd name="T4" fmla="*/ 478 w 478"/>
                <a:gd name="T5" fmla="*/ 125 h 430"/>
                <a:gd name="T6" fmla="*/ 478 w 478"/>
                <a:gd name="T7" fmla="*/ 0 h 430"/>
                <a:gd name="T8" fmla="*/ 0 w 478"/>
                <a:gd name="T9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430">
                  <a:moveTo>
                    <a:pt x="0" y="430"/>
                  </a:moveTo>
                  <a:lnTo>
                    <a:pt x="140" y="430"/>
                  </a:lnTo>
                  <a:lnTo>
                    <a:pt x="478" y="125"/>
                  </a:lnTo>
                  <a:lnTo>
                    <a:pt x="478" y="0"/>
                  </a:lnTo>
                  <a:lnTo>
                    <a:pt x="0" y="430"/>
                  </a:lnTo>
                  <a:close/>
                </a:path>
              </a:pathLst>
            </a:custGeom>
            <a:solidFill>
              <a:srgbClr val="F37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7646903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o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E67736-2CFF-411B-A9E2-8C6A8C18AE13}"/>
              </a:ext>
            </a:extLst>
          </p:cNvPr>
          <p:cNvSpPr/>
          <p:nvPr userDrawn="1"/>
        </p:nvSpPr>
        <p:spPr bwMode="gray">
          <a:xfrm>
            <a:off x="8217962" y="0"/>
            <a:ext cx="3974038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spcBef>
                <a:spcPts val="0"/>
              </a:spcBef>
              <a:spcAft>
                <a:spcPts val="600"/>
              </a:spcAft>
            </a:pPr>
            <a:endParaRPr lang="ru-RU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A1F0855-F439-4289-A4E8-7ECBEBD8AA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8106" y="1438275"/>
            <a:ext cx="3163475" cy="4881563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ru-RU" sz="28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r>
              <a:rPr lang="ru-RU" dirty="0"/>
              <a:t>Здесь может быть цитата, ключевой вывод слайда и другой контент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D387F2F-2329-4113-AE63-60B7CE9BC1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851" y="271463"/>
            <a:ext cx="7406963" cy="46166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9DD2F828-9251-44C9-A72F-77BA3D4FED70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60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60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F911C3-A507-4D5C-AA8B-484075EAD2D5}"/>
              </a:ext>
            </a:extLst>
          </p:cNvPr>
          <p:cNvGrpSpPr/>
          <p:nvPr userDrawn="1"/>
        </p:nvGrpSpPr>
        <p:grpSpPr>
          <a:xfrm>
            <a:off x="11480085" y="271463"/>
            <a:ext cx="262653" cy="352106"/>
            <a:chOff x="693246" y="360000"/>
            <a:chExt cx="406344" cy="544734"/>
          </a:xfrm>
          <a:solidFill>
            <a:srgbClr val="F05626"/>
          </a:solidFill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D265763D-B6A7-4E29-98E9-1289D73B4D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3246" y="360000"/>
              <a:ext cx="406344" cy="544734"/>
            </a:xfrm>
            <a:custGeom>
              <a:avLst/>
              <a:gdLst>
                <a:gd name="T0" fmla="*/ 535 w 3625"/>
                <a:gd name="T1" fmla="*/ 4303 h 4860"/>
                <a:gd name="T2" fmla="*/ 459 w 3625"/>
                <a:gd name="T3" fmla="*/ 4139 h 4860"/>
                <a:gd name="T4" fmla="*/ 435 w 3625"/>
                <a:gd name="T5" fmla="*/ 3604 h 4860"/>
                <a:gd name="T6" fmla="*/ 718 w 3625"/>
                <a:gd name="T7" fmla="*/ 3134 h 4860"/>
                <a:gd name="T8" fmla="*/ 3624 w 3625"/>
                <a:gd name="T9" fmla="*/ 518 h 4860"/>
                <a:gd name="T10" fmla="*/ 3624 w 3625"/>
                <a:gd name="T11" fmla="*/ 0 h 4860"/>
                <a:gd name="T12" fmla="*/ 461 w 3625"/>
                <a:gd name="T13" fmla="*/ 2848 h 4860"/>
                <a:gd name="T14" fmla="*/ 148 w 3625"/>
                <a:gd name="T15" fmla="*/ 3271 h 4860"/>
                <a:gd name="T16" fmla="*/ 36 w 3625"/>
                <a:gd name="T17" fmla="*/ 4016 h 4860"/>
                <a:gd name="T18" fmla="*/ 363 w 3625"/>
                <a:gd name="T19" fmla="*/ 4717 h 4860"/>
                <a:gd name="T20" fmla="*/ 363 w 3625"/>
                <a:gd name="T21" fmla="*/ 4717 h 4860"/>
                <a:gd name="T22" fmla="*/ 493 w 3625"/>
                <a:gd name="T23" fmla="*/ 4860 h 4860"/>
                <a:gd name="T24" fmla="*/ 3625 w 3625"/>
                <a:gd name="T25" fmla="*/ 2040 h 4860"/>
                <a:gd name="T26" fmla="*/ 3625 w 3625"/>
                <a:gd name="T27" fmla="*/ 1522 h 4860"/>
                <a:gd name="T28" fmla="*/ 535 w 3625"/>
                <a:gd name="T29" fmla="*/ 4303 h 4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25" h="4860">
                  <a:moveTo>
                    <a:pt x="535" y="4303"/>
                  </a:moveTo>
                  <a:cubicBezTo>
                    <a:pt x="505" y="4250"/>
                    <a:pt x="479" y="4195"/>
                    <a:pt x="459" y="4139"/>
                  </a:cubicBezTo>
                  <a:cubicBezTo>
                    <a:pt x="399" y="3966"/>
                    <a:pt x="392" y="3780"/>
                    <a:pt x="435" y="3604"/>
                  </a:cubicBezTo>
                  <a:cubicBezTo>
                    <a:pt x="479" y="3428"/>
                    <a:pt x="573" y="3264"/>
                    <a:pt x="718" y="3134"/>
                  </a:cubicBezTo>
                  <a:cubicBezTo>
                    <a:pt x="3624" y="518"/>
                    <a:pt x="3624" y="518"/>
                    <a:pt x="3624" y="518"/>
                  </a:cubicBezTo>
                  <a:cubicBezTo>
                    <a:pt x="3624" y="0"/>
                    <a:pt x="3624" y="0"/>
                    <a:pt x="3624" y="0"/>
                  </a:cubicBezTo>
                  <a:cubicBezTo>
                    <a:pt x="461" y="2848"/>
                    <a:pt x="461" y="2848"/>
                    <a:pt x="461" y="2848"/>
                  </a:cubicBezTo>
                  <a:cubicBezTo>
                    <a:pt x="326" y="2970"/>
                    <a:pt x="220" y="3115"/>
                    <a:pt x="148" y="3271"/>
                  </a:cubicBezTo>
                  <a:cubicBezTo>
                    <a:pt x="38" y="3505"/>
                    <a:pt x="0" y="3764"/>
                    <a:pt x="36" y="4016"/>
                  </a:cubicBezTo>
                  <a:cubicBezTo>
                    <a:pt x="71" y="4268"/>
                    <a:pt x="180" y="4514"/>
                    <a:pt x="363" y="4717"/>
                  </a:cubicBezTo>
                  <a:cubicBezTo>
                    <a:pt x="363" y="4717"/>
                    <a:pt x="363" y="4717"/>
                    <a:pt x="363" y="4717"/>
                  </a:cubicBezTo>
                  <a:cubicBezTo>
                    <a:pt x="493" y="4860"/>
                    <a:pt x="493" y="4860"/>
                    <a:pt x="493" y="4860"/>
                  </a:cubicBezTo>
                  <a:cubicBezTo>
                    <a:pt x="3625" y="2040"/>
                    <a:pt x="3625" y="2040"/>
                    <a:pt x="3625" y="2040"/>
                  </a:cubicBezTo>
                  <a:cubicBezTo>
                    <a:pt x="3625" y="1522"/>
                    <a:pt x="3625" y="1522"/>
                    <a:pt x="3625" y="1522"/>
                  </a:cubicBezTo>
                  <a:lnTo>
                    <a:pt x="535" y="4303"/>
                  </a:lnTo>
                  <a:close/>
                </a:path>
              </a:pathLst>
            </a:custGeom>
            <a:solidFill>
              <a:srgbClr val="F37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AD8CD8FC-6344-4853-86E2-AF449FC76A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6681" y="705045"/>
              <a:ext cx="221980" cy="199689"/>
            </a:xfrm>
            <a:custGeom>
              <a:avLst/>
              <a:gdLst>
                <a:gd name="T0" fmla="*/ 0 w 478"/>
                <a:gd name="T1" fmla="*/ 430 h 430"/>
                <a:gd name="T2" fmla="*/ 140 w 478"/>
                <a:gd name="T3" fmla="*/ 430 h 430"/>
                <a:gd name="T4" fmla="*/ 478 w 478"/>
                <a:gd name="T5" fmla="*/ 125 h 430"/>
                <a:gd name="T6" fmla="*/ 478 w 478"/>
                <a:gd name="T7" fmla="*/ 0 h 430"/>
                <a:gd name="T8" fmla="*/ 0 w 478"/>
                <a:gd name="T9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430">
                  <a:moveTo>
                    <a:pt x="0" y="430"/>
                  </a:moveTo>
                  <a:lnTo>
                    <a:pt x="140" y="430"/>
                  </a:lnTo>
                  <a:lnTo>
                    <a:pt x="478" y="125"/>
                  </a:lnTo>
                  <a:lnTo>
                    <a:pt x="478" y="0"/>
                  </a:lnTo>
                  <a:lnTo>
                    <a:pt x="0" y="430"/>
                  </a:lnTo>
                  <a:close/>
                </a:path>
              </a:pathLst>
            </a:custGeom>
            <a:solidFill>
              <a:srgbClr val="F37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520145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o 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E67736-2CFF-411B-A9E2-8C6A8C18AE13}"/>
              </a:ext>
            </a:extLst>
          </p:cNvPr>
          <p:cNvSpPr/>
          <p:nvPr userDrawn="1"/>
        </p:nvSpPr>
        <p:spPr bwMode="gray"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0"/>
              </a:spcBef>
              <a:spcAft>
                <a:spcPts val="600"/>
              </a:spcAft>
            </a:pPr>
            <a:endParaRPr lang="ru-RU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A1F0855-F439-4289-A4E8-7ECBEBD8AA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146" y="1438275"/>
            <a:ext cx="5285435" cy="4881563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ru-RU" sz="28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r>
              <a:rPr lang="ru-RU" dirty="0"/>
              <a:t>Здесь может быть цитата, ключевой вывод слайда и другой контент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D387F2F-2329-4113-AE63-60B7CE9BC1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851" y="271463"/>
            <a:ext cx="5285003" cy="46166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9DD2F828-9251-44C9-A72F-77BA3D4FED70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60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60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56596C-068D-40E0-BBAF-8309FC92BB59}"/>
              </a:ext>
            </a:extLst>
          </p:cNvPr>
          <p:cNvGrpSpPr/>
          <p:nvPr userDrawn="1"/>
        </p:nvGrpSpPr>
        <p:grpSpPr>
          <a:xfrm>
            <a:off x="11480085" y="271463"/>
            <a:ext cx="262653" cy="352106"/>
            <a:chOff x="693246" y="360000"/>
            <a:chExt cx="406344" cy="544734"/>
          </a:xfrm>
          <a:solidFill>
            <a:srgbClr val="F05626"/>
          </a:solidFill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985BA1D9-F7BB-43C4-BBC0-C2DF484E2F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3246" y="360000"/>
              <a:ext cx="406344" cy="544734"/>
            </a:xfrm>
            <a:custGeom>
              <a:avLst/>
              <a:gdLst>
                <a:gd name="T0" fmla="*/ 535 w 3625"/>
                <a:gd name="T1" fmla="*/ 4303 h 4860"/>
                <a:gd name="T2" fmla="*/ 459 w 3625"/>
                <a:gd name="T3" fmla="*/ 4139 h 4860"/>
                <a:gd name="T4" fmla="*/ 435 w 3625"/>
                <a:gd name="T5" fmla="*/ 3604 h 4860"/>
                <a:gd name="T6" fmla="*/ 718 w 3625"/>
                <a:gd name="T7" fmla="*/ 3134 h 4860"/>
                <a:gd name="T8" fmla="*/ 3624 w 3625"/>
                <a:gd name="T9" fmla="*/ 518 h 4860"/>
                <a:gd name="T10" fmla="*/ 3624 w 3625"/>
                <a:gd name="T11" fmla="*/ 0 h 4860"/>
                <a:gd name="T12" fmla="*/ 461 w 3625"/>
                <a:gd name="T13" fmla="*/ 2848 h 4860"/>
                <a:gd name="T14" fmla="*/ 148 w 3625"/>
                <a:gd name="T15" fmla="*/ 3271 h 4860"/>
                <a:gd name="T16" fmla="*/ 36 w 3625"/>
                <a:gd name="T17" fmla="*/ 4016 h 4860"/>
                <a:gd name="T18" fmla="*/ 363 w 3625"/>
                <a:gd name="T19" fmla="*/ 4717 h 4860"/>
                <a:gd name="T20" fmla="*/ 363 w 3625"/>
                <a:gd name="T21" fmla="*/ 4717 h 4860"/>
                <a:gd name="T22" fmla="*/ 493 w 3625"/>
                <a:gd name="T23" fmla="*/ 4860 h 4860"/>
                <a:gd name="T24" fmla="*/ 3625 w 3625"/>
                <a:gd name="T25" fmla="*/ 2040 h 4860"/>
                <a:gd name="T26" fmla="*/ 3625 w 3625"/>
                <a:gd name="T27" fmla="*/ 1522 h 4860"/>
                <a:gd name="T28" fmla="*/ 535 w 3625"/>
                <a:gd name="T29" fmla="*/ 4303 h 4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25" h="4860">
                  <a:moveTo>
                    <a:pt x="535" y="4303"/>
                  </a:moveTo>
                  <a:cubicBezTo>
                    <a:pt x="505" y="4250"/>
                    <a:pt x="479" y="4195"/>
                    <a:pt x="459" y="4139"/>
                  </a:cubicBezTo>
                  <a:cubicBezTo>
                    <a:pt x="399" y="3966"/>
                    <a:pt x="392" y="3780"/>
                    <a:pt x="435" y="3604"/>
                  </a:cubicBezTo>
                  <a:cubicBezTo>
                    <a:pt x="479" y="3428"/>
                    <a:pt x="573" y="3264"/>
                    <a:pt x="718" y="3134"/>
                  </a:cubicBezTo>
                  <a:cubicBezTo>
                    <a:pt x="3624" y="518"/>
                    <a:pt x="3624" y="518"/>
                    <a:pt x="3624" y="518"/>
                  </a:cubicBezTo>
                  <a:cubicBezTo>
                    <a:pt x="3624" y="0"/>
                    <a:pt x="3624" y="0"/>
                    <a:pt x="3624" y="0"/>
                  </a:cubicBezTo>
                  <a:cubicBezTo>
                    <a:pt x="461" y="2848"/>
                    <a:pt x="461" y="2848"/>
                    <a:pt x="461" y="2848"/>
                  </a:cubicBezTo>
                  <a:cubicBezTo>
                    <a:pt x="326" y="2970"/>
                    <a:pt x="220" y="3115"/>
                    <a:pt x="148" y="3271"/>
                  </a:cubicBezTo>
                  <a:cubicBezTo>
                    <a:pt x="38" y="3505"/>
                    <a:pt x="0" y="3764"/>
                    <a:pt x="36" y="4016"/>
                  </a:cubicBezTo>
                  <a:cubicBezTo>
                    <a:pt x="71" y="4268"/>
                    <a:pt x="180" y="4514"/>
                    <a:pt x="363" y="4717"/>
                  </a:cubicBezTo>
                  <a:cubicBezTo>
                    <a:pt x="363" y="4717"/>
                    <a:pt x="363" y="4717"/>
                    <a:pt x="363" y="4717"/>
                  </a:cubicBezTo>
                  <a:cubicBezTo>
                    <a:pt x="493" y="4860"/>
                    <a:pt x="493" y="4860"/>
                    <a:pt x="493" y="4860"/>
                  </a:cubicBezTo>
                  <a:cubicBezTo>
                    <a:pt x="3625" y="2040"/>
                    <a:pt x="3625" y="2040"/>
                    <a:pt x="3625" y="2040"/>
                  </a:cubicBezTo>
                  <a:cubicBezTo>
                    <a:pt x="3625" y="1522"/>
                    <a:pt x="3625" y="1522"/>
                    <a:pt x="3625" y="1522"/>
                  </a:cubicBezTo>
                  <a:lnTo>
                    <a:pt x="535" y="4303"/>
                  </a:lnTo>
                  <a:close/>
                </a:path>
              </a:pathLst>
            </a:custGeom>
            <a:solidFill>
              <a:srgbClr val="F37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0E34178F-87FF-42C7-BB87-D5C8734035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6681" y="705045"/>
              <a:ext cx="221980" cy="199689"/>
            </a:xfrm>
            <a:custGeom>
              <a:avLst/>
              <a:gdLst>
                <a:gd name="T0" fmla="*/ 0 w 478"/>
                <a:gd name="T1" fmla="*/ 430 h 430"/>
                <a:gd name="T2" fmla="*/ 140 w 478"/>
                <a:gd name="T3" fmla="*/ 430 h 430"/>
                <a:gd name="T4" fmla="*/ 478 w 478"/>
                <a:gd name="T5" fmla="*/ 125 h 430"/>
                <a:gd name="T6" fmla="*/ 478 w 478"/>
                <a:gd name="T7" fmla="*/ 0 h 430"/>
                <a:gd name="T8" fmla="*/ 0 w 478"/>
                <a:gd name="T9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430">
                  <a:moveTo>
                    <a:pt x="0" y="430"/>
                  </a:moveTo>
                  <a:lnTo>
                    <a:pt x="140" y="430"/>
                  </a:lnTo>
                  <a:lnTo>
                    <a:pt x="478" y="125"/>
                  </a:lnTo>
                  <a:lnTo>
                    <a:pt x="478" y="0"/>
                  </a:lnTo>
                  <a:lnTo>
                    <a:pt x="0" y="430"/>
                  </a:lnTo>
                  <a:close/>
                </a:path>
              </a:pathLst>
            </a:custGeom>
            <a:solidFill>
              <a:srgbClr val="F37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3353940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o 1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E67736-2CFF-411B-A9E2-8C6A8C18AE13}"/>
              </a:ext>
            </a:extLst>
          </p:cNvPr>
          <p:cNvSpPr/>
          <p:nvPr userDrawn="1"/>
        </p:nvSpPr>
        <p:spPr bwMode="gray">
          <a:xfrm>
            <a:off x="11130786" y="0"/>
            <a:ext cx="106121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0"/>
              </a:spcBef>
              <a:spcAft>
                <a:spcPts val="600"/>
              </a:spcAft>
            </a:pPr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D387F2F-2329-4113-AE63-60B7CE9BC1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851" y="271463"/>
            <a:ext cx="10319789" cy="46166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9DD2F828-9251-44C9-A72F-77BA3D4FED70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60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60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6ADD67-B6F2-4EC0-8DCA-DD5B242F09A8}"/>
              </a:ext>
            </a:extLst>
          </p:cNvPr>
          <p:cNvGrpSpPr/>
          <p:nvPr userDrawn="1"/>
        </p:nvGrpSpPr>
        <p:grpSpPr>
          <a:xfrm>
            <a:off x="11480085" y="271463"/>
            <a:ext cx="262653" cy="352106"/>
            <a:chOff x="693246" y="360000"/>
            <a:chExt cx="406344" cy="544734"/>
          </a:xfrm>
          <a:solidFill>
            <a:srgbClr val="F05626"/>
          </a:solidFill>
        </p:grpSpPr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BC5AE4BB-C181-4A65-A323-8EA3DBB0D9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3246" y="360000"/>
              <a:ext cx="406344" cy="544734"/>
            </a:xfrm>
            <a:custGeom>
              <a:avLst/>
              <a:gdLst>
                <a:gd name="T0" fmla="*/ 535 w 3625"/>
                <a:gd name="T1" fmla="*/ 4303 h 4860"/>
                <a:gd name="T2" fmla="*/ 459 w 3625"/>
                <a:gd name="T3" fmla="*/ 4139 h 4860"/>
                <a:gd name="T4" fmla="*/ 435 w 3625"/>
                <a:gd name="T5" fmla="*/ 3604 h 4860"/>
                <a:gd name="T6" fmla="*/ 718 w 3625"/>
                <a:gd name="T7" fmla="*/ 3134 h 4860"/>
                <a:gd name="T8" fmla="*/ 3624 w 3625"/>
                <a:gd name="T9" fmla="*/ 518 h 4860"/>
                <a:gd name="T10" fmla="*/ 3624 w 3625"/>
                <a:gd name="T11" fmla="*/ 0 h 4860"/>
                <a:gd name="T12" fmla="*/ 461 w 3625"/>
                <a:gd name="T13" fmla="*/ 2848 h 4860"/>
                <a:gd name="T14" fmla="*/ 148 w 3625"/>
                <a:gd name="T15" fmla="*/ 3271 h 4860"/>
                <a:gd name="T16" fmla="*/ 36 w 3625"/>
                <a:gd name="T17" fmla="*/ 4016 h 4860"/>
                <a:gd name="T18" fmla="*/ 363 w 3625"/>
                <a:gd name="T19" fmla="*/ 4717 h 4860"/>
                <a:gd name="T20" fmla="*/ 363 w 3625"/>
                <a:gd name="T21" fmla="*/ 4717 h 4860"/>
                <a:gd name="T22" fmla="*/ 493 w 3625"/>
                <a:gd name="T23" fmla="*/ 4860 h 4860"/>
                <a:gd name="T24" fmla="*/ 3625 w 3625"/>
                <a:gd name="T25" fmla="*/ 2040 h 4860"/>
                <a:gd name="T26" fmla="*/ 3625 w 3625"/>
                <a:gd name="T27" fmla="*/ 1522 h 4860"/>
                <a:gd name="T28" fmla="*/ 535 w 3625"/>
                <a:gd name="T29" fmla="*/ 4303 h 4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25" h="4860">
                  <a:moveTo>
                    <a:pt x="535" y="4303"/>
                  </a:moveTo>
                  <a:cubicBezTo>
                    <a:pt x="505" y="4250"/>
                    <a:pt x="479" y="4195"/>
                    <a:pt x="459" y="4139"/>
                  </a:cubicBezTo>
                  <a:cubicBezTo>
                    <a:pt x="399" y="3966"/>
                    <a:pt x="392" y="3780"/>
                    <a:pt x="435" y="3604"/>
                  </a:cubicBezTo>
                  <a:cubicBezTo>
                    <a:pt x="479" y="3428"/>
                    <a:pt x="573" y="3264"/>
                    <a:pt x="718" y="3134"/>
                  </a:cubicBezTo>
                  <a:cubicBezTo>
                    <a:pt x="3624" y="518"/>
                    <a:pt x="3624" y="518"/>
                    <a:pt x="3624" y="518"/>
                  </a:cubicBezTo>
                  <a:cubicBezTo>
                    <a:pt x="3624" y="0"/>
                    <a:pt x="3624" y="0"/>
                    <a:pt x="3624" y="0"/>
                  </a:cubicBezTo>
                  <a:cubicBezTo>
                    <a:pt x="461" y="2848"/>
                    <a:pt x="461" y="2848"/>
                    <a:pt x="461" y="2848"/>
                  </a:cubicBezTo>
                  <a:cubicBezTo>
                    <a:pt x="326" y="2970"/>
                    <a:pt x="220" y="3115"/>
                    <a:pt x="148" y="3271"/>
                  </a:cubicBezTo>
                  <a:cubicBezTo>
                    <a:pt x="38" y="3505"/>
                    <a:pt x="0" y="3764"/>
                    <a:pt x="36" y="4016"/>
                  </a:cubicBezTo>
                  <a:cubicBezTo>
                    <a:pt x="71" y="4268"/>
                    <a:pt x="180" y="4514"/>
                    <a:pt x="363" y="4717"/>
                  </a:cubicBezTo>
                  <a:cubicBezTo>
                    <a:pt x="363" y="4717"/>
                    <a:pt x="363" y="4717"/>
                    <a:pt x="363" y="4717"/>
                  </a:cubicBezTo>
                  <a:cubicBezTo>
                    <a:pt x="493" y="4860"/>
                    <a:pt x="493" y="4860"/>
                    <a:pt x="493" y="4860"/>
                  </a:cubicBezTo>
                  <a:cubicBezTo>
                    <a:pt x="3625" y="2040"/>
                    <a:pt x="3625" y="2040"/>
                    <a:pt x="3625" y="2040"/>
                  </a:cubicBezTo>
                  <a:cubicBezTo>
                    <a:pt x="3625" y="1522"/>
                    <a:pt x="3625" y="1522"/>
                    <a:pt x="3625" y="1522"/>
                  </a:cubicBezTo>
                  <a:lnTo>
                    <a:pt x="535" y="4303"/>
                  </a:lnTo>
                  <a:close/>
                </a:path>
              </a:pathLst>
            </a:custGeom>
            <a:solidFill>
              <a:srgbClr val="F37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152F01E0-7A56-4799-9134-9499F29D8D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6681" y="705045"/>
              <a:ext cx="221980" cy="199689"/>
            </a:xfrm>
            <a:custGeom>
              <a:avLst/>
              <a:gdLst>
                <a:gd name="T0" fmla="*/ 0 w 478"/>
                <a:gd name="T1" fmla="*/ 430 h 430"/>
                <a:gd name="T2" fmla="*/ 140 w 478"/>
                <a:gd name="T3" fmla="*/ 430 h 430"/>
                <a:gd name="T4" fmla="*/ 478 w 478"/>
                <a:gd name="T5" fmla="*/ 125 h 430"/>
                <a:gd name="T6" fmla="*/ 478 w 478"/>
                <a:gd name="T7" fmla="*/ 0 h 430"/>
                <a:gd name="T8" fmla="*/ 0 w 478"/>
                <a:gd name="T9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430">
                  <a:moveTo>
                    <a:pt x="0" y="430"/>
                  </a:moveTo>
                  <a:lnTo>
                    <a:pt x="140" y="430"/>
                  </a:lnTo>
                  <a:lnTo>
                    <a:pt x="478" y="125"/>
                  </a:lnTo>
                  <a:lnTo>
                    <a:pt x="478" y="0"/>
                  </a:lnTo>
                  <a:lnTo>
                    <a:pt x="0" y="430"/>
                  </a:lnTo>
                  <a:close/>
                </a:path>
              </a:pathLst>
            </a:custGeom>
            <a:solidFill>
              <a:srgbClr val="F37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0748380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o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B022504-FD7A-4972-9F4D-66E2331E6B65}"/>
              </a:ext>
            </a:extLst>
          </p:cNvPr>
          <p:cNvSpPr/>
          <p:nvPr userDrawn="1"/>
        </p:nvSpPr>
        <p:spPr bwMode="gray">
          <a:xfrm>
            <a:off x="0" y="0"/>
            <a:ext cx="3974038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0"/>
              </a:spcBef>
              <a:spcAft>
                <a:spcPts val="600"/>
              </a:spcAft>
            </a:pPr>
            <a:endParaRPr lang="ru-RU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A1F0855-F439-4289-A4E8-7ECBEBD8AA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3768" y="271462"/>
            <a:ext cx="7407814" cy="923330"/>
          </a:xfrm>
          <a:prstGeom prst="rect">
            <a:avLst/>
          </a:prstGeom>
        </p:spPr>
        <p:txBody>
          <a:bodyPr wrap="square" lIns="0" tIns="0" rIns="39600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ru-RU" sz="30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r>
              <a:rPr lang="ru-RU" dirty="0"/>
              <a:t>Второй заголовок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D387F2F-2329-4113-AE63-60B7CE9BC1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852" y="271463"/>
            <a:ext cx="3163891" cy="92333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9DD2F828-9251-44C9-A72F-77BA3D4FED70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60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60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07B94F-E1D9-4751-8CB7-4591BA13DD63}"/>
              </a:ext>
            </a:extLst>
          </p:cNvPr>
          <p:cNvSpPr txBox="1">
            <a:spLocks/>
          </p:cNvSpPr>
          <p:nvPr userDrawn="1"/>
        </p:nvSpPr>
        <p:spPr>
          <a:xfrm>
            <a:off x="450850" y="6588000"/>
            <a:ext cx="2880000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b="1">
                <a:solidFill>
                  <a:schemeClr val="tx1"/>
                </a:solidFill>
              </a:rPr>
              <a:t>AXENIX </a:t>
            </a:r>
            <a:r>
              <a:rPr lang="ru-RU" dirty="0">
                <a:solidFill>
                  <a:schemeClr val="tx1"/>
                </a:solidFill>
              </a:rPr>
              <a:t>© ООО «АксТим»</a:t>
            </a:r>
          </a:p>
        </p:txBody>
      </p:sp>
    </p:spTree>
    <p:extLst>
      <p:ext uri="{BB962C8B-B14F-4D97-AF65-F5344CB8AC3E}">
        <p14:creationId xmlns:p14="http://schemas.microsoft.com/office/powerpoint/2010/main" val="18482200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848ED4-610A-4A7E-AC68-B643F3854C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23835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848ED4-610A-4A7E-AC68-B643F3854C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B022504-FD7A-4972-9F4D-66E2331E6B65}"/>
              </a:ext>
            </a:extLst>
          </p:cNvPr>
          <p:cNvSpPr/>
          <p:nvPr userDrawn="1"/>
        </p:nvSpPr>
        <p:spPr bwMode="gray">
          <a:xfrm>
            <a:off x="0" y="0"/>
            <a:ext cx="3974038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0"/>
              </a:spcBef>
              <a:spcAft>
                <a:spcPts val="600"/>
              </a:spcAft>
            </a:pPr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D387F2F-2329-4113-AE63-60B7CE9BC1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852" y="1438275"/>
            <a:ext cx="3163891" cy="923330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9DD2F828-9251-44C9-A72F-77BA3D4FED70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60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60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07B94F-E1D9-4751-8CB7-4591BA13DD63}"/>
              </a:ext>
            </a:extLst>
          </p:cNvPr>
          <p:cNvSpPr txBox="1">
            <a:spLocks/>
          </p:cNvSpPr>
          <p:nvPr userDrawn="1"/>
        </p:nvSpPr>
        <p:spPr>
          <a:xfrm>
            <a:off x="450850" y="6588000"/>
            <a:ext cx="2880000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b="1">
                <a:solidFill>
                  <a:schemeClr val="bg1"/>
                </a:solidFill>
              </a:rPr>
              <a:t>AXENIX </a:t>
            </a:r>
            <a:r>
              <a:rPr lang="ru-RU" dirty="0">
                <a:solidFill>
                  <a:schemeClr val="bg1"/>
                </a:solidFill>
              </a:rPr>
              <a:t>© ООО «АксТим»</a:t>
            </a:r>
          </a:p>
        </p:txBody>
      </p:sp>
    </p:spTree>
    <p:extLst>
      <p:ext uri="{BB962C8B-B14F-4D97-AF65-F5344CB8AC3E}">
        <p14:creationId xmlns:p14="http://schemas.microsoft.com/office/powerpoint/2010/main" val="15147547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plet 1-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38CDEAC-E309-4D28-8823-D7EEB2884CC6}"/>
              </a:ext>
            </a:extLst>
          </p:cNvPr>
          <p:cNvSpPr>
            <a:spLocks/>
          </p:cNvSpPr>
          <p:nvPr userDrawn="1"/>
        </p:nvSpPr>
        <p:spPr bwMode="gray">
          <a:xfrm>
            <a:off x="4154116" y="0"/>
            <a:ext cx="3883768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l">
              <a:spcBef>
                <a:spcPts val="0"/>
              </a:spcBef>
              <a:spcAft>
                <a:spcPts val="600"/>
              </a:spcAft>
            </a:pPr>
            <a:endParaRPr lang="ru-R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E67736-2CFF-411B-A9E2-8C6A8C18AE13}"/>
              </a:ext>
            </a:extLst>
          </p:cNvPr>
          <p:cNvSpPr/>
          <p:nvPr userDrawn="1"/>
        </p:nvSpPr>
        <p:spPr bwMode="gray">
          <a:xfrm>
            <a:off x="8038483" y="0"/>
            <a:ext cx="4153517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spcBef>
                <a:spcPts val="0"/>
              </a:spcBef>
              <a:spcAft>
                <a:spcPts val="600"/>
              </a:spcAft>
            </a:pPr>
            <a:endParaRPr lang="ru-RU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A1F0855-F439-4289-A4E8-7ECBEBD8AA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4443" y="271463"/>
            <a:ext cx="3342519" cy="923330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ru-RU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r>
              <a:rPr lang="ru-RU" dirty="0"/>
              <a:t>Второй заголовок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D387F2F-2329-4113-AE63-60B7CE9BC1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852" y="271463"/>
            <a:ext cx="3342519" cy="923330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Первый заголовок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8067E1E-5352-4A05-AFAC-51B8ECB9624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8398035" y="271463"/>
            <a:ext cx="3342519" cy="923330"/>
          </a:xfrm>
          <a:prstGeom prst="rect">
            <a:avLst/>
          </a:prstGeom>
        </p:spPr>
        <p:txBody>
          <a:bodyPr wrap="square" lIns="0" tIns="0" rIns="39600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ru-RU" sz="30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r>
              <a:rPr lang="ru-RU" dirty="0"/>
              <a:t>Третий заголовок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9DD2F828-9251-44C9-A72F-77BA3D4FED70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60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60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2AF837-054D-4313-B692-0F2567464CAC}"/>
              </a:ext>
            </a:extLst>
          </p:cNvPr>
          <p:cNvGrpSpPr/>
          <p:nvPr userDrawn="1"/>
        </p:nvGrpSpPr>
        <p:grpSpPr>
          <a:xfrm>
            <a:off x="11480085" y="271463"/>
            <a:ext cx="262653" cy="352106"/>
            <a:chOff x="693246" y="360000"/>
            <a:chExt cx="406344" cy="544734"/>
          </a:xfrm>
          <a:solidFill>
            <a:srgbClr val="FFFFFF"/>
          </a:solidFill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BB6721B2-0588-4266-A672-C2141CF373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3246" y="360000"/>
              <a:ext cx="406344" cy="544734"/>
            </a:xfrm>
            <a:custGeom>
              <a:avLst/>
              <a:gdLst>
                <a:gd name="T0" fmla="*/ 535 w 3625"/>
                <a:gd name="T1" fmla="*/ 4303 h 4860"/>
                <a:gd name="T2" fmla="*/ 459 w 3625"/>
                <a:gd name="T3" fmla="*/ 4139 h 4860"/>
                <a:gd name="T4" fmla="*/ 435 w 3625"/>
                <a:gd name="T5" fmla="*/ 3604 h 4860"/>
                <a:gd name="T6" fmla="*/ 718 w 3625"/>
                <a:gd name="T7" fmla="*/ 3134 h 4860"/>
                <a:gd name="T8" fmla="*/ 3624 w 3625"/>
                <a:gd name="T9" fmla="*/ 518 h 4860"/>
                <a:gd name="T10" fmla="*/ 3624 w 3625"/>
                <a:gd name="T11" fmla="*/ 0 h 4860"/>
                <a:gd name="T12" fmla="*/ 461 w 3625"/>
                <a:gd name="T13" fmla="*/ 2848 h 4860"/>
                <a:gd name="T14" fmla="*/ 148 w 3625"/>
                <a:gd name="T15" fmla="*/ 3271 h 4860"/>
                <a:gd name="T16" fmla="*/ 36 w 3625"/>
                <a:gd name="T17" fmla="*/ 4016 h 4860"/>
                <a:gd name="T18" fmla="*/ 363 w 3625"/>
                <a:gd name="T19" fmla="*/ 4717 h 4860"/>
                <a:gd name="T20" fmla="*/ 363 w 3625"/>
                <a:gd name="T21" fmla="*/ 4717 h 4860"/>
                <a:gd name="T22" fmla="*/ 493 w 3625"/>
                <a:gd name="T23" fmla="*/ 4860 h 4860"/>
                <a:gd name="T24" fmla="*/ 3625 w 3625"/>
                <a:gd name="T25" fmla="*/ 2040 h 4860"/>
                <a:gd name="T26" fmla="*/ 3625 w 3625"/>
                <a:gd name="T27" fmla="*/ 1522 h 4860"/>
                <a:gd name="T28" fmla="*/ 535 w 3625"/>
                <a:gd name="T29" fmla="*/ 4303 h 4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25" h="4860">
                  <a:moveTo>
                    <a:pt x="535" y="4303"/>
                  </a:moveTo>
                  <a:cubicBezTo>
                    <a:pt x="505" y="4250"/>
                    <a:pt x="479" y="4195"/>
                    <a:pt x="459" y="4139"/>
                  </a:cubicBezTo>
                  <a:cubicBezTo>
                    <a:pt x="399" y="3966"/>
                    <a:pt x="392" y="3780"/>
                    <a:pt x="435" y="3604"/>
                  </a:cubicBezTo>
                  <a:cubicBezTo>
                    <a:pt x="479" y="3428"/>
                    <a:pt x="573" y="3264"/>
                    <a:pt x="718" y="3134"/>
                  </a:cubicBezTo>
                  <a:cubicBezTo>
                    <a:pt x="3624" y="518"/>
                    <a:pt x="3624" y="518"/>
                    <a:pt x="3624" y="518"/>
                  </a:cubicBezTo>
                  <a:cubicBezTo>
                    <a:pt x="3624" y="0"/>
                    <a:pt x="3624" y="0"/>
                    <a:pt x="3624" y="0"/>
                  </a:cubicBezTo>
                  <a:cubicBezTo>
                    <a:pt x="461" y="2848"/>
                    <a:pt x="461" y="2848"/>
                    <a:pt x="461" y="2848"/>
                  </a:cubicBezTo>
                  <a:cubicBezTo>
                    <a:pt x="326" y="2970"/>
                    <a:pt x="220" y="3115"/>
                    <a:pt x="148" y="3271"/>
                  </a:cubicBezTo>
                  <a:cubicBezTo>
                    <a:pt x="38" y="3505"/>
                    <a:pt x="0" y="3764"/>
                    <a:pt x="36" y="4016"/>
                  </a:cubicBezTo>
                  <a:cubicBezTo>
                    <a:pt x="71" y="4268"/>
                    <a:pt x="180" y="4514"/>
                    <a:pt x="363" y="4717"/>
                  </a:cubicBezTo>
                  <a:cubicBezTo>
                    <a:pt x="363" y="4717"/>
                    <a:pt x="363" y="4717"/>
                    <a:pt x="363" y="4717"/>
                  </a:cubicBezTo>
                  <a:cubicBezTo>
                    <a:pt x="493" y="4860"/>
                    <a:pt x="493" y="4860"/>
                    <a:pt x="493" y="4860"/>
                  </a:cubicBezTo>
                  <a:cubicBezTo>
                    <a:pt x="3625" y="2040"/>
                    <a:pt x="3625" y="2040"/>
                    <a:pt x="3625" y="2040"/>
                  </a:cubicBezTo>
                  <a:cubicBezTo>
                    <a:pt x="3625" y="1522"/>
                    <a:pt x="3625" y="1522"/>
                    <a:pt x="3625" y="1522"/>
                  </a:cubicBezTo>
                  <a:lnTo>
                    <a:pt x="535" y="4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1EC2DD7F-BB3B-4446-8291-68B841F24F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6681" y="705045"/>
              <a:ext cx="221980" cy="199689"/>
            </a:xfrm>
            <a:custGeom>
              <a:avLst/>
              <a:gdLst>
                <a:gd name="T0" fmla="*/ 0 w 478"/>
                <a:gd name="T1" fmla="*/ 430 h 430"/>
                <a:gd name="T2" fmla="*/ 140 w 478"/>
                <a:gd name="T3" fmla="*/ 430 h 430"/>
                <a:gd name="T4" fmla="*/ 478 w 478"/>
                <a:gd name="T5" fmla="*/ 125 h 430"/>
                <a:gd name="T6" fmla="*/ 478 w 478"/>
                <a:gd name="T7" fmla="*/ 0 h 430"/>
                <a:gd name="T8" fmla="*/ 0 w 478"/>
                <a:gd name="T9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430">
                  <a:moveTo>
                    <a:pt x="0" y="430"/>
                  </a:moveTo>
                  <a:lnTo>
                    <a:pt x="140" y="430"/>
                  </a:lnTo>
                  <a:lnTo>
                    <a:pt x="478" y="125"/>
                  </a:lnTo>
                  <a:lnTo>
                    <a:pt x="478" y="0"/>
                  </a:lnTo>
                  <a:lnTo>
                    <a:pt x="0" y="4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11832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5AB569-4196-43CD-AB65-2918804EFCB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ru-RU" b="1" kern="0" dirty="0">
              <a:solidFill>
                <a:prstClr val="white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5945F8-9D63-4867-90D4-12E61C883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851" y="271463"/>
            <a:ext cx="11290300" cy="6048375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8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Ключевое утверждение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F6C8233-AC56-4322-B649-0C9A6C4694D3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063867F-8C45-4D77-9044-63656BD8A0BC}"/>
              </a:ext>
            </a:extLst>
          </p:cNvPr>
          <p:cNvGrpSpPr/>
          <p:nvPr userDrawn="1"/>
        </p:nvGrpSpPr>
        <p:grpSpPr>
          <a:xfrm>
            <a:off x="11480085" y="271463"/>
            <a:ext cx="262653" cy="352106"/>
            <a:chOff x="693246" y="360000"/>
            <a:chExt cx="406344" cy="544734"/>
          </a:xfrm>
          <a:solidFill>
            <a:srgbClr val="F05626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ABF4FFE-E503-4ABA-A426-06244FFF7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3246" y="360000"/>
              <a:ext cx="406344" cy="544734"/>
            </a:xfrm>
            <a:custGeom>
              <a:avLst/>
              <a:gdLst>
                <a:gd name="T0" fmla="*/ 535 w 3625"/>
                <a:gd name="T1" fmla="*/ 4303 h 4860"/>
                <a:gd name="T2" fmla="*/ 459 w 3625"/>
                <a:gd name="T3" fmla="*/ 4139 h 4860"/>
                <a:gd name="T4" fmla="*/ 435 w 3625"/>
                <a:gd name="T5" fmla="*/ 3604 h 4860"/>
                <a:gd name="T6" fmla="*/ 718 w 3625"/>
                <a:gd name="T7" fmla="*/ 3134 h 4860"/>
                <a:gd name="T8" fmla="*/ 3624 w 3625"/>
                <a:gd name="T9" fmla="*/ 518 h 4860"/>
                <a:gd name="T10" fmla="*/ 3624 w 3625"/>
                <a:gd name="T11" fmla="*/ 0 h 4860"/>
                <a:gd name="T12" fmla="*/ 461 w 3625"/>
                <a:gd name="T13" fmla="*/ 2848 h 4860"/>
                <a:gd name="T14" fmla="*/ 148 w 3625"/>
                <a:gd name="T15" fmla="*/ 3271 h 4860"/>
                <a:gd name="T16" fmla="*/ 36 w 3625"/>
                <a:gd name="T17" fmla="*/ 4016 h 4860"/>
                <a:gd name="T18" fmla="*/ 363 w 3625"/>
                <a:gd name="T19" fmla="*/ 4717 h 4860"/>
                <a:gd name="T20" fmla="*/ 363 w 3625"/>
                <a:gd name="T21" fmla="*/ 4717 h 4860"/>
                <a:gd name="T22" fmla="*/ 493 w 3625"/>
                <a:gd name="T23" fmla="*/ 4860 h 4860"/>
                <a:gd name="T24" fmla="*/ 3625 w 3625"/>
                <a:gd name="T25" fmla="*/ 2040 h 4860"/>
                <a:gd name="T26" fmla="*/ 3625 w 3625"/>
                <a:gd name="T27" fmla="*/ 1522 h 4860"/>
                <a:gd name="T28" fmla="*/ 535 w 3625"/>
                <a:gd name="T29" fmla="*/ 4303 h 4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25" h="4860">
                  <a:moveTo>
                    <a:pt x="535" y="4303"/>
                  </a:moveTo>
                  <a:cubicBezTo>
                    <a:pt x="505" y="4250"/>
                    <a:pt x="479" y="4195"/>
                    <a:pt x="459" y="4139"/>
                  </a:cubicBezTo>
                  <a:cubicBezTo>
                    <a:pt x="399" y="3966"/>
                    <a:pt x="392" y="3780"/>
                    <a:pt x="435" y="3604"/>
                  </a:cubicBezTo>
                  <a:cubicBezTo>
                    <a:pt x="479" y="3428"/>
                    <a:pt x="573" y="3264"/>
                    <a:pt x="718" y="3134"/>
                  </a:cubicBezTo>
                  <a:cubicBezTo>
                    <a:pt x="3624" y="518"/>
                    <a:pt x="3624" y="518"/>
                    <a:pt x="3624" y="518"/>
                  </a:cubicBezTo>
                  <a:cubicBezTo>
                    <a:pt x="3624" y="0"/>
                    <a:pt x="3624" y="0"/>
                    <a:pt x="3624" y="0"/>
                  </a:cubicBezTo>
                  <a:cubicBezTo>
                    <a:pt x="461" y="2848"/>
                    <a:pt x="461" y="2848"/>
                    <a:pt x="461" y="2848"/>
                  </a:cubicBezTo>
                  <a:cubicBezTo>
                    <a:pt x="326" y="2970"/>
                    <a:pt x="220" y="3115"/>
                    <a:pt x="148" y="3271"/>
                  </a:cubicBezTo>
                  <a:cubicBezTo>
                    <a:pt x="38" y="3505"/>
                    <a:pt x="0" y="3764"/>
                    <a:pt x="36" y="4016"/>
                  </a:cubicBezTo>
                  <a:cubicBezTo>
                    <a:pt x="71" y="4268"/>
                    <a:pt x="180" y="4514"/>
                    <a:pt x="363" y="4717"/>
                  </a:cubicBezTo>
                  <a:cubicBezTo>
                    <a:pt x="363" y="4717"/>
                    <a:pt x="363" y="4717"/>
                    <a:pt x="363" y="4717"/>
                  </a:cubicBezTo>
                  <a:cubicBezTo>
                    <a:pt x="493" y="4860"/>
                    <a:pt x="493" y="4860"/>
                    <a:pt x="493" y="4860"/>
                  </a:cubicBezTo>
                  <a:cubicBezTo>
                    <a:pt x="3625" y="2040"/>
                    <a:pt x="3625" y="2040"/>
                    <a:pt x="3625" y="2040"/>
                  </a:cubicBezTo>
                  <a:cubicBezTo>
                    <a:pt x="3625" y="1522"/>
                    <a:pt x="3625" y="1522"/>
                    <a:pt x="3625" y="1522"/>
                  </a:cubicBezTo>
                  <a:lnTo>
                    <a:pt x="535" y="4303"/>
                  </a:lnTo>
                  <a:close/>
                </a:path>
              </a:pathLst>
            </a:custGeom>
            <a:solidFill>
              <a:srgbClr val="F37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B460D85-6DCB-4B07-91B8-FEB4B9FA6E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6681" y="705045"/>
              <a:ext cx="221980" cy="199689"/>
            </a:xfrm>
            <a:custGeom>
              <a:avLst/>
              <a:gdLst>
                <a:gd name="T0" fmla="*/ 0 w 478"/>
                <a:gd name="T1" fmla="*/ 430 h 430"/>
                <a:gd name="T2" fmla="*/ 140 w 478"/>
                <a:gd name="T3" fmla="*/ 430 h 430"/>
                <a:gd name="T4" fmla="*/ 478 w 478"/>
                <a:gd name="T5" fmla="*/ 125 h 430"/>
                <a:gd name="T6" fmla="*/ 478 w 478"/>
                <a:gd name="T7" fmla="*/ 0 h 430"/>
                <a:gd name="T8" fmla="*/ 0 w 478"/>
                <a:gd name="T9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430">
                  <a:moveTo>
                    <a:pt x="0" y="430"/>
                  </a:moveTo>
                  <a:lnTo>
                    <a:pt x="140" y="430"/>
                  </a:lnTo>
                  <a:lnTo>
                    <a:pt x="478" y="125"/>
                  </a:lnTo>
                  <a:lnTo>
                    <a:pt x="478" y="0"/>
                  </a:lnTo>
                  <a:lnTo>
                    <a:pt x="0" y="430"/>
                  </a:lnTo>
                  <a:close/>
                </a:path>
              </a:pathLst>
            </a:custGeom>
            <a:solidFill>
              <a:srgbClr val="F37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</p:grp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38FCF42-A699-4AF5-83C7-7332BD91A623}"/>
              </a:ext>
            </a:extLst>
          </p:cNvPr>
          <p:cNvSpPr txBox="1">
            <a:spLocks/>
          </p:cNvSpPr>
          <p:nvPr userDrawn="1"/>
        </p:nvSpPr>
        <p:spPr>
          <a:xfrm>
            <a:off x="450850" y="6588000"/>
            <a:ext cx="2880000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tx1"/>
                </a:solidFill>
              </a:rPr>
              <a:t>AXENIX </a:t>
            </a:r>
            <a:r>
              <a:rPr lang="ru-RU" dirty="0">
                <a:solidFill>
                  <a:schemeClr val="tx1"/>
                </a:solidFill>
              </a:rPr>
              <a:t>© ООО «АксТим»</a:t>
            </a:r>
          </a:p>
        </p:txBody>
      </p:sp>
    </p:spTree>
    <p:extLst>
      <p:ext uri="{BB962C8B-B14F-4D97-AF65-F5344CB8AC3E}">
        <p14:creationId xmlns:p14="http://schemas.microsoft.com/office/powerpoint/2010/main" val="16798551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C8069B-D841-475B-9013-376E887F5B46}"/>
              </a:ext>
            </a:extLst>
          </p:cNvPr>
          <p:cNvSpPr/>
          <p:nvPr userDrawn="1"/>
        </p:nvSpPr>
        <p:spPr>
          <a:xfrm>
            <a:off x="0" y="0"/>
            <a:ext cx="12192000" cy="649922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ru-RU" b="1" kern="0" dirty="0">
              <a:solidFill>
                <a:prstClr val="white"/>
              </a:solidFill>
            </a:endParaRP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107F159-08D9-4D9E-88B5-0F1CA669FB40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4966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hite">
    <p:bg>
      <p:bgPr>
        <a:gradFill>
          <a:gsLst>
            <a:gs pos="52000">
              <a:schemeClr val="bg1">
                <a:alpha val="30000"/>
              </a:schemeClr>
            </a:gs>
            <a:gs pos="0">
              <a:schemeClr val="bg1">
                <a:alpha val="0"/>
              </a:schemeClr>
            </a:gs>
            <a:gs pos="100000">
              <a:schemeClr val="bg1">
                <a:alpha val="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 5">
            <a:extLst>
              <a:ext uri="{FF2B5EF4-FFF2-40B4-BE49-F238E27FC236}">
                <a16:creationId xmlns:a16="http://schemas.microsoft.com/office/drawing/2014/main" id="{2A8A131B-379E-4299-A082-FB5CB1A6787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50851" y="876568"/>
            <a:ext cx="262382" cy="274921"/>
          </a:xfrm>
          <a:custGeom>
            <a:avLst/>
            <a:gdLst>
              <a:gd name="T0" fmla="*/ 1914 w 2342"/>
              <a:gd name="T1" fmla="*/ 297 h 2452"/>
              <a:gd name="T2" fmla="*/ 1714 w 2342"/>
              <a:gd name="T3" fmla="*/ 134 h 2452"/>
              <a:gd name="T4" fmla="*/ 1172 w 2342"/>
              <a:gd name="T5" fmla="*/ 0 h 2452"/>
              <a:gd name="T6" fmla="*/ 342 w 2342"/>
              <a:gd name="T7" fmla="*/ 349 h 2452"/>
              <a:gd name="T8" fmla="*/ 0 w 2342"/>
              <a:gd name="T9" fmla="*/ 1225 h 2452"/>
              <a:gd name="T10" fmla="*/ 343 w 2342"/>
              <a:gd name="T11" fmla="*/ 2103 h 2452"/>
              <a:gd name="T12" fmla="*/ 1173 w 2342"/>
              <a:gd name="T13" fmla="*/ 2452 h 2452"/>
              <a:gd name="T14" fmla="*/ 1715 w 2342"/>
              <a:gd name="T15" fmla="*/ 2318 h 2452"/>
              <a:gd name="T16" fmla="*/ 1915 w 2342"/>
              <a:gd name="T17" fmla="*/ 2154 h 2452"/>
              <a:gd name="T18" fmla="*/ 1915 w 2342"/>
              <a:gd name="T19" fmla="*/ 2386 h 2452"/>
              <a:gd name="T20" fmla="*/ 2342 w 2342"/>
              <a:gd name="T21" fmla="*/ 2386 h 2452"/>
              <a:gd name="T22" fmla="*/ 2342 w 2342"/>
              <a:gd name="T23" fmla="*/ 66 h 2452"/>
              <a:gd name="T24" fmla="*/ 1915 w 2342"/>
              <a:gd name="T25" fmla="*/ 66 h 2452"/>
              <a:gd name="T26" fmla="*/ 1914 w 2342"/>
              <a:gd name="T27" fmla="*/ 297 h 2452"/>
              <a:gd name="T28" fmla="*/ 1177 w 2342"/>
              <a:gd name="T29" fmla="*/ 2047 h 2452"/>
              <a:gd name="T30" fmla="*/ 644 w 2342"/>
              <a:gd name="T31" fmla="*/ 1813 h 2452"/>
              <a:gd name="T32" fmla="*/ 431 w 2342"/>
              <a:gd name="T33" fmla="*/ 1225 h 2452"/>
              <a:gd name="T34" fmla="*/ 644 w 2342"/>
              <a:gd name="T35" fmla="*/ 638 h 2452"/>
              <a:gd name="T36" fmla="*/ 1177 w 2342"/>
              <a:gd name="T37" fmla="*/ 404 h 2452"/>
              <a:gd name="T38" fmla="*/ 1731 w 2342"/>
              <a:gd name="T39" fmla="*/ 639 h 2452"/>
              <a:gd name="T40" fmla="*/ 1954 w 2342"/>
              <a:gd name="T41" fmla="*/ 1225 h 2452"/>
              <a:gd name="T42" fmla="*/ 1731 w 2342"/>
              <a:gd name="T43" fmla="*/ 1812 h 2452"/>
              <a:gd name="T44" fmla="*/ 1177 w 2342"/>
              <a:gd name="T45" fmla="*/ 2047 h 2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42" h="2452">
                <a:moveTo>
                  <a:pt x="1914" y="297"/>
                </a:moveTo>
                <a:cubicBezTo>
                  <a:pt x="1861" y="238"/>
                  <a:pt x="1795" y="181"/>
                  <a:pt x="1714" y="134"/>
                </a:cubicBezTo>
                <a:cubicBezTo>
                  <a:pt x="1577" y="54"/>
                  <a:pt x="1398" y="0"/>
                  <a:pt x="1172" y="0"/>
                </a:cubicBezTo>
                <a:cubicBezTo>
                  <a:pt x="848" y="0"/>
                  <a:pt x="554" y="130"/>
                  <a:pt x="342" y="349"/>
                </a:cubicBezTo>
                <a:cubicBezTo>
                  <a:pt x="130" y="567"/>
                  <a:pt x="0" y="874"/>
                  <a:pt x="0" y="1225"/>
                </a:cubicBezTo>
                <a:cubicBezTo>
                  <a:pt x="0" y="1577"/>
                  <a:pt x="130" y="1884"/>
                  <a:pt x="343" y="2103"/>
                </a:cubicBezTo>
                <a:cubicBezTo>
                  <a:pt x="555" y="2321"/>
                  <a:pt x="849" y="2452"/>
                  <a:pt x="1173" y="2452"/>
                </a:cubicBezTo>
                <a:cubicBezTo>
                  <a:pt x="1399" y="2452"/>
                  <a:pt x="1578" y="2398"/>
                  <a:pt x="1715" y="2318"/>
                </a:cubicBezTo>
                <a:cubicBezTo>
                  <a:pt x="1796" y="2270"/>
                  <a:pt x="1862" y="2214"/>
                  <a:pt x="1915" y="2154"/>
                </a:cubicBezTo>
                <a:cubicBezTo>
                  <a:pt x="1915" y="2386"/>
                  <a:pt x="1915" y="2386"/>
                  <a:pt x="1915" y="2386"/>
                </a:cubicBezTo>
                <a:cubicBezTo>
                  <a:pt x="2342" y="2386"/>
                  <a:pt x="2342" y="2386"/>
                  <a:pt x="2342" y="2386"/>
                </a:cubicBezTo>
                <a:cubicBezTo>
                  <a:pt x="2342" y="66"/>
                  <a:pt x="2342" y="66"/>
                  <a:pt x="2342" y="66"/>
                </a:cubicBezTo>
                <a:cubicBezTo>
                  <a:pt x="1915" y="66"/>
                  <a:pt x="1915" y="66"/>
                  <a:pt x="1915" y="66"/>
                </a:cubicBezTo>
                <a:cubicBezTo>
                  <a:pt x="1914" y="297"/>
                  <a:pt x="1914" y="297"/>
                  <a:pt x="1914" y="297"/>
                </a:cubicBezTo>
                <a:close/>
                <a:moveTo>
                  <a:pt x="1177" y="2047"/>
                </a:moveTo>
                <a:cubicBezTo>
                  <a:pt x="961" y="2047"/>
                  <a:pt x="776" y="1959"/>
                  <a:pt x="644" y="1813"/>
                </a:cubicBezTo>
                <a:cubicBezTo>
                  <a:pt x="511" y="1667"/>
                  <a:pt x="431" y="1462"/>
                  <a:pt x="431" y="1225"/>
                </a:cubicBezTo>
                <a:cubicBezTo>
                  <a:pt x="431" y="989"/>
                  <a:pt x="512" y="784"/>
                  <a:pt x="644" y="638"/>
                </a:cubicBezTo>
                <a:cubicBezTo>
                  <a:pt x="776" y="492"/>
                  <a:pt x="961" y="404"/>
                  <a:pt x="1177" y="404"/>
                </a:cubicBezTo>
                <a:cubicBezTo>
                  <a:pt x="1400" y="404"/>
                  <a:pt x="1593" y="492"/>
                  <a:pt x="1731" y="639"/>
                </a:cubicBezTo>
                <a:cubicBezTo>
                  <a:pt x="1870" y="784"/>
                  <a:pt x="1954" y="990"/>
                  <a:pt x="1954" y="1225"/>
                </a:cubicBezTo>
                <a:cubicBezTo>
                  <a:pt x="1954" y="1461"/>
                  <a:pt x="1870" y="1666"/>
                  <a:pt x="1731" y="1812"/>
                </a:cubicBezTo>
                <a:cubicBezTo>
                  <a:pt x="1593" y="1959"/>
                  <a:pt x="1400" y="2047"/>
                  <a:pt x="1177" y="2047"/>
                </a:cubicBezTo>
                <a:close/>
              </a:path>
            </a:pathLst>
          </a:custGeom>
          <a:solidFill>
            <a:srgbClr val="F370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45" name="Freeform 6">
            <a:extLst>
              <a:ext uri="{FF2B5EF4-FFF2-40B4-BE49-F238E27FC236}">
                <a16:creationId xmlns:a16="http://schemas.microsoft.com/office/drawing/2014/main" id="{CE6877F5-8E50-4C12-8F85-C23E5729491F}"/>
              </a:ext>
            </a:extLst>
          </p:cNvPr>
          <p:cNvSpPr>
            <a:spLocks/>
          </p:cNvSpPr>
          <p:nvPr userDrawn="1"/>
        </p:nvSpPr>
        <p:spPr bwMode="auto">
          <a:xfrm>
            <a:off x="766174" y="883998"/>
            <a:ext cx="251237" cy="260060"/>
          </a:xfrm>
          <a:custGeom>
            <a:avLst/>
            <a:gdLst>
              <a:gd name="T0" fmla="*/ 523 w 541"/>
              <a:gd name="T1" fmla="*/ 0 h 560"/>
              <a:gd name="T2" fmla="*/ 500 w 541"/>
              <a:gd name="T3" fmla="*/ 0 h 560"/>
              <a:gd name="T4" fmla="*/ 405 w 541"/>
              <a:gd name="T5" fmla="*/ 0 h 560"/>
              <a:gd name="T6" fmla="*/ 270 w 541"/>
              <a:gd name="T7" fmla="*/ 182 h 560"/>
              <a:gd name="T8" fmla="*/ 134 w 541"/>
              <a:gd name="T9" fmla="*/ 0 h 560"/>
              <a:gd name="T10" fmla="*/ 17 w 541"/>
              <a:gd name="T11" fmla="*/ 0 h 560"/>
              <a:gd name="T12" fmla="*/ 213 w 541"/>
              <a:gd name="T13" fmla="*/ 263 h 560"/>
              <a:gd name="T14" fmla="*/ 0 w 541"/>
              <a:gd name="T15" fmla="*/ 560 h 560"/>
              <a:gd name="T16" fmla="*/ 116 w 541"/>
              <a:gd name="T17" fmla="*/ 560 h 560"/>
              <a:gd name="T18" fmla="*/ 271 w 541"/>
              <a:gd name="T19" fmla="*/ 345 h 560"/>
              <a:gd name="T20" fmla="*/ 423 w 541"/>
              <a:gd name="T21" fmla="*/ 560 h 560"/>
              <a:gd name="T22" fmla="*/ 541 w 541"/>
              <a:gd name="T23" fmla="*/ 560 h 560"/>
              <a:gd name="T24" fmla="*/ 328 w 541"/>
              <a:gd name="T25" fmla="*/ 262 h 560"/>
              <a:gd name="T26" fmla="*/ 523 w 541"/>
              <a:gd name="T27" fmla="*/ 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1" h="560">
                <a:moveTo>
                  <a:pt x="523" y="0"/>
                </a:moveTo>
                <a:lnTo>
                  <a:pt x="500" y="0"/>
                </a:lnTo>
                <a:lnTo>
                  <a:pt x="405" y="0"/>
                </a:lnTo>
                <a:lnTo>
                  <a:pt x="270" y="182"/>
                </a:lnTo>
                <a:lnTo>
                  <a:pt x="134" y="0"/>
                </a:lnTo>
                <a:lnTo>
                  <a:pt x="17" y="0"/>
                </a:lnTo>
                <a:lnTo>
                  <a:pt x="213" y="263"/>
                </a:lnTo>
                <a:lnTo>
                  <a:pt x="0" y="560"/>
                </a:lnTo>
                <a:lnTo>
                  <a:pt x="116" y="560"/>
                </a:lnTo>
                <a:lnTo>
                  <a:pt x="271" y="345"/>
                </a:lnTo>
                <a:lnTo>
                  <a:pt x="423" y="560"/>
                </a:lnTo>
                <a:lnTo>
                  <a:pt x="541" y="560"/>
                </a:lnTo>
                <a:lnTo>
                  <a:pt x="328" y="262"/>
                </a:lnTo>
                <a:lnTo>
                  <a:pt x="523" y="0"/>
                </a:lnTo>
                <a:close/>
              </a:path>
            </a:pathLst>
          </a:custGeom>
          <a:solidFill>
            <a:srgbClr val="F370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46" name="Freeform 7">
            <a:extLst>
              <a:ext uri="{FF2B5EF4-FFF2-40B4-BE49-F238E27FC236}">
                <a16:creationId xmlns:a16="http://schemas.microsoft.com/office/drawing/2014/main" id="{544317A4-BDCF-4C96-BB80-549F5D96DCE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44345" y="876568"/>
            <a:ext cx="250772" cy="273992"/>
          </a:xfrm>
          <a:custGeom>
            <a:avLst/>
            <a:gdLst>
              <a:gd name="T0" fmla="*/ 1605 w 2235"/>
              <a:gd name="T1" fmla="*/ 92 h 2444"/>
              <a:gd name="T2" fmla="*/ 1165 w 2235"/>
              <a:gd name="T3" fmla="*/ 0 h 2444"/>
              <a:gd name="T4" fmla="*/ 333 w 2235"/>
              <a:gd name="T5" fmla="*/ 339 h 2444"/>
              <a:gd name="T6" fmla="*/ 1 w 2235"/>
              <a:gd name="T7" fmla="*/ 1236 h 2444"/>
              <a:gd name="T8" fmla="*/ 1 w 2235"/>
              <a:gd name="T9" fmla="*/ 1253 h 2444"/>
              <a:gd name="T10" fmla="*/ 328 w 2235"/>
              <a:gd name="T11" fmla="*/ 2119 h 2444"/>
              <a:gd name="T12" fmla="*/ 1174 w 2235"/>
              <a:gd name="T13" fmla="*/ 2444 h 2444"/>
              <a:gd name="T14" fmla="*/ 1658 w 2235"/>
              <a:gd name="T15" fmla="*/ 2360 h 2444"/>
              <a:gd name="T16" fmla="*/ 2109 w 2235"/>
              <a:gd name="T17" fmla="*/ 2036 h 2444"/>
              <a:gd name="T18" fmla="*/ 2140 w 2235"/>
              <a:gd name="T19" fmla="*/ 2001 h 2444"/>
              <a:gd name="T20" fmla="*/ 1851 w 2235"/>
              <a:gd name="T21" fmla="*/ 1719 h 2444"/>
              <a:gd name="T22" fmla="*/ 1817 w 2235"/>
              <a:gd name="T23" fmla="*/ 1754 h 2444"/>
              <a:gd name="T24" fmla="*/ 1540 w 2235"/>
              <a:gd name="T25" fmla="*/ 1972 h 2444"/>
              <a:gd name="T26" fmla="*/ 1172 w 2235"/>
              <a:gd name="T27" fmla="*/ 2048 h 2444"/>
              <a:gd name="T28" fmla="*/ 871 w 2235"/>
              <a:gd name="T29" fmla="*/ 1995 h 2444"/>
              <a:gd name="T30" fmla="*/ 558 w 2235"/>
              <a:gd name="T31" fmla="*/ 1738 h 2444"/>
              <a:gd name="T32" fmla="*/ 434 w 2235"/>
              <a:gd name="T33" fmla="*/ 1345 h 2444"/>
              <a:gd name="T34" fmla="*/ 2228 w 2235"/>
              <a:gd name="T35" fmla="*/ 1345 h 2444"/>
              <a:gd name="T36" fmla="*/ 2230 w 2235"/>
              <a:gd name="T37" fmla="*/ 1300 h 2444"/>
              <a:gd name="T38" fmla="*/ 2235 w 2235"/>
              <a:gd name="T39" fmla="*/ 1156 h 2444"/>
              <a:gd name="T40" fmla="*/ 1943 w 2235"/>
              <a:gd name="T41" fmla="*/ 341 h 2444"/>
              <a:gd name="T42" fmla="*/ 1605 w 2235"/>
              <a:gd name="T43" fmla="*/ 92 h 2444"/>
              <a:gd name="T44" fmla="*/ 673 w 2235"/>
              <a:gd name="T45" fmla="*/ 585 h 2444"/>
              <a:gd name="T46" fmla="*/ 1165 w 2235"/>
              <a:gd name="T47" fmla="*/ 406 h 2444"/>
              <a:gd name="T48" fmla="*/ 1606 w 2235"/>
              <a:gd name="T49" fmla="*/ 585 h 2444"/>
              <a:gd name="T50" fmla="*/ 1786 w 2235"/>
              <a:gd name="T51" fmla="*/ 964 h 2444"/>
              <a:gd name="T52" fmla="*/ 459 w 2235"/>
              <a:gd name="T53" fmla="*/ 964 h 2444"/>
              <a:gd name="T54" fmla="*/ 673 w 2235"/>
              <a:gd name="T55" fmla="*/ 585 h 2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235" h="2444">
                <a:moveTo>
                  <a:pt x="1605" y="92"/>
                </a:moveTo>
                <a:cubicBezTo>
                  <a:pt x="1474" y="33"/>
                  <a:pt x="1325" y="0"/>
                  <a:pt x="1165" y="0"/>
                </a:cubicBezTo>
                <a:cubicBezTo>
                  <a:pt x="834" y="0"/>
                  <a:pt x="540" y="122"/>
                  <a:pt x="333" y="339"/>
                </a:cubicBezTo>
                <a:cubicBezTo>
                  <a:pt x="124" y="556"/>
                  <a:pt x="0" y="865"/>
                  <a:pt x="1" y="1236"/>
                </a:cubicBezTo>
                <a:cubicBezTo>
                  <a:pt x="1" y="1253"/>
                  <a:pt x="1" y="1253"/>
                  <a:pt x="1" y="1253"/>
                </a:cubicBezTo>
                <a:cubicBezTo>
                  <a:pt x="1" y="1610"/>
                  <a:pt x="120" y="1909"/>
                  <a:pt x="328" y="2119"/>
                </a:cubicBezTo>
                <a:cubicBezTo>
                  <a:pt x="536" y="2328"/>
                  <a:pt x="831" y="2444"/>
                  <a:pt x="1174" y="2444"/>
                </a:cubicBezTo>
                <a:cubicBezTo>
                  <a:pt x="1339" y="2444"/>
                  <a:pt x="1502" y="2423"/>
                  <a:pt x="1658" y="2360"/>
                </a:cubicBezTo>
                <a:cubicBezTo>
                  <a:pt x="1815" y="2298"/>
                  <a:pt x="1966" y="2195"/>
                  <a:pt x="2109" y="2036"/>
                </a:cubicBezTo>
                <a:cubicBezTo>
                  <a:pt x="2140" y="2001"/>
                  <a:pt x="2140" y="2001"/>
                  <a:pt x="2140" y="2001"/>
                </a:cubicBezTo>
                <a:cubicBezTo>
                  <a:pt x="1851" y="1719"/>
                  <a:pt x="1851" y="1719"/>
                  <a:pt x="1851" y="1719"/>
                </a:cubicBezTo>
                <a:cubicBezTo>
                  <a:pt x="1817" y="1754"/>
                  <a:pt x="1817" y="1754"/>
                  <a:pt x="1817" y="1754"/>
                </a:cubicBezTo>
                <a:cubicBezTo>
                  <a:pt x="1727" y="1849"/>
                  <a:pt x="1640" y="1922"/>
                  <a:pt x="1540" y="1972"/>
                </a:cubicBezTo>
                <a:cubicBezTo>
                  <a:pt x="1441" y="2021"/>
                  <a:pt x="1325" y="2048"/>
                  <a:pt x="1172" y="2048"/>
                </a:cubicBezTo>
                <a:cubicBezTo>
                  <a:pt x="1061" y="2048"/>
                  <a:pt x="960" y="2030"/>
                  <a:pt x="871" y="1995"/>
                </a:cubicBezTo>
                <a:cubicBezTo>
                  <a:pt x="739" y="1943"/>
                  <a:pt x="632" y="1856"/>
                  <a:pt x="558" y="1738"/>
                </a:cubicBezTo>
                <a:cubicBezTo>
                  <a:pt x="489" y="1631"/>
                  <a:pt x="447" y="1499"/>
                  <a:pt x="434" y="1345"/>
                </a:cubicBezTo>
                <a:cubicBezTo>
                  <a:pt x="2228" y="1345"/>
                  <a:pt x="2228" y="1345"/>
                  <a:pt x="2228" y="1345"/>
                </a:cubicBezTo>
                <a:cubicBezTo>
                  <a:pt x="2230" y="1300"/>
                  <a:pt x="2230" y="1300"/>
                  <a:pt x="2230" y="1300"/>
                </a:cubicBezTo>
                <a:cubicBezTo>
                  <a:pt x="2235" y="1232"/>
                  <a:pt x="2235" y="1156"/>
                  <a:pt x="2235" y="1156"/>
                </a:cubicBezTo>
                <a:cubicBezTo>
                  <a:pt x="2235" y="839"/>
                  <a:pt x="2130" y="551"/>
                  <a:pt x="1943" y="341"/>
                </a:cubicBezTo>
                <a:cubicBezTo>
                  <a:pt x="1850" y="236"/>
                  <a:pt x="1736" y="151"/>
                  <a:pt x="1605" y="92"/>
                </a:cubicBezTo>
                <a:close/>
                <a:moveTo>
                  <a:pt x="673" y="585"/>
                </a:moveTo>
                <a:cubicBezTo>
                  <a:pt x="800" y="475"/>
                  <a:pt x="974" y="406"/>
                  <a:pt x="1165" y="406"/>
                </a:cubicBezTo>
                <a:cubicBezTo>
                  <a:pt x="1337" y="406"/>
                  <a:pt x="1492" y="475"/>
                  <a:pt x="1606" y="585"/>
                </a:cubicBezTo>
                <a:cubicBezTo>
                  <a:pt x="1707" y="685"/>
                  <a:pt x="1774" y="817"/>
                  <a:pt x="1786" y="964"/>
                </a:cubicBezTo>
                <a:cubicBezTo>
                  <a:pt x="459" y="964"/>
                  <a:pt x="459" y="964"/>
                  <a:pt x="459" y="964"/>
                </a:cubicBezTo>
                <a:cubicBezTo>
                  <a:pt x="481" y="816"/>
                  <a:pt x="559" y="684"/>
                  <a:pt x="673" y="585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B0F7B544-FDEB-46B2-8C45-7B7A6497D06F}"/>
              </a:ext>
            </a:extLst>
          </p:cNvPr>
          <p:cNvSpPr>
            <a:spLocks/>
          </p:cNvSpPr>
          <p:nvPr userDrawn="1"/>
        </p:nvSpPr>
        <p:spPr bwMode="auto">
          <a:xfrm>
            <a:off x="1357346" y="879819"/>
            <a:ext cx="220122" cy="264240"/>
          </a:xfrm>
          <a:custGeom>
            <a:avLst/>
            <a:gdLst>
              <a:gd name="T0" fmla="*/ 1608 w 1965"/>
              <a:gd name="T1" fmla="*/ 142 h 2354"/>
              <a:gd name="T2" fmla="*/ 1093 w 1965"/>
              <a:gd name="T3" fmla="*/ 0 h 2354"/>
              <a:gd name="T4" fmla="*/ 627 w 1965"/>
              <a:gd name="T5" fmla="*/ 122 h 2354"/>
              <a:gd name="T6" fmla="*/ 431 w 1965"/>
              <a:gd name="T7" fmla="*/ 293 h 2354"/>
              <a:gd name="T8" fmla="*/ 431 w 1965"/>
              <a:gd name="T9" fmla="*/ 35 h 2354"/>
              <a:gd name="T10" fmla="*/ 0 w 1965"/>
              <a:gd name="T11" fmla="*/ 35 h 2354"/>
              <a:gd name="T12" fmla="*/ 0 w 1965"/>
              <a:gd name="T13" fmla="*/ 2354 h 2354"/>
              <a:gd name="T14" fmla="*/ 431 w 1965"/>
              <a:gd name="T15" fmla="*/ 2354 h 2354"/>
              <a:gd name="T16" fmla="*/ 431 w 1965"/>
              <a:gd name="T17" fmla="*/ 979 h 2354"/>
              <a:gd name="T18" fmla="*/ 591 w 1965"/>
              <a:gd name="T19" fmla="*/ 562 h 2354"/>
              <a:gd name="T20" fmla="*/ 1009 w 1965"/>
              <a:gd name="T21" fmla="*/ 405 h 2354"/>
              <a:gd name="T22" fmla="*/ 1232 w 1965"/>
              <a:gd name="T23" fmla="*/ 443 h 2354"/>
              <a:gd name="T24" fmla="*/ 1456 w 1965"/>
              <a:gd name="T25" fmla="*/ 631 h 2354"/>
              <a:gd name="T26" fmla="*/ 1537 w 1965"/>
              <a:gd name="T27" fmla="*/ 956 h 2354"/>
              <a:gd name="T28" fmla="*/ 1537 w 1965"/>
              <a:gd name="T29" fmla="*/ 2354 h 2354"/>
              <a:gd name="T30" fmla="*/ 1965 w 1965"/>
              <a:gd name="T31" fmla="*/ 2354 h 2354"/>
              <a:gd name="T32" fmla="*/ 1965 w 1965"/>
              <a:gd name="T33" fmla="*/ 886 h 2354"/>
              <a:gd name="T34" fmla="*/ 1906 w 1965"/>
              <a:gd name="T35" fmla="*/ 528 h 2354"/>
              <a:gd name="T36" fmla="*/ 1608 w 1965"/>
              <a:gd name="T37" fmla="*/ 142 h 2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65" h="2354">
                <a:moveTo>
                  <a:pt x="1608" y="142"/>
                </a:moveTo>
                <a:cubicBezTo>
                  <a:pt x="1469" y="50"/>
                  <a:pt x="1295" y="0"/>
                  <a:pt x="1093" y="0"/>
                </a:cubicBezTo>
                <a:cubicBezTo>
                  <a:pt x="913" y="0"/>
                  <a:pt x="755" y="45"/>
                  <a:pt x="627" y="122"/>
                </a:cubicBezTo>
                <a:cubicBezTo>
                  <a:pt x="550" y="169"/>
                  <a:pt x="485" y="227"/>
                  <a:pt x="431" y="293"/>
                </a:cubicBezTo>
                <a:cubicBezTo>
                  <a:pt x="431" y="35"/>
                  <a:pt x="431" y="35"/>
                  <a:pt x="431" y="35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2354"/>
                  <a:pt x="0" y="2354"/>
                  <a:pt x="0" y="2354"/>
                </a:cubicBezTo>
                <a:cubicBezTo>
                  <a:pt x="431" y="2354"/>
                  <a:pt x="431" y="2354"/>
                  <a:pt x="431" y="2354"/>
                </a:cubicBezTo>
                <a:cubicBezTo>
                  <a:pt x="431" y="979"/>
                  <a:pt x="431" y="979"/>
                  <a:pt x="431" y="979"/>
                </a:cubicBezTo>
                <a:cubicBezTo>
                  <a:pt x="431" y="804"/>
                  <a:pt x="491" y="662"/>
                  <a:pt x="591" y="562"/>
                </a:cubicBezTo>
                <a:cubicBezTo>
                  <a:pt x="691" y="463"/>
                  <a:pt x="834" y="405"/>
                  <a:pt x="1009" y="405"/>
                </a:cubicBezTo>
                <a:cubicBezTo>
                  <a:pt x="1093" y="405"/>
                  <a:pt x="1168" y="419"/>
                  <a:pt x="1232" y="443"/>
                </a:cubicBezTo>
                <a:cubicBezTo>
                  <a:pt x="1329" y="481"/>
                  <a:pt x="1405" y="545"/>
                  <a:pt x="1456" y="631"/>
                </a:cubicBezTo>
                <a:cubicBezTo>
                  <a:pt x="1509" y="717"/>
                  <a:pt x="1537" y="826"/>
                  <a:pt x="1537" y="956"/>
                </a:cubicBezTo>
                <a:cubicBezTo>
                  <a:pt x="1537" y="2354"/>
                  <a:pt x="1537" y="2354"/>
                  <a:pt x="1537" y="2354"/>
                </a:cubicBezTo>
                <a:cubicBezTo>
                  <a:pt x="1965" y="2354"/>
                  <a:pt x="1965" y="2354"/>
                  <a:pt x="1965" y="2354"/>
                </a:cubicBezTo>
                <a:cubicBezTo>
                  <a:pt x="1965" y="886"/>
                  <a:pt x="1965" y="886"/>
                  <a:pt x="1965" y="886"/>
                </a:cubicBezTo>
                <a:cubicBezTo>
                  <a:pt x="1965" y="757"/>
                  <a:pt x="1944" y="636"/>
                  <a:pt x="1906" y="528"/>
                </a:cubicBezTo>
                <a:cubicBezTo>
                  <a:pt x="1848" y="367"/>
                  <a:pt x="1746" y="233"/>
                  <a:pt x="1608" y="14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48" name="Freeform 9">
            <a:extLst>
              <a:ext uri="{FF2B5EF4-FFF2-40B4-BE49-F238E27FC236}">
                <a16:creationId xmlns:a16="http://schemas.microsoft.com/office/drawing/2014/main" id="{66269EB8-9283-48F9-8794-D370FF445A26}"/>
              </a:ext>
            </a:extLst>
          </p:cNvPr>
          <p:cNvSpPr>
            <a:spLocks/>
          </p:cNvSpPr>
          <p:nvPr userDrawn="1"/>
        </p:nvSpPr>
        <p:spPr bwMode="auto">
          <a:xfrm>
            <a:off x="1649914" y="883998"/>
            <a:ext cx="48297" cy="260060"/>
          </a:xfrm>
          <a:custGeom>
            <a:avLst/>
            <a:gdLst>
              <a:gd name="T0" fmla="*/ 0 w 104"/>
              <a:gd name="T1" fmla="*/ 560 h 560"/>
              <a:gd name="T2" fmla="*/ 11 w 104"/>
              <a:gd name="T3" fmla="*/ 560 h 560"/>
              <a:gd name="T4" fmla="*/ 104 w 104"/>
              <a:gd name="T5" fmla="*/ 560 h 560"/>
              <a:gd name="T6" fmla="*/ 104 w 104"/>
              <a:gd name="T7" fmla="*/ 0 h 560"/>
              <a:gd name="T8" fmla="*/ 0 w 104"/>
              <a:gd name="T9" fmla="*/ 0 h 560"/>
              <a:gd name="T10" fmla="*/ 0 w 104"/>
              <a:gd name="T11" fmla="*/ 56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4" h="560">
                <a:moveTo>
                  <a:pt x="0" y="560"/>
                </a:moveTo>
                <a:lnTo>
                  <a:pt x="11" y="560"/>
                </a:lnTo>
                <a:lnTo>
                  <a:pt x="104" y="560"/>
                </a:lnTo>
                <a:lnTo>
                  <a:pt x="104" y="0"/>
                </a:lnTo>
                <a:lnTo>
                  <a:pt x="0" y="0"/>
                </a:lnTo>
                <a:lnTo>
                  <a:pt x="0" y="56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49" name="Freeform 10">
            <a:extLst>
              <a:ext uri="{FF2B5EF4-FFF2-40B4-BE49-F238E27FC236}">
                <a16:creationId xmlns:a16="http://schemas.microsoft.com/office/drawing/2014/main" id="{72504E86-77F6-40AB-839D-6AE196C88220}"/>
              </a:ext>
            </a:extLst>
          </p:cNvPr>
          <p:cNvSpPr>
            <a:spLocks/>
          </p:cNvSpPr>
          <p:nvPr userDrawn="1"/>
        </p:nvSpPr>
        <p:spPr bwMode="auto">
          <a:xfrm>
            <a:off x="1751616" y="883998"/>
            <a:ext cx="251237" cy="260060"/>
          </a:xfrm>
          <a:custGeom>
            <a:avLst/>
            <a:gdLst>
              <a:gd name="T0" fmla="*/ 328 w 541"/>
              <a:gd name="T1" fmla="*/ 262 h 560"/>
              <a:gd name="T2" fmla="*/ 523 w 541"/>
              <a:gd name="T3" fmla="*/ 0 h 560"/>
              <a:gd name="T4" fmla="*/ 405 w 541"/>
              <a:gd name="T5" fmla="*/ 0 h 560"/>
              <a:gd name="T6" fmla="*/ 270 w 541"/>
              <a:gd name="T7" fmla="*/ 182 h 560"/>
              <a:gd name="T8" fmla="*/ 134 w 541"/>
              <a:gd name="T9" fmla="*/ 0 h 560"/>
              <a:gd name="T10" fmla="*/ 17 w 541"/>
              <a:gd name="T11" fmla="*/ 0 h 560"/>
              <a:gd name="T12" fmla="*/ 213 w 541"/>
              <a:gd name="T13" fmla="*/ 263 h 560"/>
              <a:gd name="T14" fmla="*/ 0 w 541"/>
              <a:gd name="T15" fmla="*/ 560 h 560"/>
              <a:gd name="T16" fmla="*/ 116 w 541"/>
              <a:gd name="T17" fmla="*/ 560 h 560"/>
              <a:gd name="T18" fmla="*/ 271 w 541"/>
              <a:gd name="T19" fmla="*/ 345 h 560"/>
              <a:gd name="T20" fmla="*/ 424 w 541"/>
              <a:gd name="T21" fmla="*/ 560 h 560"/>
              <a:gd name="T22" fmla="*/ 541 w 541"/>
              <a:gd name="T23" fmla="*/ 560 h 560"/>
              <a:gd name="T24" fmla="*/ 328 w 541"/>
              <a:gd name="T25" fmla="*/ 262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1" h="560">
                <a:moveTo>
                  <a:pt x="328" y="262"/>
                </a:moveTo>
                <a:lnTo>
                  <a:pt x="523" y="0"/>
                </a:lnTo>
                <a:lnTo>
                  <a:pt x="405" y="0"/>
                </a:lnTo>
                <a:lnTo>
                  <a:pt x="270" y="182"/>
                </a:lnTo>
                <a:lnTo>
                  <a:pt x="134" y="0"/>
                </a:lnTo>
                <a:lnTo>
                  <a:pt x="17" y="0"/>
                </a:lnTo>
                <a:lnTo>
                  <a:pt x="213" y="263"/>
                </a:lnTo>
                <a:lnTo>
                  <a:pt x="0" y="560"/>
                </a:lnTo>
                <a:lnTo>
                  <a:pt x="116" y="560"/>
                </a:lnTo>
                <a:lnTo>
                  <a:pt x="271" y="345"/>
                </a:lnTo>
                <a:lnTo>
                  <a:pt x="424" y="560"/>
                </a:lnTo>
                <a:lnTo>
                  <a:pt x="541" y="560"/>
                </a:lnTo>
                <a:lnTo>
                  <a:pt x="328" y="26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50" name="Freeform 11">
            <a:extLst>
              <a:ext uri="{FF2B5EF4-FFF2-40B4-BE49-F238E27FC236}">
                <a16:creationId xmlns:a16="http://schemas.microsoft.com/office/drawing/2014/main" id="{D11B9626-CEB0-4884-8120-1F8172970267}"/>
              </a:ext>
            </a:extLst>
          </p:cNvPr>
          <p:cNvSpPr>
            <a:spLocks/>
          </p:cNvSpPr>
          <p:nvPr userDrawn="1"/>
        </p:nvSpPr>
        <p:spPr bwMode="auto">
          <a:xfrm>
            <a:off x="604101" y="271463"/>
            <a:ext cx="406344" cy="544734"/>
          </a:xfrm>
          <a:custGeom>
            <a:avLst/>
            <a:gdLst>
              <a:gd name="T0" fmla="*/ 535 w 3625"/>
              <a:gd name="T1" fmla="*/ 4303 h 4860"/>
              <a:gd name="T2" fmla="*/ 459 w 3625"/>
              <a:gd name="T3" fmla="*/ 4139 h 4860"/>
              <a:gd name="T4" fmla="*/ 435 w 3625"/>
              <a:gd name="T5" fmla="*/ 3604 h 4860"/>
              <a:gd name="T6" fmla="*/ 718 w 3625"/>
              <a:gd name="T7" fmla="*/ 3134 h 4860"/>
              <a:gd name="T8" fmla="*/ 3624 w 3625"/>
              <a:gd name="T9" fmla="*/ 518 h 4860"/>
              <a:gd name="T10" fmla="*/ 3624 w 3625"/>
              <a:gd name="T11" fmla="*/ 0 h 4860"/>
              <a:gd name="T12" fmla="*/ 461 w 3625"/>
              <a:gd name="T13" fmla="*/ 2848 h 4860"/>
              <a:gd name="T14" fmla="*/ 148 w 3625"/>
              <a:gd name="T15" fmla="*/ 3271 h 4860"/>
              <a:gd name="T16" fmla="*/ 36 w 3625"/>
              <a:gd name="T17" fmla="*/ 4016 h 4860"/>
              <a:gd name="T18" fmla="*/ 363 w 3625"/>
              <a:gd name="T19" fmla="*/ 4717 h 4860"/>
              <a:gd name="T20" fmla="*/ 363 w 3625"/>
              <a:gd name="T21" fmla="*/ 4717 h 4860"/>
              <a:gd name="T22" fmla="*/ 493 w 3625"/>
              <a:gd name="T23" fmla="*/ 4860 h 4860"/>
              <a:gd name="T24" fmla="*/ 3625 w 3625"/>
              <a:gd name="T25" fmla="*/ 2040 h 4860"/>
              <a:gd name="T26" fmla="*/ 3625 w 3625"/>
              <a:gd name="T27" fmla="*/ 1522 h 4860"/>
              <a:gd name="T28" fmla="*/ 535 w 3625"/>
              <a:gd name="T29" fmla="*/ 4303 h 4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625" h="4860">
                <a:moveTo>
                  <a:pt x="535" y="4303"/>
                </a:moveTo>
                <a:cubicBezTo>
                  <a:pt x="505" y="4250"/>
                  <a:pt x="479" y="4195"/>
                  <a:pt x="459" y="4139"/>
                </a:cubicBezTo>
                <a:cubicBezTo>
                  <a:pt x="399" y="3966"/>
                  <a:pt x="392" y="3780"/>
                  <a:pt x="435" y="3604"/>
                </a:cubicBezTo>
                <a:cubicBezTo>
                  <a:pt x="479" y="3428"/>
                  <a:pt x="573" y="3264"/>
                  <a:pt x="718" y="3134"/>
                </a:cubicBezTo>
                <a:cubicBezTo>
                  <a:pt x="3624" y="518"/>
                  <a:pt x="3624" y="518"/>
                  <a:pt x="3624" y="518"/>
                </a:cubicBezTo>
                <a:cubicBezTo>
                  <a:pt x="3624" y="0"/>
                  <a:pt x="3624" y="0"/>
                  <a:pt x="3624" y="0"/>
                </a:cubicBezTo>
                <a:cubicBezTo>
                  <a:pt x="461" y="2848"/>
                  <a:pt x="461" y="2848"/>
                  <a:pt x="461" y="2848"/>
                </a:cubicBezTo>
                <a:cubicBezTo>
                  <a:pt x="326" y="2970"/>
                  <a:pt x="220" y="3115"/>
                  <a:pt x="148" y="3271"/>
                </a:cubicBezTo>
                <a:cubicBezTo>
                  <a:pt x="38" y="3505"/>
                  <a:pt x="0" y="3764"/>
                  <a:pt x="36" y="4016"/>
                </a:cubicBezTo>
                <a:cubicBezTo>
                  <a:pt x="71" y="4268"/>
                  <a:pt x="180" y="4514"/>
                  <a:pt x="363" y="4717"/>
                </a:cubicBezTo>
                <a:cubicBezTo>
                  <a:pt x="363" y="4717"/>
                  <a:pt x="363" y="4717"/>
                  <a:pt x="363" y="4717"/>
                </a:cubicBezTo>
                <a:cubicBezTo>
                  <a:pt x="493" y="4860"/>
                  <a:pt x="493" y="4860"/>
                  <a:pt x="493" y="4860"/>
                </a:cubicBezTo>
                <a:cubicBezTo>
                  <a:pt x="3625" y="2040"/>
                  <a:pt x="3625" y="2040"/>
                  <a:pt x="3625" y="2040"/>
                </a:cubicBezTo>
                <a:cubicBezTo>
                  <a:pt x="3625" y="1522"/>
                  <a:pt x="3625" y="1522"/>
                  <a:pt x="3625" y="1522"/>
                </a:cubicBezTo>
                <a:lnTo>
                  <a:pt x="535" y="4303"/>
                </a:lnTo>
                <a:close/>
              </a:path>
            </a:pathLst>
          </a:custGeom>
          <a:solidFill>
            <a:srgbClr val="F370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51" name="Freeform 12">
            <a:extLst>
              <a:ext uri="{FF2B5EF4-FFF2-40B4-BE49-F238E27FC236}">
                <a16:creationId xmlns:a16="http://schemas.microsoft.com/office/drawing/2014/main" id="{A8CFCB7C-7156-4ACF-A024-680F775C404C}"/>
              </a:ext>
            </a:extLst>
          </p:cNvPr>
          <p:cNvSpPr>
            <a:spLocks/>
          </p:cNvSpPr>
          <p:nvPr userDrawn="1"/>
        </p:nvSpPr>
        <p:spPr bwMode="auto">
          <a:xfrm>
            <a:off x="787536" y="616508"/>
            <a:ext cx="221980" cy="199689"/>
          </a:xfrm>
          <a:custGeom>
            <a:avLst/>
            <a:gdLst>
              <a:gd name="T0" fmla="*/ 0 w 478"/>
              <a:gd name="T1" fmla="*/ 430 h 430"/>
              <a:gd name="T2" fmla="*/ 140 w 478"/>
              <a:gd name="T3" fmla="*/ 430 h 430"/>
              <a:gd name="T4" fmla="*/ 478 w 478"/>
              <a:gd name="T5" fmla="*/ 125 h 430"/>
              <a:gd name="T6" fmla="*/ 478 w 478"/>
              <a:gd name="T7" fmla="*/ 0 h 430"/>
              <a:gd name="T8" fmla="*/ 0 w 478"/>
              <a:gd name="T9" fmla="*/ 430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8" h="430">
                <a:moveTo>
                  <a:pt x="0" y="430"/>
                </a:moveTo>
                <a:lnTo>
                  <a:pt x="140" y="430"/>
                </a:lnTo>
                <a:lnTo>
                  <a:pt x="478" y="125"/>
                </a:lnTo>
                <a:lnTo>
                  <a:pt x="478" y="0"/>
                </a:lnTo>
                <a:lnTo>
                  <a:pt x="0" y="430"/>
                </a:lnTo>
                <a:close/>
              </a:path>
            </a:pathLst>
          </a:custGeom>
          <a:solidFill>
            <a:srgbClr val="F370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F910E70E-7EF3-42D3-8EA5-2187DFED778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50851" y="2660733"/>
            <a:ext cx="6747108" cy="2901869"/>
          </a:xfrm>
          <a:prstGeom prst="rect">
            <a:avLst/>
          </a:prstGeom>
          <a:effectLst/>
        </p:spPr>
        <p:txBody>
          <a:bodyPr wrap="square" lIns="0" tIns="0" rIns="0" bIns="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500">
                <a:solidFill>
                  <a:schemeClr val="tx1"/>
                </a:solidFill>
                <a:effectLst/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2829075-C0A5-4F29-89A4-9244347885ED}"/>
              </a:ext>
            </a:extLst>
          </p:cNvPr>
          <p:cNvSpPr txBox="1">
            <a:spLocks/>
          </p:cNvSpPr>
          <p:nvPr userDrawn="1"/>
        </p:nvSpPr>
        <p:spPr>
          <a:xfrm>
            <a:off x="7439444" y="6104394"/>
            <a:ext cx="4303294" cy="21544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marL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ru-RU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Технологии. Стратегии. Консалтинг. Аутсорсинг.</a:t>
            </a:r>
          </a:p>
        </p:txBody>
      </p:sp>
      <p:sp>
        <p:nvSpPr>
          <p:cNvPr id="72" name="Text Placeholder 46">
            <a:extLst>
              <a:ext uri="{FF2B5EF4-FFF2-40B4-BE49-F238E27FC236}">
                <a16:creationId xmlns:a16="http://schemas.microsoft.com/office/drawing/2014/main" id="{57D7415A-1117-4EF2-B32F-7FA747E0C3ED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0851" y="6104394"/>
            <a:ext cx="6747108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400" b="1" dirty="0" smtClean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lang="en-US" sz="1800" dirty="0" smtClean="0"/>
            </a:lvl2pPr>
            <a:lvl3pPr marL="0" indent="0">
              <a:spcBef>
                <a:spcPts val="0"/>
              </a:spcBef>
              <a:buFontTx/>
              <a:buNone/>
              <a:defRPr lang="en-US" sz="1800" dirty="0" smtClean="0"/>
            </a:lvl3pPr>
            <a:lvl4pPr marL="0" indent="0">
              <a:spcBef>
                <a:spcPts val="0"/>
              </a:spcBef>
              <a:buFontTx/>
              <a:buNone/>
              <a:defRPr lang="en-US" sz="1800" dirty="0" smtClean="0"/>
            </a:lvl4pPr>
            <a:lvl5pPr marL="0" indent="0">
              <a:spcBef>
                <a:spcPts val="0"/>
              </a:spcBef>
              <a:buFontTx/>
              <a:buNone/>
              <a:defRPr lang="ru-RU" sz="1800" dirty="0"/>
            </a:lvl5pPr>
          </a:lstStyle>
          <a:p>
            <a:pPr lvl="0"/>
            <a:r>
              <a:rPr lang="ru-RU" dirty="0"/>
              <a:t>Дата в формате ДД Месяц </a:t>
            </a:r>
            <a:r>
              <a:rPr lang="ru-RU" dirty="0" err="1"/>
              <a:t>ГГГГг</a:t>
            </a:r>
            <a:r>
              <a:rPr lang="ru-RU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06631-D854-4AB0-8DCE-7768E1A0261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50851" y="5711764"/>
            <a:ext cx="6747108" cy="2492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Тип документа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DE5667C-A3A8-4FF4-A019-2A55AF06FDA7}"/>
              </a:ext>
            </a:extLst>
          </p:cNvPr>
          <p:cNvGrpSpPr/>
          <p:nvPr userDrawn="1"/>
        </p:nvGrpSpPr>
        <p:grpSpPr>
          <a:xfrm>
            <a:off x="7473950" y="258763"/>
            <a:ext cx="4268788" cy="5702300"/>
            <a:chOff x="7505700" y="258763"/>
            <a:chExt cx="4268788" cy="5702300"/>
          </a:xfrm>
          <a:solidFill>
            <a:schemeClr val="bg1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B8FDD250-F1E1-428A-AD90-04B92F266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428163" y="3862388"/>
              <a:ext cx="2346325" cy="2098675"/>
            </a:xfrm>
            <a:custGeom>
              <a:avLst/>
              <a:gdLst>
                <a:gd name="T0" fmla="*/ 1478 w 1478"/>
                <a:gd name="T1" fmla="*/ 383 h 1322"/>
                <a:gd name="T2" fmla="*/ 1478 w 1478"/>
                <a:gd name="T3" fmla="*/ 0 h 1322"/>
                <a:gd name="T4" fmla="*/ 0 w 1478"/>
                <a:gd name="T5" fmla="*/ 1322 h 1322"/>
                <a:gd name="T6" fmla="*/ 427 w 1478"/>
                <a:gd name="T7" fmla="*/ 1322 h 1322"/>
                <a:gd name="T8" fmla="*/ 1478 w 1478"/>
                <a:gd name="T9" fmla="*/ 383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8" h="1322">
                  <a:moveTo>
                    <a:pt x="1478" y="383"/>
                  </a:moveTo>
                  <a:lnTo>
                    <a:pt x="1478" y="0"/>
                  </a:lnTo>
                  <a:lnTo>
                    <a:pt x="0" y="1322"/>
                  </a:lnTo>
                  <a:lnTo>
                    <a:pt x="427" y="1322"/>
                  </a:lnTo>
                  <a:lnTo>
                    <a:pt x="1478" y="383"/>
                  </a:lnTo>
                  <a:close/>
                </a:path>
              </a:pathLst>
            </a:custGeom>
            <a:grpFill/>
            <a:ln w="6350">
              <a:solidFill>
                <a:srgbClr val="F37022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E7B8C476-2642-42BD-8254-86CA0004FD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5700" y="258763"/>
              <a:ext cx="4268788" cy="5692775"/>
            </a:xfrm>
            <a:custGeom>
              <a:avLst/>
              <a:gdLst>
                <a:gd name="T0" fmla="*/ 225 w 1535"/>
                <a:gd name="T1" fmla="*/ 1812 h 2048"/>
                <a:gd name="T2" fmla="*/ 194 w 1535"/>
                <a:gd name="T3" fmla="*/ 1743 h 2048"/>
                <a:gd name="T4" fmla="*/ 184 w 1535"/>
                <a:gd name="T5" fmla="*/ 1516 h 2048"/>
                <a:gd name="T6" fmla="*/ 305 w 1535"/>
                <a:gd name="T7" fmla="*/ 1318 h 2048"/>
                <a:gd name="T8" fmla="*/ 1535 w 1535"/>
                <a:gd name="T9" fmla="*/ 219 h 2048"/>
                <a:gd name="T10" fmla="*/ 1535 w 1535"/>
                <a:gd name="T11" fmla="*/ 0 h 2048"/>
                <a:gd name="T12" fmla="*/ 197 w 1535"/>
                <a:gd name="T13" fmla="*/ 1197 h 2048"/>
                <a:gd name="T14" fmla="*/ 63 w 1535"/>
                <a:gd name="T15" fmla="*/ 1375 h 2048"/>
                <a:gd name="T16" fmla="*/ 15 w 1535"/>
                <a:gd name="T17" fmla="*/ 1690 h 2048"/>
                <a:gd name="T18" fmla="*/ 152 w 1535"/>
                <a:gd name="T19" fmla="*/ 1987 h 2048"/>
                <a:gd name="T20" fmla="*/ 207 w 1535"/>
                <a:gd name="T21" fmla="*/ 2048 h 2048"/>
                <a:gd name="T22" fmla="*/ 1535 w 1535"/>
                <a:gd name="T23" fmla="*/ 861 h 2048"/>
                <a:gd name="T24" fmla="*/ 1535 w 1535"/>
                <a:gd name="T25" fmla="*/ 642 h 2048"/>
                <a:gd name="T26" fmla="*/ 225 w 1535"/>
                <a:gd name="T27" fmla="*/ 1812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35" h="2048">
                  <a:moveTo>
                    <a:pt x="225" y="1812"/>
                  </a:moveTo>
                  <a:cubicBezTo>
                    <a:pt x="213" y="1790"/>
                    <a:pt x="202" y="1767"/>
                    <a:pt x="194" y="1743"/>
                  </a:cubicBezTo>
                  <a:cubicBezTo>
                    <a:pt x="169" y="1670"/>
                    <a:pt x="166" y="1591"/>
                    <a:pt x="184" y="1516"/>
                  </a:cubicBezTo>
                  <a:cubicBezTo>
                    <a:pt x="203" y="1442"/>
                    <a:pt x="243" y="1373"/>
                    <a:pt x="305" y="1318"/>
                  </a:cubicBezTo>
                  <a:cubicBezTo>
                    <a:pt x="1535" y="219"/>
                    <a:pt x="1535" y="219"/>
                    <a:pt x="1535" y="219"/>
                  </a:cubicBezTo>
                  <a:cubicBezTo>
                    <a:pt x="1535" y="0"/>
                    <a:pt x="1535" y="0"/>
                    <a:pt x="1535" y="0"/>
                  </a:cubicBezTo>
                  <a:cubicBezTo>
                    <a:pt x="197" y="1197"/>
                    <a:pt x="197" y="1197"/>
                    <a:pt x="197" y="1197"/>
                  </a:cubicBezTo>
                  <a:cubicBezTo>
                    <a:pt x="139" y="1248"/>
                    <a:pt x="94" y="1309"/>
                    <a:pt x="63" y="1375"/>
                  </a:cubicBezTo>
                  <a:cubicBezTo>
                    <a:pt x="16" y="1474"/>
                    <a:pt x="0" y="1584"/>
                    <a:pt x="15" y="1690"/>
                  </a:cubicBezTo>
                  <a:cubicBezTo>
                    <a:pt x="29" y="1797"/>
                    <a:pt x="75" y="1901"/>
                    <a:pt x="152" y="1987"/>
                  </a:cubicBezTo>
                  <a:cubicBezTo>
                    <a:pt x="207" y="2048"/>
                    <a:pt x="207" y="2048"/>
                    <a:pt x="207" y="2048"/>
                  </a:cubicBezTo>
                  <a:cubicBezTo>
                    <a:pt x="1535" y="861"/>
                    <a:pt x="1535" y="861"/>
                    <a:pt x="1535" y="861"/>
                  </a:cubicBezTo>
                  <a:cubicBezTo>
                    <a:pt x="1535" y="642"/>
                    <a:pt x="1535" y="642"/>
                    <a:pt x="1535" y="642"/>
                  </a:cubicBezTo>
                  <a:lnTo>
                    <a:pt x="225" y="1812"/>
                  </a:lnTo>
                  <a:close/>
                </a:path>
              </a:pathLst>
            </a:custGeom>
            <a:grpFill/>
            <a:ln w="6350">
              <a:solidFill>
                <a:srgbClr val="F37022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0907353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Violet">
    <p:bg>
      <p:bgPr>
        <a:gradFill>
          <a:gsLst>
            <a:gs pos="52000">
              <a:schemeClr val="bg1">
                <a:alpha val="30000"/>
              </a:schemeClr>
            </a:gs>
            <a:gs pos="0">
              <a:schemeClr val="bg1">
                <a:alpha val="0"/>
              </a:schemeClr>
            </a:gs>
            <a:gs pos="100000">
              <a:schemeClr val="bg1">
                <a:alpha val="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55FA9B-14CB-409A-8BC2-DDE02EE9A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ru-RU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F910E70E-7EF3-42D3-8EA5-2187DFED7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852" y="1450975"/>
            <a:ext cx="6436447" cy="692497"/>
          </a:xfrm>
          <a:prstGeom prst="rect">
            <a:avLst/>
          </a:prstGeom>
          <a:effectLst/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500">
                <a:solidFill>
                  <a:schemeClr val="bg1"/>
                </a:solidFill>
                <a:effectLst/>
              </a:defRPr>
            </a:lvl1pPr>
          </a:lstStyle>
          <a:p>
            <a:r>
              <a:rPr lang="ru-RU" dirty="0"/>
              <a:t>Название секции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1FC5BA4-B8E7-4B85-A4F0-4BA19DEAB3DA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EC8520-FBFA-44EF-AED2-484097D86FE2}"/>
              </a:ext>
            </a:extLst>
          </p:cNvPr>
          <p:cNvGrpSpPr/>
          <p:nvPr userDrawn="1"/>
        </p:nvGrpSpPr>
        <p:grpSpPr>
          <a:xfrm>
            <a:off x="7216140" y="271463"/>
            <a:ext cx="4526598" cy="6046686"/>
            <a:chOff x="7465072" y="258763"/>
            <a:chExt cx="4268788" cy="5702300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B6A28DF-A79B-4454-B870-5FA48FE05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87535" y="3862388"/>
              <a:ext cx="2346325" cy="2098675"/>
            </a:xfrm>
            <a:custGeom>
              <a:avLst/>
              <a:gdLst>
                <a:gd name="T0" fmla="*/ 1478 w 1478"/>
                <a:gd name="T1" fmla="*/ 383 h 1322"/>
                <a:gd name="T2" fmla="*/ 1478 w 1478"/>
                <a:gd name="T3" fmla="*/ 0 h 1322"/>
                <a:gd name="T4" fmla="*/ 0 w 1478"/>
                <a:gd name="T5" fmla="*/ 1322 h 1322"/>
                <a:gd name="T6" fmla="*/ 427 w 1478"/>
                <a:gd name="T7" fmla="*/ 1322 h 1322"/>
                <a:gd name="T8" fmla="*/ 1478 w 1478"/>
                <a:gd name="T9" fmla="*/ 383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8" h="1322">
                  <a:moveTo>
                    <a:pt x="1478" y="383"/>
                  </a:moveTo>
                  <a:lnTo>
                    <a:pt x="1478" y="0"/>
                  </a:lnTo>
                  <a:lnTo>
                    <a:pt x="0" y="1322"/>
                  </a:lnTo>
                  <a:lnTo>
                    <a:pt x="427" y="1322"/>
                  </a:lnTo>
                  <a:lnTo>
                    <a:pt x="1478" y="383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7A3F6E-4A12-4FD6-94F9-7FE974CC58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65072" y="258763"/>
              <a:ext cx="4268788" cy="5692775"/>
            </a:xfrm>
            <a:custGeom>
              <a:avLst/>
              <a:gdLst>
                <a:gd name="T0" fmla="*/ 225 w 1535"/>
                <a:gd name="T1" fmla="*/ 1812 h 2048"/>
                <a:gd name="T2" fmla="*/ 194 w 1535"/>
                <a:gd name="T3" fmla="*/ 1743 h 2048"/>
                <a:gd name="T4" fmla="*/ 184 w 1535"/>
                <a:gd name="T5" fmla="*/ 1516 h 2048"/>
                <a:gd name="T6" fmla="*/ 305 w 1535"/>
                <a:gd name="T7" fmla="*/ 1318 h 2048"/>
                <a:gd name="T8" fmla="*/ 1535 w 1535"/>
                <a:gd name="T9" fmla="*/ 219 h 2048"/>
                <a:gd name="T10" fmla="*/ 1535 w 1535"/>
                <a:gd name="T11" fmla="*/ 0 h 2048"/>
                <a:gd name="T12" fmla="*/ 197 w 1535"/>
                <a:gd name="T13" fmla="*/ 1197 h 2048"/>
                <a:gd name="T14" fmla="*/ 63 w 1535"/>
                <a:gd name="T15" fmla="*/ 1375 h 2048"/>
                <a:gd name="T16" fmla="*/ 15 w 1535"/>
                <a:gd name="T17" fmla="*/ 1690 h 2048"/>
                <a:gd name="T18" fmla="*/ 152 w 1535"/>
                <a:gd name="T19" fmla="*/ 1987 h 2048"/>
                <a:gd name="T20" fmla="*/ 207 w 1535"/>
                <a:gd name="T21" fmla="*/ 2048 h 2048"/>
                <a:gd name="T22" fmla="*/ 1535 w 1535"/>
                <a:gd name="T23" fmla="*/ 861 h 2048"/>
                <a:gd name="T24" fmla="*/ 1535 w 1535"/>
                <a:gd name="T25" fmla="*/ 642 h 2048"/>
                <a:gd name="T26" fmla="*/ 225 w 1535"/>
                <a:gd name="T27" fmla="*/ 1812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35" h="2048">
                  <a:moveTo>
                    <a:pt x="225" y="1812"/>
                  </a:moveTo>
                  <a:cubicBezTo>
                    <a:pt x="213" y="1790"/>
                    <a:pt x="202" y="1767"/>
                    <a:pt x="194" y="1743"/>
                  </a:cubicBezTo>
                  <a:cubicBezTo>
                    <a:pt x="169" y="1670"/>
                    <a:pt x="166" y="1591"/>
                    <a:pt x="184" y="1516"/>
                  </a:cubicBezTo>
                  <a:cubicBezTo>
                    <a:pt x="203" y="1442"/>
                    <a:pt x="243" y="1373"/>
                    <a:pt x="305" y="1318"/>
                  </a:cubicBezTo>
                  <a:cubicBezTo>
                    <a:pt x="1535" y="219"/>
                    <a:pt x="1535" y="219"/>
                    <a:pt x="1535" y="219"/>
                  </a:cubicBezTo>
                  <a:cubicBezTo>
                    <a:pt x="1535" y="0"/>
                    <a:pt x="1535" y="0"/>
                    <a:pt x="1535" y="0"/>
                  </a:cubicBezTo>
                  <a:cubicBezTo>
                    <a:pt x="197" y="1197"/>
                    <a:pt x="197" y="1197"/>
                    <a:pt x="197" y="1197"/>
                  </a:cubicBezTo>
                  <a:cubicBezTo>
                    <a:pt x="139" y="1248"/>
                    <a:pt x="94" y="1309"/>
                    <a:pt x="63" y="1375"/>
                  </a:cubicBezTo>
                  <a:cubicBezTo>
                    <a:pt x="16" y="1474"/>
                    <a:pt x="0" y="1584"/>
                    <a:pt x="15" y="1690"/>
                  </a:cubicBezTo>
                  <a:cubicBezTo>
                    <a:pt x="29" y="1797"/>
                    <a:pt x="75" y="1901"/>
                    <a:pt x="152" y="1987"/>
                  </a:cubicBezTo>
                  <a:cubicBezTo>
                    <a:pt x="207" y="2048"/>
                    <a:pt x="207" y="2048"/>
                    <a:pt x="207" y="2048"/>
                  </a:cubicBezTo>
                  <a:cubicBezTo>
                    <a:pt x="1535" y="861"/>
                    <a:pt x="1535" y="861"/>
                    <a:pt x="1535" y="861"/>
                  </a:cubicBezTo>
                  <a:cubicBezTo>
                    <a:pt x="1535" y="642"/>
                    <a:pt x="1535" y="642"/>
                    <a:pt x="1535" y="642"/>
                  </a:cubicBezTo>
                  <a:lnTo>
                    <a:pt x="225" y="181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9911277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Grey">
    <p:bg>
      <p:bgPr>
        <a:gradFill>
          <a:gsLst>
            <a:gs pos="52000">
              <a:schemeClr val="bg1">
                <a:alpha val="30000"/>
              </a:schemeClr>
            </a:gs>
            <a:gs pos="0">
              <a:schemeClr val="bg1">
                <a:alpha val="0"/>
              </a:schemeClr>
            </a:gs>
            <a:gs pos="100000">
              <a:schemeClr val="bg1">
                <a:alpha val="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55FA9B-14CB-409A-8BC2-DDE02EE9A1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ru-RU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F910E70E-7EF3-42D3-8EA5-2187DFED7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852" y="1450975"/>
            <a:ext cx="6436447" cy="692497"/>
          </a:xfrm>
          <a:prstGeom prst="rect">
            <a:avLst/>
          </a:prstGeom>
          <a:effectLst/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500">
                <a:solidFill>
                  <a:schemeClr val="bg1"/>
                </a:solidFill>
                <a:effectLst/>
              </a:defRPr>
            </a:lvl1pPr>
          </a:lstStyle>
          <a:p>
            <a:r>
              <a:rPr lang="ru-RU" dirty="0"/>
              <a:t>Название секции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1FC5BA4-B8E7-4B85-A4F0-4BA19DEAB3DA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0646376" y="6588000"/>
            <a:ext cx="1095624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EC8520-FBFA-44EF-AED2-484097D86FE2}"/>
              </a:ext>
            </a:extLst>
          </p:cNvPr>
          <p:cNvGrpSpPr/>
          <p:nvPr userDrawn="1"/>
        </p:nvGrpSpPr>
        <p:grpSpPr>
          <a:xfrm>
            <a:off x="7216140" y="271463"/>
            <a:ext cx="4526598" cy="6046686"/>
            <a:chOff x="7465072" y="258763"/>
            <a:chExt cx="4268788" cy="5702300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B6A28DF-A79B-4454-B870-5FA48FE05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87535" y="3862388"/>
              <a:ext cx="2346325" cy="2098675"/>
            </a:xfrm>
            <a:custGeom>
              <a:avLst/>
              <a:gdLst>
                <a:gd name="T0" fmla="*/ 1478 w 1478"/>
                <a:gd name="T1" fmla="*/ 383 h 1322"/>
                <a:gd name="T2" fmla="*/ 1478 w 1478"/>
                <a:gd name="T3" fmla="*/ 0 h 1322"/>
                <a:gd name="T4" fmla="*/ 0 w 1478"/>
                <a:gd name="T5" fmla="*/ 1322 h 1322"/>
                <a:gd name="T6" fmla="*/ 427 w 1478"/>
                <a:gd name="T7" fmla="*/ 1322 h 1322"/>
                <a:gd name="T8" fmla="*/ 1478 w 1478"/>
                <a:gd name="T9" fmla="*/ 383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8" h="1322">
                  <a:moveTo>
                    <a:pt x="1478" y="383"/>
                  </a:moveTo>
                  <a:lnTo>
                    <a:pt x="1478" y="0"/>
                  </a:lnTo>
                  <a:lnTo>
                    <a:pt x="0" y="1322"/>
                  </a:lnTo>
                  <a:lnTo>
                    <a:pt x="427" y="1322"/>
                  </a:lnTo>
                  <a:lnTo>
                    <a:pt x="1478" y="383"/>
                  </a:lnTo>
                  <a:close/>
                </a:path>
              </a:pathLst>
            </a:custGeom>
            <a:noFill/>
            <a:ln w="9525">
              <a:solidFill>
                <a:srgbClr val="F37022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7A3F6E-4A12-4FD6-94F9-7FE974CC58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65072" y="258763"/>
              <a:ext cx="4268788" cy="5692775"/>
            </a:xfrm>
            <a:custGeom>
              <a:avLst/>
              <a:gdLst>
                <a:gd name="T0" fmla="*/ 225 w 1535"/>
                <a:gd name="T1" fmla="*/ 1812 h 2048"/>
                <a:gd name="T2" fmla="*/ 194 w 1535"/>
                <a:gd name="T3" fmla="*/ 1743 h 2048"/>
                <a:gd name="T4" fmla="*/ 184 w 1535"/>
                <a:gd name="T5" fmla="*/ 1516 h 2048"/>
                <a:gd name="T6" fmla="*/ 305 w 1535"/>
                <a:gd name="T7" fmla="*/ 1318 h 2048"/>
                <a:gd name="T8" fmla="*/ 1535 w 1535"/>
                <a:gd name="T9" fmla="*/ 219 h 2048"/>
                <a:gd name="T10" fmla="*/ 1535 w 1535"/>
                <a:gd name="T11" fmla="*/ 0 h 2048"/>
                <a:gd name="T12" fmla="*/ 197 w 1535"/>
                <a:gd name="T13" fmla="*/ 1197 h 2048"/>
                <a:gd name="T14" fmla="*/ 63 w 1535"/>
                <a:gd name="T15" fmla="*/ 1375 h 2048"/>
                <a:gd name="T16" fmla="*/ 15 w 1535"/>
                <a:gd name="T17" fmla="*/ 1690 h 2048"/>
                <a:gd name="T18" fmla="*/ 152 w 1535"/>
                <a:gd name="T19" fmla="*/ 1987 h 2048"/>
                <a:gd name="T20" fmla="*/ 207 w 1535"/>
                <a:gd name="T21" fmla="*/ 2048 h 2048"/>
                <a:gd name="T22" fmla="*/ 1535 w 1535"/>
                <a:gd name="T23" fmla="*/ 861 h 2048"/>
                <a:gd name="T24" fmla="*/ 1535 w 1535"/>
                <a:gd name="T25" fmla="*/ 642 h 2048"/>
                <a:gd name="T26" fmla="*/ 225 w 1535"/>
                <a:gd name="T27" fmla="*/ 1812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35" h="2048">
                  <a:moveTo>
                    <a:pt x="225" y="1812"/>
                  </a:moveTo>
                  <a:cubicBezTo>
                    <a:pt x="213" y="1790"/>
                    <a:pt x="202" y="1767"/>
                    <a:pt x="194" y="1743"/>
                  </a:cubicBezTo>
                  <a:cubicBezTo>
                    <a:pt x="169" y="1670"/>
                    <a:pt x="166" y="1591"/>
                    <a:pt x="184" y="1516"/>
                  </a:cubicBezTo>
                  <a:cubicBezTo>
                    <a:pt x="203" y="1442"/>
                    <a:pt x="243" y="1373"/>
                    <a:pt x="305" y="1318"/>
                  </a:cubicBezTo>
                  <a:cubicBezTo>
                    <a:pt x="1535" y="219"/>
                    <a:pt x="1535" y="219"/>
                    <a:pt x="1535" y="219"/>
                  </a:cubicBezTo>
                  <a:cubicBezTo>
                    <a:pt x="1535" y="0"/>
                    <a:pt x="1535" y="0"/>
                    <a:pt x="1535" y="0"/>
                  </a:cubicBezTo>
                  <a:cubicBezTo>
                    <a:pt x="197" y="1197"/>
                    <a:pt x="197" y="1197"/>
                    <a:pt x="197" y="1197"/>
                  </a:cubicBezTo>
                  <a:cubicBezTo>
                    <a:pt x="139" y="1248"/>
                    <a:pt x="94" y="1309"/>
                    <a:pt x="63" y="1375"/>
                  </a:cubicBezTo>
                  <a:cubicBezTo>
                    <a:pt x="16" y="1474"/>
                    <a:pt x="0" y="1584"/>
                    <a:pt x="15" y="1690"/>
                  </a:cubicBezTo>
                  <a:cubicBezTo>
                    <a:pt x="29" y="1797"/>
                    <a:pt x="75" y="1901"/>
                    <a:pt x="152" y="1987"/>
                  </a:cubicBezTo>
                  <a:cubicBezTo>
                    <a:pt x="207" y="2048"/>
                    <a:pt x="207" y="2048"/>
                    <a:pt x="207" y="2048"/>
                  </a:cubicBezTo>
                  <a:cubicBezTo>
                    <a:pt x="1535" y="861"/>
                    <a:pt x="1535" y="861"/>
                    <a:pt x="1535" y="861"/>
                  </a:cubicBezTo>
                  <a:cubicBezTo>
                    <a:pt x="1535" y="642"/>
                    <a:pt x="1535" y="642"/>
                    <a:pt x="1535" y="642"/>
                  </a:cubicBezTo>
                  <a:lnTo>
                    <a:pt x="225" y="1812"/>
                  </a:lnTo>
                  <a:close/>
                </a:path>
              </a:pathLst>
            </a:custGeom>
            <a:noFill/>
            <a:ln w="9525">
              <a:solidFill>
                <a:srgbClr val="F37022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435137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Orange">
    <p:bg>
      <p:bgPr>
        <a:gradFill>
          <a:gsLst>
            <a:gs pos="52000">
              <a:schemeClr val="bg1">
                <a:alpha val="30000"/>
              </a:schemeClr>
            </a:gs>
            <a:gs pos="0">
              <a:schemeClr val="bg1">
                <a:alpha val="0"/>
              </a:schemeClr>
            </a:gs>
            <a:gs pos="100000">
              <a:schemeClr val="bg1">
                <a:alpha val="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005BAEF-B9D8-47C9-BF2C-E928066DF3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ru-RU"/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24352652-7CED-4E01-A38A-2673C0690CB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44345" y="876568"/>
            <a:ext cx="250772" cy="273992"/>
          </a:xfrm>
          <a:custGeom>
            <a:avLst/>
            <a:gdLst>
              <a:gd name="T0" fmla="*/ 1605 w 2235"/>
              <a:gd name="T1" fmla="*/ 92 h 2444"/>
              <a:gd name="T2" fmla="*/ 1165 w 2235"/>
              <a:gd name="T3" fmla="*/ 0 h 2444"/>
              <a:gd name="T4" fmla="*/ 333 w 2235"/>
              <a:gd name="T5" fmla="*/ 339 h 2444"/>
              <a:gd name="T6" fmla="*/ 1 w 2235"/>
              <a:gd name="T7" fmla="*/ 1236 h 2444"/>
              <a:gd name="T8" fmla="*/ 1 w 2235"/>
              <a:gd name="T9" fmla="*/ 1253 h 2444"/>
              <a:gd name="T10" fmla="*/ 328 w 2235"/>
              <a:gd name="T11" fmla="*/ 2119 h 2444"/>
              <a:gd name="T12" fmla="*/ 1174 w 2235"/>
              <a:gd name="T13" fmla="*/ 2444 h 2444"/>
              <a:gd name="T14" fmla="*/ 1658 w 2235"/>
              <a:gd name="T15" fmla="*/ 2360 h 2444"/>
              <a:gd name="T16" fmla="*/ 2109 w 2235"/>
              <a:gd name="T17" fmla="*/ 2036 h 2444"/>
              <a:gd name="T18" fmla="*/ 2140 w 2235"/>
              <a:gd name="T19" fmla="*/ 2001 h 2444"/>
              <a:gd name="T20" fmla="*/ 1851 w 2235"/>
              <a:gd name="T21" fmla="*/ 1719 h 2444"/>
              <a:gd name="T22" fmla="*/ 1817 w 2235"/>
              <a:gd name="T23" fmla="*/ 1754 h 2444"/>
              <a:gd name="T24" fmla="*/ 1540 w 2235"/>
              <a:gd name="T25" fmla="*/ 1972 h 2444"/>
              <a:gd name="T26" fmla="*/ 1172 w 2235"/>
              <a:gd name="T27" fmla="*/ 2048 h 2444"/>
              <a:gd name="T28" fmla="*/ 871 w 2235"/>
              <a:gd name="T29" fmla="*/ 1995 h 2444"/>
              <a:gd name="T30" fmla="*/ 558 w 2235"/>
              <a:gd name="T31" fmla="*/ 1738 h 2444"/>
              <a:gd name="T32" fmla="*/ 434 w 2235"/>
              <a:gd name="T33" fmla="*/ 1345 h 2444"/>
              <a:gd name="T34" fmla="*/ 2228 w 2235"/>
              <a:gd name="T35" fmla="*/ 1345 h 2444"/>
              <a:gd name="T36" fmla="*/ 2230 w 2235"/>
              <a:gd name="T37" fmla="*/ 1300 h 2444"/>
              <a:gd name="T38" fmla="*/ 2235 w 2235"/>
              <a:gd name="T39" fmla="*/ 1156 h 2444"/>
              <a:gd name="T40" fmla="*/ 1943 w 2235"/>
              <a:gd name="T41" fmla="*/ 341 h 2444"/>
              <a:gd name="T42" fmla="*/ 1605 w 2235"/>
              <a:gd name="T43" fmla="*/ 92 h 2444"/>
              <a:gd name="T44" fmla="*/ 673 w 2235"/>
              <a:gd name="T45" fmla="*/ 585 h 2444"/>
              <a:gd name="T46" fmla="*/ 1165 w 2235"/>
              <a:gd name="T47" fmla="*/ 406 h 2444"/>
              <a:gd name="T48" fmla="*/ 1606 w 2235"/>
              <a:gd name="T49" fmla="*/ 585 h 2444"/>
              <a:gd name="T50" fmla="*/ 1786 w 2235"/>
              <a:gd name="T51" fmla="*/ 964 h 2444"/>
              <a:gd name="T52" fmla="*/ 459 w 2235"/>
              <a:gd name="T53" fmla="*/ 964 h 2444"/>
              <a:gd name="T54" fmla="*/ 673 w 2235"/>
              <a:gd name="T55" fmla="*/ 585 h 2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235" h="2444">
                <a:moveTo>
                  <a:pt x="1605" y="92"/>
                </a:moveTo>
                <a:cubicBezTo>
                  <a:pt x="1474" y="33"/>
                  <a:pt x="1325" y="0"/>
                  <a:pt x="1165" y="0"/>
                </a:cubicBezTo>
                <a:cubicBezTo>
                  <a:pt x="834" y="0"/>
                  <a:pt x="540" y="122"/>
                  <a:pt x="333" y="339"/>
                </a:cubicBezTo>
                <a:cubicBezTo>
                  <a:pt x="124" y="556"/>
                  <a:pt x="0" y="865"/>
                  <a:pt x="1" y="1236"/>
                </a:cubicBezTo>
                <a:cubicBezTo>
                  <a:pt x="1" y="1253"/>
                  <a:pt x="1" y="1253"/>
                  <a:pt x="1" y="1253"/>
                </a:cubicBezTo>
                <a:cubicBezTo>
                  <a:pt x="1" y="1610"/>
                  <a:pt x="120" y="1909"/>
                  <a:pt x="328" y="2119"/>
                </a:cubicBezTo>
                <a:cubicBezTo>
                  <a:pt x="536" y="2328"/>
                  <a:pt x="831" y="2444"/>
                  <a:pt x="1174" y="2444"/>
                </a:cubicBezTo>
                <a:cubicBezTo>
                  <a:pt x="1339" y="2444"/>
                  <a:pt x="1502" y="2423"/>
                  <a:pt x="1658" y="2360"/>
                </a:cubicBezTo>
                <a:cubicBezTo>
                  <a:pt x="1815" y="2298"/>
                  <a:pt x="1966" y="2195"/>
                  <a:pt x="2109" y="2036"/>
                </a:cubicBezTo>
                <a:cubicBezTo>
                  <a:pt x="2140" y="2001"/>
                  <a:pt x="2140" y="2001"/>
                  <a:pt x="2140" y="2001"/>
                </a:cubicBezTo>
                <a:cubicBezTo>
                  <a:pt x="1851" y="1719"/>
                  <a:pt x="1851" y="1719"/>
                  <a:pt x="1851" y="1719"/>
                </a:cubicBezTo>
                <a:cubicBezTo>
                  <a:pt x="1817" y="1754"/>
                  <a:pt x="1817" y="1754"/>
                  <a:pt x="1817" y="1754"/>
                </a:cubicBezTo>
                <a:cubicBezTo>
                  <a:pt x="1727" y="1849"/>
                  <a:pt x="1640" y="1922"/>
                  <a:pt x="1540" y="1972"/>
                </a:cubicBezTo>
                <a:cubicBezTo>
                  <a:pt x="1441" y="2021"/>
                  <a:pt x="1325" y="2048"/>
                  <a:pt x="1172" y="2048"/>
                </a:cubicBezTo>
                <a:cubicBezTo>
                  <a:pt x="1061" y="2048"/>
                  <a:pt x="960" y="2030"/>
                  <a:pt x="871" y="1995"/>
                </a:cubicBezTo>
                <a:cubicBezTo>
                  <a:pt x="739" y="1943"/>
                  <a:pt x="632" y="1856"/>
                  <a:pt x="558" y="1738"/>
                </a:cubicBezTo>
                <a:cubicBezTo>
                  <a:pt x="489" y="1631"/>
                  <a:pt x="447" y="1499"/>
                  <a:pt x="434" y="1345"/>
                </a:cubicBezTo>
                <a:cubicBezTo>
                  <a:pt x="2228" y="1345"/>
                  <a:pt x="2228" y="1345"/>
                  <a:pt x="2228" y="1345"/>
                </a:cubicBezTo>
                <a:cubicBezTo>
                  <a:pt x="2230" y="1300"/>
                  <a:pt x="2230" y="1300"/>
                  <a:pt x="2230" y="1300"/>
                </a:cubicBezTo>
                <a:cubicBezTo>
                  <a:pt x="2235" y="1232"/>
                  <a:pt x="2235" y="1156"/>
                  <a:pt x="2235" y="1156"/>
                </a:cubicBezTo>
                <a:cubicBezTo>
                  <a:pt x="2235" y="839"/>
                  <a:pt x="2130" y="551"/>
                  <a:pt x="1943" y="341"/>
                </a:cubicBezTo>
                <a:cubicBezTo>
                  <a:pt x="1850" y="236"/>
                  <a:pt x="1736" y="151"/>
                  <a:pt x="1605" y="92"/>
                </a:cubicBezTo>
                <a:close/>
                <a:moveTo>
                  <a:pt x="673" y="585"/>
                </a:moveTo>
                <a:cubicBezTo>
                  <a:pt x="800" y="475"/>
                  <a:pt x="974" y="406"/>
                  <a:pt x="1165" y="406"/>
                </a:cubicBezTo>
                <a:cubicBezTo>
                  <a:pt x="1337" y="406"/>
                  <a:pt x="1492" y="475"/>
                  <a:pt x="1606" y="585"/>
                </a:cubicBezTo>
                <a:cubicBezTo>
                  <a:pt x="1707" y="685"/>
                  <a:pt x="1774" y="817"/>
                  <a:pt x="1786" y="964"/>
                </a:cubicBezTo>
                <a:cubicBezTo>
                  <a:pt x="459" y="964"/>
                  <a:pt x="459" y="964"/>
                  <a:pt x="459" y="964"/>
                </a:cubicBezTo>
                <a:cubicBezTo>
                  <a:pt x="481" y="816"/>
                  <a:pt x="559" y="684"/>
                  <a:pt x="673" y="58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D6FA87D3-7634-4D5B-A8A0-640F2931C443}"/>
              </a:ext>
            </a:extLst>
          </p:cNvPr>
          <p:cNvSpPr>
            <a:spLocks/>
          </p:cNvSpPr>
          <p:nvPr userDrawn="1"/>
        </p:nvSpPr>
        <p:spPr bwMode="auto">
          <a:xfrm>
            <a:off x="1357346" y="879819"/>
            <a:ext cx="220122" cy="264240"/>
          </a:xfrm>
          <a:custGeom>
            <a:avLst/>
            <a:gdLst>
              <a:gd name="T0" fmla="*/ 1608 w 1965"/>
              <a:gd name="T1" fmla="*/ 142 h 2354"/>
              <a:gd name="T2" fmla="*/ 1093 w 1965"/>
              <a:gd name="T3" fmla="*/ 0 h 2354"/>
              <a:gd name="T4" fmla="*/ 627 w 1965"/>
              <a:gd name="T5" fmla="*/ 122 h 2354"/>
              <a:gd name="T6" fmla="*/ 431 w 1965"/>
              <a:gd name="T7" fmla="*/ 293 h 2354"/>
              <a:gd name="T8" fmla="*/ 431 w 1965"/>
              <a:gd name="T9" fmla="*/ 35 h 2354"/>
              <a:gd name="T10" fmla="*/ 0 w 1965"/>
              <a:gd name="T11" fmla="*/ 35 h 2354"/>
              <a:gd name="T12" fmla="*/ 0 w 1965"/>
              <a:gd name="T13" fmla="*/ 2354 h 2354"/>
              <a:gd name="T14" fmla="*/ 431 w 1965"/>
              <a:gd name="T15" fmla="*/ 2354 h 2354"/>
              <a:gd name="T16" fmla="*/ 431 w 1965"/>
              <a:gd name="T17" fmla="*/ 979 h 2354"/>
              <a:gd name="T18" fmla="*/ 591 w 1965"/>
              <a:gd name="T19" fmla="*/ 562 h 2354"/>
              <a:gd name="T20" fmla="*/ 1009 w 1965"/>
              <a:gd name="T21" fmla="*/ 405 h 2354"/>
              <a:gd name="T22" fmla="*/ 1232 w 1965"/>
              <a:gd name="T23" fmla="*/ 443 h 2354"/>
              <a:gd name="T24" fmla="*/ 1456 w 1965"/>
              <a:gd name="T25" fmla="*/ 631 h 2354"/>
              <a:gd name="T26" fmla="*/ 1537 w 1965"/>
              <a:gd name="T27" fmla="*/ 956 h 2354"/>
              <a:gd name="T28" fmla="*/ 1537 w 1965"/>
              <a:gd name="T29" fmla="*/ 2354 h 2354"/>
              <a:gd name="T30" fmla="*/ 1965 w 1965"/>
              <a:gd name="T31" fmla="*/ 2354 h 2354"/>
              <a:gd name="T32" fmla="*/ 1965 w 1965"/>
              <a:gd name="T33" fmla="*/ 886 h 2354"/>
              <a:gd name="T34" fmla="*/ 1906 w 1965"/>
              <a:gd name="T35" fmla="*/ 528 h 2354"/>
              <a:gd name="T36" fmla="*/ 1608 w 1965"/>
              <a:gd name="T37" fmla="*/ 142 h 2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65" h="2354">
                <a:moveTo>
                  <a:pt x="1608" y="142"/>
                </a:moveTo>
                <a:cubicBezTo>
                  <a:pt x="1469" y="50"/>
                  <a:pt x="1295" y="0"/>
                  <a:pt x="1093" y="0"/>
                </a:cubicBezTo>
                <a:cubicBezTo>
                  <a:pt x="913" y="0"/>
                  <a:pt x="755" y="45"/>
                  <a:pt x="627" y="122"/>
                </a:cubicBezTo>
                <a:cubicBezTo>
                  <a:pt x="550" y="169"/>
                  <a:pt x="485" y="227"/>
                  <a:pt x="431" y="293"/>
                </a:cubicBezTo>
                <a:cubicBezTo>
                  <a:pt x="431" y="35"/>
                  <a:pt x="431" y="35"/>
                  <a:pt x="431" y="35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2354"/>
                  <a:pt x="0" y="2354"/>
                  <a:pt x="0" y="2354"/>
                </a:cubicBezTo>
                <a:cubicBezTo>
                  <a:pt x="431" y="2354"/>
                  <a:pt x="431" y="2354"/>
                  <a:pt x="431" y="2354"/>
                </a:cubicBezTo>
                <a:cubicBezTo>
                  <a:pt x="431" y="979"/>
                  <a:pt x="431" y="979"/>
                  <a:pt x="431" y="979"/>
                </a:cubicBezTo>
                <a:cubicBezTo>
                  <a:pt x="431" y="804"/>
                  <a:pt x="491" y="662"/>
                  <a:pt x="591" y="562"/>
                </a:cubicBezTo>
                <a:cubicBezTo>
                  <a:pt x="691" y="463"/>
                  <a:pt x="834" y="405"/>
                  <a:pt x="1009" y="405"/>
                </a:cubicBezTo>
                <a:cubicBezTo>
                  <a:pt x="1093" y="405"/>
                  <a:pt x="1168" y="419"/>
                  <a:pt x="1232" y="443"/>
                </a:cubicBezTo>
                <a:cubicBezTo>
                  <a:pt x="1329" y="481"/>
                  <a:pt x="1405" y="545"/>
                  <a:pt x="1456" y="631"/>
                </a:cubicBezTo>
                <a:cubicBezTo>
                  <a:pt x="1509" y="717"/>
                  <a:pt x="1537" y="826"/>
                  <a:pt x="1537" y="956"/>
                </a:cubicBezTo>
                <a:cubicBezTo>
                  <a:pt x="1537" y="2354"/>
                  <a:pt x="1537" y="2354"/>
                  <a:pt x="1537" y="2354"/>
                </a:cubicBezTo>
                <a:cubicBezTo>
                  <a:pt x="1965" y="2354"/>
                  <a:pt x="1965" y="2354"/>
                  <a:pt x="1965" y="2354"/>
                </a:cubicBezTo>
                <a:cubicBezTo>
                  <a:pt x="1965" y="886"/>
                  <a:pt x="1965" y="886"/>
                  <a:pt x="1965" y="886"/>
                </a:cubicBezTo>
                <a:cubicBezTo>
                  <a:pt x="1965" y="757"/>
                  <a:pt x="1944" y="636"/>
                  <a:pt x="1906" y="528"/>
                </a:cubicBezTo>
                <a:cubicBezTo>
                  <a:pt x="1848" y="367"/>
                  <a:pt x="1746" y="233"/>
                  <a:pt x="1608" y="1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30" name="Freeform 9">
            <a:extLst>
              <a:ext uri="{FF2B5EF4-FFF2-40B4-BE49-F238E27FC236}">
                <a16:creationId xmlns:a16="http://schemas.microsoft.com/office/drawing/2014/main" id="{0067F2C1-0233-4392-A0A2-F7149189FBBB}"/>
              </a:ext>
            </a:extLst>
          </p:cNvPr>
          <p:cNvSpPr>
            <a:spLocks/>
          </p:cNvSpPr>
          <p:nvPr userDrawn="1"/>
        </p:nvSpPr>
        <p:spPr bwMode="auto">
          <a:xfrm>
            <a:off x="1649914" y="883998"/>
            <a:ext cx="48297" cy="260060"/>
          </a:xfrm>
          <a:custGeom>
            <a:avLst/>
            <a:gdLst>
              <a:gd name="T0" fmla="*/ 0 w 104"/>
              <a:gd name="T1" fmla="*/ 560 h 560"/>
              <a:gd name="T2" fmla="*/ 11 w 104"/>
              <a:gd name="T3" fmla="*/ 560 h 560"/>
              <a:gd name="T4" fmla="*/ 104 w 104"/>
              <a:gd name="T5" fmla="*/ 560 h 560"/>
              <a:gd name="T6" fmla="*/ 104 w 104"/>
              <a:gd name="T7" fmla="*/ 0 h 560"/>
              <a:gd name="T8" fmla="*/ 0 w 104"/>
              <a:gd name="T9" fmla="*/ 0 h 560"/>
              <a:gd name="T10" fmla="*/ 0 w 104"/>
              <a:gd name="T11" fmla="*/ 56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4" h="560">
                <a:moveTo>
                  <a:pt x="0" y="560"/>
                </a:moveTo>
                <a:lnTo>
                  <a:pt x="11" y="560"/>
                </a:lnTo>
                <a:lnTo>
                  <a:pt x="104" y="560"/>
                </a:lnTo>
                <a:lnTo>
                  <a:pt x="104" y="0"/>
                </a:lnTo>
                <a:lnTo>
                  <a:pt x="0" y="0"/>
                </a:lnTo>
                <a:lnTo>
                  <a:pt x="0" y="5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sp>
        <p:nvSpPr>
          <p:cNvPr id="32" name="Freeform 10">
            <a:extLst>
              <a:ext uri="{FF2B5EF4-FFF2-40B4-BE49-F238E27FC236}">
                <a16:creationId xmlns:a16="http://schemas.microsoft.com/office/drawing/2014/main" id="{5301D919-DB72-4141-A834-8663C3A8C1A2}"/>
              </a:ext>
            </a:extLst>
          </p:cNvPr>
          <p:cNvSpPr>
            <a:spLocks/>
          </p:cNvSpPr>
          <p:nvPr userDrawn="1"/>
        </p:nvSpPr>
        <p:spPr bwMode="auto">
          <a:xfrm>
            <a:off x="1751616" y="883998"/>
            <a:ext cx="251237" cy="260060"/>
          </a:xfrm>
          <a:custGeom>
            <a:avLst/>
            <a:gdLst>
              <a:gd name="T0" fmla="*/ 328 w 541"/>
              <a:gd name="T1" fmla="*/ 262 h 560"/>
              <a:gd name="T2" fmla="*/ 523 w 541"/>
              <a:gd name="T3" fmla="*/ 0 h 560"/>
              <a:gd name="T4" fmla="*/ 405 w 541"/>
              <a:gd name="T5" fmla="*/ 0 h 560"/>
              <a:gd name="T6" fmla="*/ 270 w 541"/>
              <a:gd name="T7" fmla="*/ 182 h 560"/>
              <a:gd name="T8" fmla="*/ 134 w 541"/>
              <a:gd name="T9" fmla="*/ 0 h 560"/>
              <a:gd name="T10" fmla="*/ 17 w 541"/>
              <a:gd name="T11" fmla="*/ 0 h 560"/>
              <a:gd name="T12" fmla="*/ 213 w 541"/>
              <a:gd name="T13" fmla="*/ 263 h 560"/>
              <a:gd name="T14" fmla="*/ 0 w 541"/>
              <a:gd name="T15" fmla="*/ 560 h 560"/>
              <a:gd name="T16" fmla="*/ 116 w 541"/>
              <a:gd name="T17" fmla="*/ 560 h 560"/>
              <a:gd name="T18" fmla="*/ 271 w 541"/>
              <a:gd name="T19" fmla="*/ 345 h 560"/>
              <a:gd name="T20" fmla="*/ 424 w 541"/>
              <a:gd name="T21" fmla="*/ 560 h 560"/>
              <a:gd name="T22" fmla="*/ 541 w 541"/>
              <a:gd name="T23" fmla="*/ 560 h 560"/>
              <a:gd name="T24" fmla="*/ 328 w 541"/>
              <a:gd name="T25" fmla="*/ 262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1" h="560">
                <a:moveTo>
                  <a:pt x="328" y="262"/>
                </a:moveTo>
                <a:lnTo>
                  <a:pt x="523" y="0"/>
                </a:lnTo>
                <a:lnTo>
                  <a:pt x="405" y="0"/>
                </a:lnTo>
                <a:lnTo>
                  <a:pt x="270" y="182"/>
                </a:lnTo>
                <a:lnTo>
                  <a:pt x="134" y="0"/>
                </a:lnTo>
                <a:lnTo>
                  <a:pt x="17" y="0"/>
                </a:lnTo>
                <a:lnTo>
                  <a:pt x="213" y="263"/>
                </a:lnTo>
                <a:lnTo>
                  <a:pt x="0" y="560"/>
                </a:lnTo>
                <a:lnTo>
                  <a:pt x="116" y="560"/>
                </a:lnTo>
                <a:lnTo>
                  <a:pt x="271" y="345"/>
                </a:lnTo>
                <a:lnTo>
                  <a:pt x="424" y="560"/>
                </a:lnTo>
                <a:lnTo>
                  <a:pt x="541" y="560"/>
                </a:lnTo>
                <a:lnTo>
                  <a:pt x="328" y="2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endParaRPr lang="ru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743C00E-A154-4076-B5C9-C80024FC05E4}"/>
              </a:ext>
            </a:extLst>
          </p:cNvPr>
          <p:cNvGrpSpPr/>
          <p:nvPr userDrawn="1"/>
        </p:nvGrpSpPr>
        <p:grpSpPr>
          <a:xfrm>
            <a:off x="450851" y="271463"/>
            <a:ext cx="566560" cy="880026"/>
            <a:chOff x="450851" y="271463"/>
            <a:chExt cx="566560" cy="880026"/>
          </a:xfrm>
          <a:solidFill>
            <a:srgbClr val="000000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7E92C0FE-3D21-4620-AC90-231FCAD382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851" y="876568"/>
              <a:ext cx="262382" cy="274921"/>
            </a:xfrm>
            <a:custGeom>
              <a:avLst/>
              <a:gdLst>
                <a:gd name="T0" fmla="*/ 1914 w 2342"/>
                <a:gd name="T1" fmla="*/ 297 h 2452"/>
                <a:gd name="T2" fmla="*/ 1714 w 2342"/>
                <a:gd name="T3" fmla="*/ 134 h 2452"/>
                <a:gd name="T4" fmla="*/ 1172 w 2342"/>
                <a:gd name="T5" fmla="*/ 0 h 2452"/>
                <a:gd name="T6" fmla="*/ 342 w 2342"/>
                <a:gd name="T7" fmla="*/ 349 h 2452"/>
                <a:gd name="T8" fmla="*/ 0 w 2342"/>
                <a:gd name="T9" fmla="*/ 1225 h 2452"/>
                <a:gd name="T10" fmla="*/ 343 w 2342"/>
                <a:gd name="T11" fmla="*/ 2103 h 2452"/>
                <a:gd name="T12" fmla="*/ 1173 w 2342"/>
                <a:gd name="T13" fmla="*/ 2452 h 2452"/>
                <a:gd name="T14" fmla="*/ 1715 w 2342"/>
                <a:gd name="T15" fmla="*/ 2318 h 2452"/>
                <a:gd name="T16" fmla="*/ 1915 w 2342"/>
                <a:gd name="T17" fmla="*/ 2154 h 2452"/>
                <a:gd name="T18" fmla="*/ 1915 w 2342"/>
                <a:gd name="T19" fmla="*/ 2386 h 2452"/>
                <a:gd name="T20" fmla="*/ 2342 w 2342"/>
                <a:gd name="T21" fmla="*/ 2386 h 2452"/>
                <a:gd name="T22" fmla="*/ 2342 w 2342"/>
                <a:gd name="T23" fmla="*/ 66 h 2452"/>
                <a:gd name="T24" fmla="*/ 1915 w 2342"/>
                <a:gd name="T25" fmla="*/ 66 h 2452"/>
                <a:gd name="T26" fmla="*/ 1914 w 2342"/>
                <a:gd name="T27" fmla="*/ 297 h 2452"/>
                <a:gd name="T28" fmla="*/ 1177 w 2342"/>
                <a:gd name="T29" fmla="*/ 2047 h 2452"/>
                <a:gd name="T30" fmla="*/ 644 w 2342"/>
                <a:gd name="T31" fmla="*/ 1813 h 2452"/>
                <a:gd name="T32" fmla="*/ 431 w 2342"/>
                <a:gd name="T33" fmla="*/ 1225 h 2452"/>
                <a:gd name="T34" fmla="*/ 644 w 2342"/>
                <a:gd name="T35" fmla="*/ 638 h 2452"/>
                <a:gd name="T36" fmla="*/ 1177 w 2342"/>
                <a:gd name="T37" fmla="*/ 404 h 2452"/>
                <a:gd name="T38" fmla="*/ 1731 w 2342"/>
                <a:gd name="T39" fmla="*/ 639 h 2452"/>
                <a:gd name="T40" fmla="*/ 1954 w 2342"/>
                <a:gd name="T41" fmla="*/ 1225 h 2452"/>
                <a:gd name="T42" fmla="*/ 1731 w 2342"/>
                <a:gd name="T43" fmla="*/ 1812 h 2452"/>
                <a:gd name="T44" fmla="*/ 1177 w 2342"/>
                <a:gd name="T45" fmla="*/ 2047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42" h="2452">
                  <a:moveTo>
                    <a:pt x="1914" y="297"/>
                  </a:moveTo>
                  <a:cubicBezTo>
                    <a:pt x="1861" y="238"/>
                    <a:pt x="1795" y="181"/>
                    <a:pt x="1714" y="134"/>
                  </a:cubicBezTo>
                  <a:cubicBezTo>
                    <a:pt x="1577" y="54"/>
                    <a:pt x="1398" y="0"/>
                    <a:pt x="1172" y="0"/>
                  </a:cubicBezTo>
                  <a:cubicBezTo>
                    <a:pt x="848" y="0"/>
                    <a:pt x="554" y="130"/>
                    <a:pt x="342" y="349"/>
                  </a:cubicBezTo>
                  <a:cubicBezTo>
                    <a:pt x="130" y="567"/>
                    <a:pt x="0" y="874"/>
                    <a:pt x="0" y="1225"/>
                  </a:cubicBezTo>
                  <a:cubicBezTo>
                    <a:pt x="0" y="1577"/>
                    <a:pt x="130" y="1884"/>
                    <a:pt x="343" y="2103"/>
                  </a:cubicBezTo>
                  <a:cubicBezTo>
                    <a:pt x="555" y="2321"/>
                    <a:pt x="849" y="2452"/>
                    <a:pt x="1173" y="2452"/>
                  </a:cubicBezTo>
                  <a:cubicBezTo>
                    <a:pt x="1399" y="2452"/>
                    <a:pt x="1578" y="2398"/>
                    <a:pt x="1715" y="2318"/>
                  </a:cubicBezTo>
                  <a:cubicBezTo>
                    <a:pt x="1796" y="2270"/>
                    <a:pt x="1862" y="2214"/>
                    <a:pt x="1915" y="2154"/>
                  </a:cubicBezTo>
                  <a:cubicBezTo>
                    <a:pt x="1915" y="2386"/>
                    <a:pt x="1915" y="2386"/>
                    <a:pt x="1915" y="2386"/>
                  </a:cubicBezTo>
                  <a:cubicBezTo>
                    <a:pt x="2342" y="2386"/>
                    <a:pt x="2342" y="2386"/>
                    <a:pt x="2342" y="2386"/>
                  </a:cubicBezTo>
                  <a:cubicBezTo>
                    <a:pt x="2342" y="66"/>
                    <a:pt x="2342" y="66"/>
                    <a:pt x="2342" y="66"/>
                  </a:cubicBezTo>
                  <a:cubicBezTo>
                    <a:pt x="1915" y="66"/>
                    <a:pt x="1915" y="66"/>
                    <a:pt x="1915" y="66"/>
                  </a:cubicBezTo>
                  <a:cubicBezTo>
                    <a:pt x="1914" y="297"/>
                    <a:pt x="1914" y="297"/>
                    <a:pt x="1914" y="297"/>
                  </a:cubicBezTo>
                  <a:close/>
                  <a:moveTo>
                    <a:pt x="1177" y="2047"/>
                  </a:moveTo>
                  <a:cubicBezTo>
                    <a:pt x="961" y="2047"/>
                    <a:pt x="776" y="1959"/>
                    <a:pt x="644" y="1813"/>
                  </a:cubicBezTo>
                  <a:cubicBezTo>
                    <a:pt x="511" y="1667"/>
                    <a:pt x="431" y="1462"/>
                    <a:pt x="431" y="1225"/>
                  </a:cubicBezTo>
                  <a:cubicBezTo>
                    <a:pt x="431" y="989"/>
                    <a:pt x="512" y="784"/>
                    <a:pt x="644" y="638"/>
                  </a:cubicBezTo>
                  <a:cubicBezTo>
                    <a:pt x="776" y="492"/>
                    <a:pt x="961" y="404"/>
                    <a:pt x="1177" y="404"/>
                  </a:cubicBezTo>
                  <a:cubicBezTo>
                    <a:pt x="1400" y="404"/>
                    <a:pt x="1593" y="492"/>
                    <a:pt x="1731" y="639"/>
                  </a:cubicBezTo>
                  <a:cubicBezTo>
                    <a:pt x="1870" y="784"/>
                    <a:pt x="1954" y="990"/>
                    <a:pt x="1954" y="1225"/>
                  </a:cubicBezTo>
                  <a:cubicBezTo>
                    <a:pt x="1954" y="1461"/>
                    <a:pt x="1870" y="1666"/>
                    <a:pt x="1731" y="1812"/>
                  </a:cubicBezTo>
                  <a:cubicBezTo>
                    <a:pt x="1593" y="1959"/>
                    <a:pt x="1400" y="2047"/>
                    <a:pt x="1177" y="20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ts val="0"/>
                </a:spcBef>
              </a:pPr>
              <a:endParaRPr lang="ru-RU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D82E090B-EB79-458D-97CE-842B9B99D3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174" y="883998"/>
              <a:ext cx="251237" cy="260060"/>
            </a:xfrm>
            <a:custGeom>
              <a:avLst/>
              <a:gdLst>
                <a:gd name="T0" fmla="*/ 523 w 541"/>
                <a:gd name="T1" fmla="*/ 0 h 560"/>
                <a:gd name="T2" fmla="*/ 500 w 541"/>
                <a:gd name="T3" fmla="*/ 0 h 560"/>
                <a:gd name="T4" fmla="*/ 405 w 541"/>
                <a:gd name="T5" fmla="*/ 0 h 560"/>
                <a:gd name="T6" fmla="*/ 270 w 541"/>
                <a:gd name="T7" fmla="*/ 182 h 560"/>
                <a:gd name="T8" fmla="*/ 134 w 541"/>
                <a:gd name="T9" fmla="*/ 0 h 560"/>
                <a:gd name="T10" fmla="*/ 17 w 541"/>
                <a:gd name="T11" fmla="*/ 0 h 560"/>
                <a:gd name="T12" fmla="*/ 213 w 541"/>
                <a:gd name="T13" fmla="*/ 263 h 560"/>
                <a:gd name="T14" fmla="*/ 0 w 541"/>
                <a:gd name="T15" fmla="*/ 560 h 560"/>
                <a:gd name="T16" fmla="*/ 116 w 541"/>
                <a:gd name="T17" fmla="*/ 560 h 560"/>
                <a:gd name="T18" fmla="*/ 271 w 541"/>
                <a:gd name="T19" fmla="*/ 345 h 560"/>
                <a:gd name="T20" fmla="*/ 423 w 541"/>
                <a:gd name="T21" fmla="*/ 560 h 560"/>
                <a:gd name="T22" fmla="*/ 541 w 541"/>
                <a:gd name="T23" fmla="*/ 560 h 560"/>
                <a:gd name="T24" fmla="*/ 328 w 541"/>
                <a:gd name="T25" fmla="*/ 262 h 560"/>
                <a:gd name="T26" fmla="*/ 523 w 541"/>
                <a:gd name="T27" fmla="*/ 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1" h="560">
                  <a:moveTo>
                    <a:pt x="523" y="0"/>
                  </a:moveTo>
                  <a:lnTo>
                    <a:pt x="500" y="0"/>
                  </a:lnTo>
                  <a:lnTo>
                    <a:pt x="405" y="0"/>
                  </a:lnTo>
                  <a:lnTo>
                    <a:pt x="270" y="182"/>
                  </a:lnTo>
                  <a:lnTo>
                    <a:pt x="134" y="0"/>
                  </a:lnTo>
                  <a:lnTo>
                    <a:pt x="17" y="0"/>
                  </a:lnTo>
                  <a:lnTo>
                    <a:pt x="213" y="263"/>
                  </a:lnTo>
                  <a:lnTo>
                    <a:pt x="0" y="560"/>
                  </a:lnTo>
                  <a:lnTo>
                    <a:pt x="116" y="560"/>
                  </a:lnTo>
                  <a:lnTo>
                    <a:pt x="271" y="345"/>
                  </a:lnTo>
                  <a:lnTo>
                    <a:pt x="423" y="560"/>
                  </a:lnTo>
                  <a:lnTo>
                    <a:pt x="541" y="560"/>
                  </a:lnTo>
                  <a:lnTo>
                    <a:pt x="328" y="262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ts val="0"/>
                </a:spcBef>
              </a:pPr>
              <a:endParaRPr lang="ru-RU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49DC5251-9201-4E34-9536-BB68CE6CEA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4101" y="271463"/>
              <a:ext cx="406344" cy="544734"/>
            </a:xfrm>
            <a:custGeom>
              <a:avLst/>
              <a:gdLst>
                <a:gd name="T0" fmla="*/ 535 w 3625"/>
                <a:gd name="T1" fmla="*/ 4303 h 4860"/>
                <a:gd name="T2" fmla="*/ 459 w 3625"/>
                <a:gd name="T3" fmla="*/ 4139 h 4860"/>
                <a:gd name="T4" fmla="*/ 435 w 3625"/>
                <a:gd name="T5" fmla="*/ 3604 h 4860"/>
                <a:gd name="T6" fmla="*/ 718 w 3625"/>
                <a:gd name="T7" fmla="*/ 3134 h 4860"/>
                <a:gd name="T8" fmla="*/ 3624 w 3625"/>
                <a:gd name="T9" fmla="*/ 518 h 4860"/>
                <a:gd name="T10" fmla="*/ 3624 w 3625"/>
                <a:gd name="T11" fmla="*/ 0 h 4860"/>
                <a:gd name="T12" fmla="*/ 461 w 3625"/>
                <a:gd name="T13" fmla="*/ 2848 h 4860"/>
                <a:gd name="T14" fmla="*/ 148 w 3625"/>
                <a:gd name="T15" fmla="*/ 3271 h 4860"/>
                <a:gd name="T16" fmla="*/ 36 w 3625"/>
                <a:gd name="T17" fmla="*/ 4016 h 4860"/>
                <a:gd name="T18" fmla="*/ 363 w 3625"/>
                <a:gd name="T19" fmla="*/ 4717 h 4860"/>
                <a:gd name="T20" fmla="*/ 363 w 3625"/>
                <a:gd name="T21" fmla="*/ 4717 h 4860"/>
                <a:gd name="T22" fmla="*/ 493 w 3625"/>
                <a:gd name="T23" fmla="*/ 4860 h 4860"/>
                <a:gd name="T24" fmla="*/ 3625 w 3625"/>
                <a:gd name="T25" fmla="*/ 2040 h 4860"/>
                <a:gd name="T26" fmla="*/ 3625 w 3625"/>
                <a:gd name="T27" fmla="*/ 1522 h 4860"/>
                <a:gd name="T28" fmla="*/ 535 w 3625"/>
                <a:gd name="T29" fmla="*/ 4303 h 4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25" h="4860">
                  <a:moveTo>
                    <a:pt x="535" y="4303"/>
                  </a:moveTo>
                  <a:cubicBezTo>
                    <a:pt x="505" y="4250"/>
                    <a:pt x="479" y="4195"/>
                    <a:pt x="459" y="4139"/>
                  </a:cubicBezTo>
                  <a:cubicBezTo>
                    <a:pt x="399" y="3966"/>
                    <a:pt x="392" y="3780"/>
                    <a:pt x="435" y="3604"/>
                  </a:cubicBezTo>
                  <a:cubicBezTo>
                    <a:pt x="479" y="3428"/>
                    <a:pt x="573" y="3264"/>
                    <a:pt x="718" y="3134"/>
                  </a:cubicBezTo>
                  <a:cubicBezTo>
                    <a:pt x="3624" y="518"/>
                    <a:pt x="3624" y="518"/>
                    <a:pt x="3624" y="518"/>
                  </a:cubicBezTo>
                  <a:cubicBezTo>
                    <a:pt x="3624" y="0"/>
                    <a:pt x="3624" y="0"/>
                    <a:pt x="3624" y="0"/>
                  </a:cubicBezTo>
                  <a:cubicBezTo>
                    <a:pt x="461" y="2848"/>
                    <a:pt x="461" y="2848"/>
                    <a:pt x="461" y="2848"/>
                  </a:cubicBezTo>
                  <a:cubicBezTo>
                    <a:pt x="326" y="2970"/>
                    <a:pt x="220" y="3115"/>
                    <a:pt x="148" y="3271"/>
                  </a:cubicBezTo>
                  <a:cubicBezTo>
                    <a:pt x="38" y="3505"/>
                    <a:pt x="0" y="3764"/>
                    <a:pt x="36" y="4016"/>
                  </a:cubicBezTo>
                  <a:cubicBezTo>
                    <a:pt x="71" y="4268"/>
                    <a:pt x="180" y="4514"/>
                    <a:pt x="363" y="4717"/>
                  </a:cubicBezTo>
                  <a:cubicBezTo>
                    <a:pt x="363" y="4717"/>
                    <a:pt x="363" y="4717"/>
                    <a:pt x="363" y="4717"/>
                  </a:cubicBezTo>
                  <a:cubicBezTo>
                    <a:pt x="493" y="4860"/>
                    <a:pt x="493" y="4860"/>
                    <a:pt x="493" y="4860"/>
                  </a:cubicBezTo>
                  <a:cubicBezTo>
                    <a:pt x="3625" y="2040"/>
                    <a:pt x="3625" y="2040"/>
                    <a:pt x="3625" y="2040"/>
                  </a:cubicBezTo>
                  <a:cubicBezTo>
                    <a:pt x="3625" y="1522"/>
                    <a:pt x="3625" y="1522"/>
                    <a:pt x="3625" y="1522"/>
                  </a:cubicBezTo>
                  <a:lnTo>
                    <a:pt x="535" y="4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ts val="0"/>
                </a:spcBef>
              </a:pPr>
              <a:endParaRPr lang="ru-RU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9F0E9785-025D-468E-96CB-1CA22C0743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7536" y="616508"/>
              <a:ext cx="221980" cy="199689"/>
            </a:xfrm>
            <a:custGeom>
              <a:avLst/>
              <a:gdLst>
                <a:gd name="T0" fmla="*/ 0 w 478"/>
                <a:gd name="T1" fmla="*/ 430 h 430"/>
                <a:gd name="T2" fmla="*/ 140 w 478"/>
                <a:gd name="T3" fmla="*/ 430 h 430"/>
                <a:gd name="T4" fmla="*/ 478 w 478"/>
                <a:gd name="T5" fmla="*/ 125 h 430"/>
                <a:gd name="T6" fmla="*/ 478 w 478"/>
                <a:gd name="T7" fmla="*/ 0 h 430"/>
                <a:gd name="T8" fmla="*/ 0 w 478"/>
                <a:gd name="T9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430">
                  <a:moveTo>
                    <a:pt x="0" y="430"/>
                  </a:moveTo>
                  <a:lnTo>
                    <a:pt x="140" y="430"/>
                  </a:lnTo>
                  <a:lnTo>
                    <a:pt x="478" y="125"/>
                  </a:lnTo>
                  <a:lnTo>
                    <a:pt x="478" y="0"/>
                  </a:lnTo>
                  <a:lnTo>
                    <a:pt x="0" y="4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ts val="0"/>
                </a:spcBef>
              </a:pPr>
              <a:endParaRPr lang="ru-RU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7BF6D185-3C45-4755-9985-C3FDC649933D}"/>
              </a:ext>
            </a:extLst>
          </p:cNvPr>
          <p:cNvSpPr>
            <a:spLocks/>
          </p:cNvSpPr>
          <p:nvPr userDrawn="1"/>
        </p:nvSpPr>
        <p:spPr>
          <a:xfrm>
            <a:off x="450850" y="5038794"/>
            <a:ext cx="7406964" cy="129266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chemeClr val="bg1"/>
                </a:solidFill>
              </a:rPr>
              <a:t>О компании </a:t>
            </a:r>
            <a:r>
              <a:rPr lang="en-US" sz="1400" b="1" dirty="0">
                <a:solidFill>
                  <a:schemeClr val="bg1"/>
                </a:solidFill>
              </a:rPr>
              <a:t>AXENIX</a:t>
            </a:r>
            <a:endParaRPr lang="ru-RU" sz="1400" b="1" dirty="0">
              <a:solidFill>
                <a:schemeClr val="bg1"/>
              </a:solidFill>
            </a:endParaRPr>
          </a:p>
          <a:p>
            <a:pPr>
              <a:spcAft>
                <a:spcPts val="1200"/>
              </a:spcAft>
            </a:pPr>
            <a:r>
              <a:rPr lang="en-US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AXENIX </a:t>
            </a:r>
            <a: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</a:t>
            </a:r>
            <a:b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</a:br>
            <a: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в области цифровых сервисов, облачных технологий и решений для обеспечения информационной безопасности.</a:t>
            </a:r>
            <a:b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</a:br>
            <a: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В офисах и центрах разработки в Москве, Твери, Ростове-на-Дону, Краснодаре, Санкт-Петербурге и Алматы работают около 2 000 сотрудников. Благодаря сочетанию уникальных знаний, опыта и компетенций более чем в 40 отраслях, предлагает услуги в области стратегии и бизнес-консалтинга, технологических решений и других операций,</a:t>
            </a:r>
            <a:b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</a:br>
            <a:r>
              <a:rPr lang="ru-RU" sz="10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направленных на цифровизацию бизнеса.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EF766B-04C7-467C-AD66-22EA28C2B7B3}"/>
              </a:ext>
            </a:extLst>
          </p:cNvPr>
          <p:cNvGrpSpPr/>
          <p:nvPr userDrawn="1"/>
        </p:nvGrpSpPr>
        <p:grpSpPr>
          <a:xfrm>
            <a:off x="10496981" y="4771699"/>
            <a:ext cx="1244601" cy="1559757"/>
            <a:chOff x="8858249" y="4771699"/>
            <a:chExt cx="1244601" cy="1559757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E8BF2FA1-69FF-4A8C-94D4-37ECE5370451}"/>
                </a:ext>
              </a:extLst>
            </p:cNvPr>
            <p:cNvSpPr/>
            <p:nvPr userDrawn="1"/>
          </p:nvSpPr>
          <p:spPr>
            <a:xfrm>
              <a:off x="8858249" y="4771699"/>
              <a:ext cx="1244601" cy="1559757"/>
            </a:xfrm>
            <a:prstGeom prst="roundRect">
              <a:avLst>
                <a:gd name="adj" fmla="val 8104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tlCol="0" anchor="ctr">
              <a:noAutofit/>
            </a:bodyPr>
            <a:lstStyle/>
            <a:p>
              <a:pPr algn="ctr"/>
              <a:endParaRPr lang="ru-RU" b="1" kern="0" dirty="0">
                <a:solidFill>
                  <a:prstClr val="white"/>
                </a:solidFill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BC3845A6-A9A8-43CF-83CC-A696FB9B8480}"/>
                </a:ext>
              </a:extLst>
            </p:cNvPr>
            <p:cNvPicPr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978734" y="4889934"/>
              <a:ext cx="1003631" cy="1008131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E7E675B-8293-469C-8A1F-3E9A3F45A988}"/>
                </a:ext>
              </a:extLst>
            </p:cNvPr>
            <p:cNvSpPr>
              <a:spLocks/>
            </p:cNvSpPr>
            <p:nvPr userDrawn="1"/>
          </p:nvSpPr>
          <p:spPr>
            <a:xfrm>
              <a:off x="8858249" y="6037816"/>
              <a:ext cx="1244601" cy="153888"/>
            </a:xfrm>
            <a:prstGeom prst="rect">
              <a:avLst/>
            </a:prstGeom>
          </p:spPr>
          <p:txBody>
            <a:bodyPr wrap="square" lIns="0" tIns="0" rIns="0" bIns="0" anchor="b" anchorCtr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000" b="1" dirty="0">
                  <a:solidFill>
                    <a:schemeClr val="tx1"/>
                  </a:solidFill>
                  <a:effectLst/>
                  <a:latin typeface="+mn-lt"/>
                  <a:ea typeface="Calibri" panose="020F0502020204030204" pitchFamily="34" charset="0"/>
                </a:rPr>
                <a:t>axenix.pro</a:t>
              </a:r>
              <a:endParaRPr lang="ru-RU" sz="1000" b="1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7F0F03E-C4FA-4DFF-B66F-D30F08633110}"/>
              </a:ext>
            </a:extLst>
          </p:cNvPr>
          <p:cNvGrpSpPr/>
          <p:nvPr userDrawn="1"/>
        </p:nvGrpSpPr>
        <p:grpSpPr>
          <a:xfrm>
            <a:off x="8828756" y="4771699"/>
            <a:ext cx="1244601" cy="1559757"/>
            <a:chOff x="10467974" y="4771699"/>
            <a:chExt cx="1244601" cy="1559757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A0B4E4B0-BCDE-42E7-B1A0-175915AF63A0}"/>
                </a:ext>
              </a:extLst>
            </p:cNvPr>
            <p:cNvSpPr/>
            <p:nvPr userDrawn="1"/>
          </p:nvSpPr>
          <p:spPr>
            <a:xfrm>
              <a:off x="10467974" y="4771699"/>
              <a:ext cx="1244601" cy="1559757"/>
            </a:xfrm>
            <a:prstGeom prst="roundRect">
              <a:avLst>
                <a:gd name="adj" fmla="val 8104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tlCol="0" anchor="ctr">
              <a:noAutofit/>
            </a:bodyPr>
            <a:lstStyle/>
            <a:p>
              <a:pPr algn="ctr"/>
              <a:endParaRPr lang="ru-RU" b="1" kern="0" dirty="0">
                <a:solidFill>
                  <a:prstClr val="white"/>
                </a:solidFill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67DD0D3-EEB2-4950-9E6F-989C624ACE1A}"/>
                </a:ext>
              </a:extLst>
            </p:cNvPr>
            <p:cNvPicPr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588459" y="4889934"/>
              <a:ext cx="1003631" cy="1008131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D77AF54-DAB1-432F-95D5-1B3AE0FE3F05}"/>
                </a:ext>
              </a:extLst>
            </p:cNvPr>
            <p:cNvSpPr>
              <a:spLocks/>
            </p:cNvSpPr>
            <p:nvPr userDrawn="1"/>
          </p:nvSpPr>
          <p:spPr>
            <a:xfrm>
              <a:off x="10467974" y="6037816"/>
              <a:ext cx="1244601" cy="153888"/>
            </a:xfrm>
            <a:prstGeom prst="rect">
              <a:avLst/>
            </a:prstGeom>
          </p:spPr>
          <p:txBody>
            <a:bodyPr wrap="square" lIns="0" tIns="0" rIns="0" bIns="0" anchor="b" anchorCtr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000" b="1" dirty="0">
                  <a:solidFill>
                    <a:schemeClr val="tx1"/>
                  </a:solidFill>
                  <a:effectLst/>
                  <a:latin typeface="+mn-lt"/>
                  <a:ea typeface="Calibri" panose="020F0502020204030204" pitchFamily="34" charset="0"/>
                </a:rPr>
                <a:t>@axenix_ru</a:t>
              </a:r>
              <a:endParaRPr lang="ru-RU" sz="1000" b="1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686B957-00E4-455C-8AF7-AFCEFF3F8D1F}"/>
              </a:ext>
            </a:extLst>
          </p:cNvPr>
          <p:cNvSpPr txBox="1">
            <a:spLocks/>
          </p:cNvSpPr>
          <p:nvPr userDrawn="1"/>
        </p:nvSpPr>
        <p:spPr>
          <a:xfrm>
            <a:off x="450849" y="2239493"/>
            <a:ext cx="5465505" cy="1477328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defPPr>
              <a:defRPr lang="ru-RU"/>
            </a:defPPr>
            <a:lvl1pPr>
              <a:spcAft>
                <a:spcPts val="1200"/>
              </a:spcAft>
              <a:defRPr sz="1000">
                <a:solidFill>
                  <a:schemeClr val="bg1"/>
                </a:solidFill>
                <a:effectLst/>
                <a:ea typeface="Calibri" panose="020F0502020204030204" pitchFamily="34" charset="0"/>
              </a:defRPr>
            </a:lvl1pPr>
          </a:lstStyle>
          <a:p>
            <a:pPr lvl="0"/>
            <a:r>
              <a:rPr lang="ru-RU" sz="7200" b="1" dirty="0">
                <a:latin typeface="+mj-lt"/>
              </a:rPr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31798477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8465" y="6419690"/>
            <a:ext cx="493275" cy="177960"/>
          </a:xfrm>
          <a:prstGeom prst="rect">
            <a:avLst/>
          </a:prstGeom>
        </p:spPr>
        <p:txBody>
          <a:bodyPr r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DBD14B-9731-DDEB-2DE3-4E01B843A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4" y="269812"/>
            <a:ext cx="11668215" cy="35029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319A0-A1CE-C07E-936D-8852F6F42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3526" y="6464412"/>
            <a:ext cx="584200" cy="13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197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66A771-F66E-4564-EBF7-BFC7B63B1D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6985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A51931-13B8-EA81-74A8-52D75249C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430" y="1196322"/>
            <a:ext cx="4351020" cy="201752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5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54C9A-2E18-BEE9-1490-16373B9D7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430" y="3356630"/>
            <a:ext cx="3665220" cy="6956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30AEA54-383F-4E71-A209-DBC364ED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8300" y="4210050"/>
            <a:ext cx="4279900" cy="365125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0914374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19EA50-607D-28CC-67F6-2FFB9F852F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E7A9E8-D2D3-63F3-F670-A2985062AE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984" y="3498289"/>
            <a:ext cx="10515600" cy="1325563"/>
          </a:xfrm>
          <a:prstGeom prst="rect">
            <a:avLst/>
          </a:prstGeom>
        </p:spPr>
        <p:txBody>
          <a:bodyPr anchor="t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861DEC2-FF0B-5B18-F5F3-2DC5888BD45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632984" y="5064405"/>
            <a:ext cx="7500992" cy="6956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6BE8C6B-EE2F-79F1-3573-F4AA6BC4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6900" y="5975350"/>
            <a:ext cx="4279900" cy="365125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8419581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6E5273-B457-2AF1-9825-F94D09A24B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73F05-F182-659F-BEFA-012A73CE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2100" y="5683250"/>
            <a:ext cx="42799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334032-D35A-F1E1-0425-0818542D8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07" y="2785595"/>
            <a:ext cx="6694169" cy="2243605"/>
          </a:xfrm>
          <a:prstGeom prst="rect">
            <a:avLst/>
          </a:prstGeom>
        </p:spPr>
        <p:txBody>
          <a:bodyPr anchor="t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r>
              <a:rPr lang="ru-RU" dirty="0"/>
              <a:t> с</a:t>
            </a:r>
            <a:r>
              <a:rPr lang="en-GB" dirty="0"/>
              <a:t>lick to edit Master title style</a:t>
            </a:r>
            <a:endParaRPr lang="en-RU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5F1B96C-F791-5D53-98DF-BF271AA9B2A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0007" y="5050959"/>
            <a:ext cx="6694169" cy="69564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872227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B32013-1F9B-6436-20CF-2E51F0E43E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50B7BAB-BE77-6510-E5D5-8E77F2904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184" y="4082489"/>
            <a:ext cx="10515600" cy="1325563"/>
          </a:xfrm>
          <a:prstGeom prst="rect">
            <a:avLst/>
          </a:prstGeom>
        </p:spPr>
        <p:txBody>
          <a:bodyPr anchor="t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0388166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E4C168-38CE-3FC5-2AF5-64FE853F1A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D70ADCC-6BBF-C18A-7151-5E7D4E4024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1984" y="2799789"/>
            <a:ext cx="8968216" cy="1325563"/>
          </a:xfrm>
          <a:prstGeom prst="rect">
            <a:avLst/>
          </a:prstGeom>
        </p:spPr>
        <p:txBody>
          <a:bodyPr anchor="t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3BF918F-2A3D-7E23-2BE9-AC0165C4AF3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823484" y="5572405"/>
            <a:ext cx="7500992" cy="6956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2336288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67EF52-A65D-D624-2D86-5FB7FF6B9A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973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238-55CF-0B4E-9885-8C556527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87425"/>
            <a:ext cx="10515600" cy="7778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568C6-A177-D01B-67D6-0DC5E4DD0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0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CBEA0-35FA-4E81-C027-2599EDB8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67AF19B2-DC6B-D242-9281-E3853BE4330D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A0B9668-8D6A-FD21-B21A-474F90319F7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6888" y="1866900"/>
            <a:ext cx="6907212" cy="9017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97516C5-E723-1B3B-AEE2-1E16A8CC3992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96888" y="2819400"/>
            <a:ext cx="6907212" cy="33147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F263EA-B8FE-6C11-DB78-A8A66AD4AE38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7690860" y="1866900"/>
            <a:ext cx="41021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0970FBFD-32DE-FA6E-D499-6FF7CD59B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690860" y="3228109"/>
            <a:ext cx="4168631" cy="29233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256309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568C6-A177-D01B-67D6-0DC5E4DD0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0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CBEA0-35FA-4E81-C027-2599EDB8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67AF19B2-DC6B-D242-9281-E3853BE4330D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A0B9668-8D6A-FD21-B21A-474F90319F7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6888" y="1866900"/>
            <a:ext cx="6907212" cy="9017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97516C5-E723-1B3B-AEE2-1E16A8CC3992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96888" y="2819400"/>
            <a:ext cx="6907212" cy="33147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F263EA-B8FE-6C11-DB78-A8A66AD4AE38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7690860" y="1866900"/>
            <a:ext cx="41021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0970FBFD-32DE-FA6E-D499-6FF7CD59B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690860" y="3228109"/>
            <a:ext cx="4168631" cy="29233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31339AF-8DA7-402F-8041-A5F2DBD47E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6888" y="155257"/>
            <a:ext cx="10515600" cy="44542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 b="1" i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902028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B3BBE734-8B69-78C1-75E9-F30669DD56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AAEA1DC-7782-2C9A-6274-A5C051F9C9EE}"/>
              </a:ext>
            </a:extLst>
          </p:cNvPr>
          <p:cNvSpPr/>
          <p:nvPr userDrawn="1"/>
        </p:nvSpPr>
        <p:spPr>
          <a:xfrm>
            <a:off x="0" y="2323172"/>
            <a:ext cx="4627020" cy="2225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93461F-3BA8-2EFC-98CB-6A916BF11C4A}"/>
              </a:ext>
            </a:extLst>
          </p:cNvPr>
          <p:cNvSpPr/>
          <p:nvPr userDrawn="1"/>
        </p:nvSpPr>
        <p:spPr>
          <a:xfrm>
            <a:off x="0" y="0"/>
            <a:ext cx="2314937" cy="2314937"/>
          </a:xfrm>
          <a:prstGeom prst="rect">
            <a:avLst/>
          </a:prstGeom>
          <a:solidFill>
            <a:srgbClr val="FE0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C85C3C-9A7C-4F2A-39D0-BCDDE3D06A95}"/>
              </a:ext>
            </a:extLst>
          </p:cNvPr>
          <p:cNvSpPr/>
          <p:nvPr userDrawn="1"/>
        </p:nvSpPr>
        <p:spPr>
          <a:xfrm>
            <a:off x="2312083" y="4543063"/>
            <a:ext cx="2314937" cy="2314937"/>
          </a:xfrm>
          <a:prstGeom prst="rect">
            <a:avLst/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49E9B93-E2C5-0830-1F93-D8C37B667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771525"/>
            <a:ext cx="9220200" cy="5873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443C6DB-3B9C-452D-A7EA-FC74D9B3559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50684" y="1368705"/>
            <a:ext cx="9222216" cy="5616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421AE2F-7925-5136-3AD9-DB6E76202330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965700" y="2438400"/>
            <a:ext cx="6807200" cy="2057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BBC0B61-7A10-E1FC-27C1-C58418773B02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39000" y="4876800"/>
            <a:ext cx="45720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6B10B9C-B14D-5556-FBD2-3165C91C7E1B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9660" y="2924944"/>
            <a:ext cx="3978324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  <a:r>
              <a:rPr lang="en-US" dirty="0"/>
              <a:t>s</a:t>
            </a:r>
            <a:endParaRPr lang="en-GB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A52354-6591-35EE-DB86-C6C7C67AB6E4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49660" y="771525"/>
            <a:ext cx="1709340" cy="11811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D0594E2A-8DB8-26B0-0CDF-ED65DEB8D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3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67AF19B2-DC6B-D242-9281-E3853BE4330D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93D888-278B-9BC4-33E5-48DDAC4B701F}"/>
              </a:ext>
            </a:extLst>
          </p:cNvPr>
          <p:cNvSpPr/>
          <p:nvPr userDrawn="1"/>
        </p:nvSpPr>
        <p:spPr>
          <a:xfrm>
            <a:off x="4625471" y="4543063"/>
            <a:ext cx="2314937" cy="2314937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836285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58ECFE7-BDCE-FA5F-D465-5823C86B17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73B6CEC-431F-58BE-CF65-4F8419AAF2F1}"/>
              </a:ext>
            </a:extLst>
          </p:cNvPr>
          <p:cNvSpPr/>
          <p:nvPr userDrawn="1"/>
        </p:nvSpPr>
        <p:spPr>
          <a:xfrm>
            <a:off x="0" y="0"/>
            <a:ext cx="2314937" cy="2314937"/>
          </a:xfrm>
          <a:prstGeom prst="rect">
            <a:avLst/>
          </a:prstGeom>
          <a:solidFill>
            <a:srgbClr val="9F00FF"/>
          </a:solidFill>
          <a:ln>
            <a:solidFill>
              <a:srgbClr val="9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E0B39C2-8232-D961-DCD0-EEE67E52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140" y="1404938"/>
            <a:ext cx="9220200" cy="5873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30D1754-08C9-5625-375F-334E51108C3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50684" y="1368705"/>
            <a:ext cx="9222216" cy="5616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33DBCFA-CC79-1A82-51A3-73355322DBC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45912" y="4876800"/>
            <a:ext cx="45720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2658AC8-1F35-29D4-4431-FE98E8285CCD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7234177" y="2438400"/>
            <a:ext cx="4538722" cy="226092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18397AC-02DF-3F9A-4A6E-C468291705E5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49660" y="771525"/>
            <a:ext cx="1709340" cy="11811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2D72A2-C9F7-A905-C870-EF5A07A12132}"/>
              </a:ext>
            </a:extLst>
          </p:cNvPr>
          <p:cNvSpPr/>
          <p:nvPr userDrawn="1"/>
        </p:nvSpPr>
        <p:spPr>
          <a:xfrm>
            <a:off x="6272420" y="2313709"/>
            <a:ext cx="262492" cy="4543064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7DF09708-CE95-6CD3-B197-933B7770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3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AF19B2-DC6B-D242-9281-E3853BE4330D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46D373B-A651-D091-A8F1-E3F1F9423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01442" y="2299855"/>
            <a:ext cx="4279467" cy="45581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0C9757-314D-3A8E-B28B-6396507667E0}"/>
              </a:ext>
            </a:extLst>
          </p:cNvPr>
          <p:cNvSpPr/>
          <p:nvPr userDrawn="1"/>
        </p:nvSpPr>
        <p:spPr>
          <a:xfrm>
            <a:off x="0" y="2313709"/>
            <a:ext cx="6263014" cy="2225680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E5C77CC-2842-70ED-34E2-1AB37FF3D5BD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9660" y="2924944"/>
            <a:ext cx="3978324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  <a:r>
              <a:rPr lang="en-US" dirty="0"/>
              <a:t>s</a:t>
            </a:r>
            <a:endParaRPr lang="en-GB" dirty="0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FEFDD04-CD08-8C7D-880C-6B8F75B9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0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7420932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02999" y="6601360"/>
            <a:ext cx="625475" cy="167740"/>
          </a:xfrm>
          <a:prstGeom prst="rect">
            <a:avLst/>
          </a:prstGeom>
        </p:spPr>
        <p:txBody>
          <a:bodyPr/>
          <a:lstStyle>
            <a:lvl1pPr algn="r">
              <a:defRPr sz="800"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DBD14B-9731-DDEB-2DE3-4E01B843A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260350"/>
            <a:ext cx="11664950" cy="42544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400" b="0" i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70762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3525" y="657107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l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571078"/>
            <a:ext cx="2743200" cy="198318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DBD14B-9731-DDEB-2DE3-4E01B843A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5257"/>
            <a:ext cx="10515600" cy="44542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63C87AE-461F-4691-BC75-9421974D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678"/>
            <a:ext cx="11948160" cy="29684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E3E5D1-2ABD-41C7-B20B-2E9AB54F80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0121" t="12540" r="1251" b="8607"/>
          <a:stretch/>
        </p:blipFill>
        <p:spPr>
          <a:xfrm>
            <a:off x="10755392" y="600677"/>
            <a:ext cx="119499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56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6">
          <p15:clr>
            <a:srgbClr val="FBAE40"/>
          </p15:clr>
        </p15:guide>
        <p15:guide id="3" orient="horz" pos="4133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C57A9C-48AB-97B8-5F68-7CB783A070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AADBD8-BAF1-DD2B-B966-0FB5A024255B}"/>
              </a:ext>
            </a:extLst>
          </p:cNvPr>
          <p:cNvSpPr/>
          <p:nvPr userDrawn="1"/>
        </p:nvSpPr>
        <p:spPr>
          <a:xfrm>
            <a:off x="2266682" y="4497983"/>
            <a:ext cx="2360017" cy="2360017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C3909-A973-1011-3B96-712B02814A16}"/>
              </a:ext>
            </a:extLst>
          </p:cNvPr>
          <p:cNvSpPr/>
          <p:nvPr userDrawn="1"/>
        </p:nvSpPr>
        <p:spPr>
          <a:xfrm>
            <a:off x="0" y="2310293"/>
            <a:ext cx="4627020" cy="2225680"/>
          </a:xfrm>
          <a:prstGeom prst="rect">
            <a:avLst/>
          </a:prstGeom>
          <a:solidFill>
            <a:srgbClr val="9F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27587D-53AE-75EA-A2F5-1D2FA215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771525"/>
            <a:ext cx="9220200" cy="5873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6EC4626-CF3B-5328-6C1F-17F5977BD6E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50684" y="1368705"/>
            <a:ext cx="9222216" cy="5616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D0C46E2-DC31-5ADF-2609-7941CFC34CCC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9660" y="2924944"/>
            <a:ext cx="3978324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  <a:r>
              <a:rPr lang="en-US" dirty="0"/>
              <a:t>s</a:t>
            </a:r>
            <a:endParaRPr lang="en-GB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53DD215-7D1F-4E15-845B-AFD62DA9AF37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49660" y="771525"/>
            <a:ext cx="1709340" cy="11811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83B4D98-0EE6-8ECA-44BC-581743D9A308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965700" y="2438400"/>
            <a:ext cx="6807200" cy="2057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5028A3D-555B-0B5A-44FB-040C79461F79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965700" y="4876800"/>
            <a:ext cx="45720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012FA4-519D-9175-A5D7-07ED26253214}"/>
              </a:ext>
            </a:extLst>
          </p:cNvPr>
          <p:cNvSpPr/>
          <p:nvPr userDrawn="1"/>
        </p:nvSpPr>
        <p:spPr>
          <a:xfrm>
            <a:off x="0" y="0"/>
            <a:ext cx="2314937" cy="2314937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6E964DA3-ACAB-CCE1-FE60-AA20F5E2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0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FA2CD1C-2F3B-B613-6D06-BE1C58EF1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571078"/>
            <a:ext cx="2743200" cy="19831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97673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8465" y="6419690"/>
            <a:ext cx="493275" cy="177960"/>
          </a:xfrm>
          <a:prstGeom prst="rect">
            <a:avLst/>
          </a:prstGeom>
        </p:spPr>
        <p:txBody>
          <a:bodyPr r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DBD14B-9731-DDEB-2DE3-4E01B843A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4" y="269812"/>
            <a:ext cx="11668215" cy="35029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319A0-A1CE-C07E-936D-8852F6F42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3526" y="6464412"/>
            <a:ext cx="584200" cy="13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6268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8465" y="6419690"/>
            <a:ext cx="493275" cy="177960"/>
          </a:xfrm>
          <a:prstGeom prst="rect">
            <a:avLst/>
          </a:prstGeom>
        </p:spPr>
        <p:txBody>
          <a:bodyPr r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319A0-A1CE-C07E-936D-8852F6F42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3526" y="6464412"/>
            <a:ext cx="584200" cy="13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63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8465" y="6419690"/>
            <a:ext cx="493275" cy="17796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319A0-A1CE-C07E-936D-8852F6F42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3525" y="6431826"/>
            <a:ext cx="727075" cy="16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57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 slide without decorations and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C86DDDA-DAD9-4EA4-8610-FF2FEDFE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171581"/>
            <a:ext cx="9708351" cy="78160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69953F95-E1B1-4007-B613-27EE8D8F8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A217D885-2194-4A95-BC7E-407BDEE4F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1"/>
            <a:ext cx="4114800" cy="198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0563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302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731">
          <p15:clr>
            <a:srgbClr val="FBAE40"/>
          </p15:clr>
        </p15:guide>
        <p15:guide id="7" orient="horz" pos="402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C9357-E592-422D-AEE8-A01497512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579911-0748-42DD-A270-3B3061F93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B32EEA-A586-496F-BAEB-B008A8C82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595C81-65F4-488E-B5CD-43341163A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4E0018-3662-40F2-B2FC-10648740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743A-6D93-4F35-BC42-98AE6F68F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8311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slide without decorations and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0C369B-77C2-40B6-ADE1-1AB1EFC749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oup 26">
            <a:extLst>
              <a:ext uri="{FF2B5EF4-FFF2-40B4-BE49-F238E27FC236}">
                <a16:creationId xmlns:a16="http://schemas.microsoft.com/office/drawing/2014/main" id="{AA47F875-24BB-4222-9BE0-3D338C1189F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73693" y="5898603"/>
            <a:ext cx="1539620" cy="351172"/>
            <a:chOff x="6588" y="108"/>
            <a:chExt cx="890" cy="203"/>
          </a:xfrm>
        </p:grpSpPr>
        <p:sp>
          <p:nvSpPr>
            <p:cNvPr id="7" name="AutoShape 25">
              <a:extLst>
                <a:ext uri="{FF2B5EF4-FFF2-40B4-BE49-F238E27FC236}">
                  <a16:creationId xmlns:a16="http://schemas.microsoft.com/office/drawing/2014/main" id="{EFB25604-3226-458E-A195-41FB11A7C6C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AD401044-5574-4142-82A6-0942C3ACB8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96A51F06-0742-4A70-8FAD-AA0F6B1C75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6DBB966F-F045-4E46-9228-9FCA8D23F2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8727357C-030F-4E1C-A3D9-48092D2B7A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FFAB5B73-AFE1-44FE-AD30-9CDEEEA7FA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E502EC55-FD01-49CB-A606-68A89505D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574046BB-619F-41A0-AC31-C41F0D73E6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0C767B9E-C93E-4C8E-A5B0-DEFB60925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891923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302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731">
          <p15:clr>
            <a:srgbClr val="FBAE40"/>
          </p15:clr>
        </p15:guide>
        <p15:guide id="7" orient="horz" pos="402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3DBD14B-9731-DDEB-2DE3-4E01B843A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37" y="161862"/>
            <a:ext cx="9847884" cy="341632"/>
          </a:xfrm>
        </p:spPr>
        <p:txBody>
          <a:bodyPr anchor="t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319A0-A1CE-C07E-936D-8852F6F42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58771" y="171582"/>
            <a:ext cx="1412692" cy="322193"/>
          </a:xfrm>
          <a:prstGeom prst="rect">
            <a:avLst/>
          </a:prstGeom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76D1B8E-50BF-4867-B716-F30C7008633D}"/>
              </a:ext>
            </a:extLst>
          </p:cNvPr>
          <p:cNvSpPr txBox="1">
            <a:spLocks/>
          </p:cNvSpPr>
          <p:nvPr userDrawn="1"/>
        </p:nvSpPr>
        <p:spPr>
          <a:xfrm>
            <a:off x="11438465" y="6419690"/>
            <a:ext cx="493275" cy="17796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Manrope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27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6">
          <p15:clr>
            <a:srgbClr val="FBAE40"/>
          </p15:clr>
        </p15:guide>
        <p15:guide id="3" orient="horz" pos="4133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image" Target="../media/image15.emf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oleObject" Target="../embeddings/oleObject2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46.xml"/><Relationship Id="rId21" Type="http://schemas.openxmlformats.org/officeDocument/2006/relationships/theme" Target="../theme/theme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63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 hidden="1">
            <a:extLst>
              <a:ext uri="{FF2B5EF4-FFF2-40B4-BE49-F238E27FC236}">
                <a16:creationId xmlns:a16="http://schemas.microsoft.com/office/drawing/2014/main" id="{E50A4CC3-BFDB-4B77-8F63-005DB8232033}"/>
              </a:ext>
            </a:extLst>
          </p:cNvPr>
          <p:cNvGrpSpPr/>
          <p:nvPr userDrawn="1"/>
        </p:nvGrpSpPr>
        <p:grpSpPr>
          <a:xfrm>
            <a:off x="0" y="-17400"/>
            <a:ext cx="12192000" cy="6875400"/>
            <a:chOff x="0" y="-17400"/>
            <a:chExt cx="12192000" cy="68754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D6324FE-D941-45EF-9929-5D46F41A9B92}"/>
                </a:ext>
              </a:extLst>
            </p:cNvPr>
            <p:cNvSpPr/>
            <p:nvPr userDrawn="1"/>
          </p:nvSpPr>
          <p:spPr>
            <a:xfrm>
              <a:off x="0" y="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05594AA3-ABDF-440A-A505-6DDA80F001BA}"/>
                </a:ext>
              </a:extLst>
            </p:cNvPr>
            <p:cNvSpPr/>
            <p:nvPr userDrawn="1"/>
          </p:nvSpPr>
          <p:spPr>
            <a:xfrm>
              <a:off x="11922000" y="658800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3E8FDC0D-7C8C-4300-8F51-9F707F3E8C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000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F43DCD2A-D5A6-44DF-86B8-15C2BD778A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2199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70E0C901-3734-4284-B5EC-4B637B50D1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70000"/>
              <a:ext cx="12192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29276B90-789C-4D17-B99D-02DE4D65CDC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588000"/>
              <a:ext cx="12184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3EBBA3ED-68B1-4B23-871E-0CE465296B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10367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6C167569-7CEB-4CC8-A914-ECF6CCDA65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50734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9367FDD1-89B3-4FF9-BEDE-737797A7D8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1101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D600F7D6-B867-4BCE-AEF9-1E0BB4118E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031468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1C01A4B0-BC40-4F18-8B20-97799618A0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71835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4992143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615">
          <p15:clr>
            <a:srgbClr val="F26B43"/>
          </p15:clr>
        </p15:guide>
        <p15:guide id="4" pos="1391">
          <p15:clr>
            <a:srgbClr val="F26B43"/>
          </p15:clr>
        </p15:guide>
        <p15:guide id="5" pos="166">
          <p15:clr>
            <a:srgbClr val="F26B43"/>
          </p15:clr>
        </p15:guide>
        <p15:guide id="6" pos="6289">
          <p15:clr>
            <a:srgbClr val="F26B43"/>
          </p15:clr>
        </p15:guide>
        <p15:guide id="7" pos="5065">
          <p15:clr>
            <a:srgbClr val="F26B43"/>
          </p15:clr>
        </p15:guide>
        <p15:guide id="8" pos="7514">
          <p15:clr>
            <a:srgbClr val="F26B43"/>
          </p15:clr>
        </p15:guide>
        <p15:guide id="9" orient="horz" pos="164">
          <p15:clr>
            <a:srgbClr val="F26B43"/>
          </p15:clr>
        </p15:guide>
        <p15:guide id="10" orient="horz" pos="415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Montserrat" pitchFamily="2" charset="77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57574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 hidden="1">
            <a:extLst>
              <a:ext uri="{FF2B5EF4-FFF2-40B4-BE49-F238E27FC236}">
                <a16:creationId xmlns:a16="http://schemas.microsoft.com/office/drawing/2014/main" id="{E50A4CC3-BFDB-4B77-8F63-005DB8232033}"/>
              </a:ext>
            </a:extLst>
          </p:cNvPr>
          <p:cNvGrpSpPr/>
          <p:nvPr/>
        </p:nvGrpSpPr>
        <p:grpSpPr>
          <a:xfrm>
            <a:off x="0" y="-17400"/>
            <a:ext cx="12192000" cy="6875400"/>
            <a:chOff x="0" y="-17400"/>
            <a:chExt cx="12192000" cy="68754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D6324FE-D941-45EF-9929-5D46F41A9B92}"/>
                </a:ext>
              </a:extLst>
            </p:cNvPr>
            <p:cNvSpPr/>
            <p:nvPr userDrawn="1"/>
          </p:nvSpPr>
          <p:spPr>
            <a:xfrm>
              <a:off x="0" y="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05594AA3-ABDF-440A-A505-6DDA80F001BA}"/>
                </a:ext>
              </a:extLst>
            </p:cNvPr>
            <p:cNvSpPr/>
            <p:nvPr userDrawn="1"/>
          </p:nvSpPr>
          <p:spPr>
            <a:xfrm>
              <a:off x="11922000" y="658800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3E8FDC0D-7C8C-4300-8F51-9F707F3E8C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000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F43DCD2A-D5A6-44DF-86B8-15C2BD778A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2199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70E0C901-3734-4284-B5EC-4B637B50D1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70000"/>
              <a:ext cx="12192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29276B90-789C-4D17-B99D-02DE4D65CDC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588000"/>
              <a:ext cx="12184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3EBBA3ED-68B1-4B23-871E-0CE465296B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10367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6C167569-7CEB-4CC8-A914-ECF6CCDA65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50734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9367FDD1-89B3-4FF9-BEDE-737797A7D8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1101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D600F7D6-B867-4BCE-AEF9-1E0BB4118E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031468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1C01A4B0-BC40-4F18-8B20-97799618A0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71835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Группа 23" hidden="1">
            <a:extLst>
              <a:ext uri="{FF2B5EF4-FFF2-40B4-BE49-F238E27FC236}">
                <a16:creationId xmlns:a16="http://schemas.microsoft.com/office/drawing/2014/main" id="{F34AE9FE-61F9-4B1D-BB11-DF3A77BC895E}"/>
              </a:ext>
            </a:extLst>
          </p:cNvPr>
          <p:cNvGrpSpPr/>
          <p:nvPr/>
        </p:nvGrpSpPr>
        <p:grpSpPr>
          <a:xfrm>
            <a:off x="0" y="-17400"/>
            <a:ext cx="12192000" cy="6875400"/>
            <a:chOff x="0" y="-17400"/>
            <a:chExt cx="12192000" cy="68754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6" name="Прямоугольник 6">
              <a:extLst>
                <a:ext uri="{FF2B5EF4-FFF2-40B4-BE49-F238E27FC236}">
                  <a16:creationId xmlns:a16="http://schemas.microsoft.com/office/drawing/2014/main" id="{5F2A5376-5117-4EA1-A14C-BB6D77403D04}"/>
                </a:ext>
              </a:extLst>
            </p:cNvPr>
            <p:cNvSpPr/>
            <p:nvPr userDrawn="1"/>
          </p:nvSpPr>
          <p:spPr>
            <a:xfrm>
              <a:off x="0" y="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Прямоугольник 7">
              <a:extLst>
                <a:ext uri="{FF2B5EF4-FFF2-40B4-BE49-F238E27FC236}">
                  <a16:creationId xmlns:a16="http://schemas.microsoft.com/office/drawing/2014/main" id="{2F586448-E1B2-4704-837C-4956B0F9FB12}"/>
                </a:ext>
              </a:extLst>
            </p:cNvPr>
            <p:cNvSpPr/>
            <p:nvPr userDrawn="1"/>
          </p:nvSpPr>
          <p:spPr>
            <a:xfrm>
              <a:off x="11922000" y="658800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25" name="Прямая соединительная линия 9">
              <a:extLst>
                <a:ext uri="{FF2B5EF4-FFF2-40B4-BE49-F238E27FC236}">
                  <a16:creationId xmlns:a16="http://schemas.microsoft.com/office/drawing/2014/main" id="{CA9C90DF-5143-4821-89B1-DAF1A1D5D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000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11">
              <a:extLst>
                <a:ext uri="{FF2B5EF4-FFF2-40B4-BE49-F238E27FC236}">
                  <a16:creationId xmlns:a16="http://schemas.microsoft.com/office/drawing/2014/main" id="{C2A6D6A9-B879-4176-8599-D0172360BB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2199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единительная линия 13">
              <a:extLst>
                <a:ext uri="{FF2B5EF4-FFF2-40B4-BE49-F238E27FC236}">
                  <a16:creationId xmlns:a16="http://schemas.microsoft.com/office/drawing/2014/main" id="{68AA51D7-191B-4C79-9641-1A508AE7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70000"/>
              <a:ext cx="12192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16">
              <a:extLst>
                <a:ext uri="{FF2B5EF4-FFF2-40B4-BE49-F238E27FC236}">
                  <a16:creationId xmlns:a16="http://schemas.microsoft.com/office/drawing/2014/main" id="{A83A84FF-F93C-43E0-8FD0-B88184E4E0A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588000"/>
              <a:ext cx="12184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18">
              <a:extLst>
                <a:ext uri="{FF2B5EF4-FFF2-40B4-BE49-F238E27FC236}">
                  <a16:creationId xmlns:a16="http://schemas.microsoft.com/office/drawing/2014/main" id="{9B6ECACE-92FA-4F7A-AE11-EF8159CA287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10367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19">
              <a:extLst>
                <a:ext uri="{FF2B5EF4-FFF2-40B4-BE49-F238E27FC236}">
                  <a16:creationId xmlns:a16="http://schemas.microsoft.com/office/drawing/2014/main" id="{FDEF3FB5-A1F7-4087-B9D3-A43FAA6F8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50734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20">
              <a:extLst>
                <a:ext uri="{FF2B5EF4-FFF2-40B4-BE49-F238E27FC236}">
                  <a16:creationId xmlns:a16="http://schemas.microsoft.com/office/drawing/2014/main" id="{36EF1FA6-A2F0-400B-92FC-91BDEF469E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1101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21">
              <a:extLst>
                <a:ext uri="{FF2B5EF4-FFF2-40B4-BE49-F238E27FC236}">
                  <a16:creationId xmlns:a16="http://schemas.microsoft.com/office/drawing/2014/main" id="{27FB44C0-2D0D-4FC3-AA6F-DD335BEDDB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031468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22">
              <a:extLst>
                <a:ext uri="{FF2B5EF4-FFF2-40B4-BE49-F238E27FC236}">
                  <a16:creationId xmlns:a16="http://schemas.microsoft.com/office/drawing/2014/main" id="{02C2F1F2-4D3F-4D72-A47E-479B36E6EE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71835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Группа 23" hidden="1">
            <a:extLst>
              <a:ext uri="{FF2B5EF4-FFF2-40B4-BE49-F238E27FC236}">
                <a16:creationId xmlns:a16="http://schemas.microsoft.com/office/drawing/2014/main" id="{99D601B3-C713-472F-BC96-97BCE85F785B}"/>
              </a:ext>
            </a:extLst>
          </p:cNvPr>
          <p:cNvGrpSpPr/>
          <p:nvPr/>
        </p:nvGrpSpPr>
        <p:grpSpPr>
          <a:xfrm>
            <a:off x="0" y="-17400"/>
            <a:ext cx="12192000" cy="6875400"/>
            <a:chOff x="0" y="-17400"/>
            <a:chExt cx="12192000" cy="68754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5" name="Прямоугольник 6">
              <a:extLst>
                <a:ext uri="{FF2B5EF4-FFF2-40B4-BE49-F238E27FC236}">
                  <a16:creationId xmlns:a16="http://schemas.microsoft.com/office/drawing/2014/main" id="{C30985C6-5E03-4C62-A3A7-76D5BFE658B4}"/>
                </a:ext>
              </a:extLst>
            </p:cNvPr>
            <p:cNvSpPr/>
            <p:nvPr userDrawn="1"/>
          </p:nvSpPr>
          <p:spPr>
            <a:xfrm>
              <a:off x="0" y="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6" name="Прямоугольник 7">
              <a:extLst>
                <a:ext uri="{FF2B5EF4-FFF2-40B4-BE49-F238E27FC236}">
                  <a16:creationId xmlns:a16="http://schemas.microsoft.com/office/drawing/2014/main" id="{22768310-724D-457F-B839-C1F9F69BF85E}"/>
                </a:ext>
              </a:extLst>
            </p:cNvPr>
            <p:cNvSpPr/>
            <p:nvPr userDrawn="1"/>
          </p:nvSpPr>
          <p:spPr>
            <a:xfrm>
              <a:off x="11922000" y="658800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37" name="Прямая соединительная линия 9">
              <a:extLst>
                <a:ext uri="{FF2B5EF4-FFF2-40B4-BE49-F238E27FC236}">
                  <a16:creationId xmlns:a16="http://schemas.microsoft.com/office/drawing/2014/main" id="{57E4898B-1F37-43F7-BB20-A6FC402597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000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11">
              <a:extLst>
                <a:ext uri="{FF2B5EF4-FFF2-40B4-BE49-F238E27FC236}">
                  <a16:creationId xmlns:a16="http://schemas.microsoft.com/office/drawing/2014/main" id="{3488C20E-9A7C-4A79-AF3F-F67D750ECC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2199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13">
              <a:extLst>
                <a:ext uri="{FF2B5EF4-FFF2-40B4-BE49-F238E27FC236}">
                  <a16:creationId xmlns:a16="http://schemas.microsoft.com/office/drawing/2014/main" id="{82D2B64D-B5DC-4E88-99A1-D22D7A7DA11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70000"/>
              <a:ext cx="12192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16">
              <a:extLst>
                <a:ext uri="{FF2B5EF4-FFF2-40B4-BE49-F238E27FC236}">
                  <a16:creationId xmlns:a16="http://schemas.microsoft.com/office/drawing/2014/main" id="{4FBDFBF7-6806-4DCD-BC56-C56FB672A67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588000"/>
              <a:ext cx="12184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18">
              <a:extLst>
                <a:ext uri="{FF2B5EF4-FFF2-40B4-BE49-F238E27FC236}">
                  <a16:creationId xmlns:a16="http://schemas.microsoft.com/office/drawing/2014/main" id="{0FFA5269-B344-4BD0-8DF1-8FDA276BA2D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10367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19">
              <a:extLst>
                <a:ext uri="{FF2B5EF4-FFF2-40B4-BE49-F238E27FC236}">
                  <a16:creationId xmlns:a16="http://schemas.microsoft.com/office/drawing/2014/main" id="{FE457AF5-F318-41E8-AC09-3A090650A0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50734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20">
              <a:extLst>
                <a:ext uri="{FF2B5EF4-FFF2-40B4-BE49-F238E27FC236}">
                  <a16:creationId xmlns:a16="http://schemas.microsoft.com/office/drawing/2014/main" id="{1AB5B3EE-1F64-4BBB-8994-2BFF6426C8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1101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21">
              <a:extLst>
                <a:ext uri="{FF2B5EF4-FFF2-40B4-BE49-F238E27FC236}">
                  <a16:creationId xmlns:a16="http://schemas.microsoft.com/office/drawing/2014/main" id="{B9FA4AA9-BBAD-4193-A355-525D314F46D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031468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22">
              <a:extLst>
                <a:ext uri="{FF2B5EF4-FFF2-40B4-BE49-F238E27FC236}">
                  <a16:creationId xmlns:a16="http://schemas.microsoft.com/office/drawing/2014/main" id="{FD75E0F6-6A31-4A5D-9932-4ED918993C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71835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256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7" r:id="rId3"/>
    <p:sldLayoutId id="2147483787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3840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2615">
          <p15:clr>
            <a:srgbClr val="F26B43"/>
          </p15:clr>
        </p15:guide>
        <p15:guide id="24" pos="1391">
          <p15:clr>
            <a:srgbClr val="F26B43"/>
          </p15:clr>
        </p15:guide>
        <p15:guide id="25" pos="166">
          <p15:clr>
            <a:srgbClr val="F26B43"/>
          </p15:clr>
        </p15:guide>
        <p15:guide id="26" pos="6289">
          <p15:clr>
            <a:srgbClr val="F26B43"/>
          </p15:clr>
        </p15:guide>
        <p15:guide id="27" pos="5065">
          <p15:clr>
            <a:srgbClr val="F26B43"/>
          </p15:clr>
        </p15:guide>
        <p15:guide id="28" pos="7514">
          <p15:clr>
            <a:srgbClr val="F26B43"/>
          </p15:clr>
        </p15:guide>
        <p15:guide id="29" orient="horz" pos="164">
          <p15:clr>
            <a:srgbClr val="F26B43"/>
          </p15:clr>
        </p15:guide>
        <p15:guide id="30" orient="horz" pos="415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 hidden="1">
            <a:extLst>
              <a:ext uri="{FF2B5EF4-FFF2-40B4-BE49-F238E27FC236}">
                <a16:creationId xmlns:a16="http://schemas.microsoft.com/office/drawing/2014/main" id="{E50A4CC3-BFDB-4B77-8F63-005DB8232033}"/>
              </a:ext>
            </a:extLst>
          </p:cNvPr>
          <p:cNvGrpSpPr/>
          <p:nvPr userDrawn="1"/>
        </p:nvGrpSpPr>
        <p:grpSpPr>
          <a:xfrm>
            <a:off x="0" y="-17400"/>
            <a:ext cx="12192000" cy="6875400"/>
            <a:chOff x="0" y="-17400"/>
            <a:chExt cx="12192000" cy="68754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D6324FE-D941-45EF-9929-5D46F41A9B92}"/>
                </a:ext>
              </a:extLst>
            </p:cNvPr>
            <p:cNvSpPr/>
            <p:nvPr userDrawn="1"/>
          </p:nvSpPr>
          <p:spPr>
            <a:xfrm>
              <a:off x="0" y="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05594AA3-ABDF-440A-A505-6DDA80F001BA}"/>
                </a:ext>
              </a:extLst>
            </p:cNvPr>
            <p:cNvSpPr/>
            <p:nvPr userDrawn="1"/>
          </p:nvSpPr>
          <p:spPr>
            <a:xfrm>
              <a:off x="11922000" y="658800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3E8FDC0D-7C8C-4300-8F51-9F707F3E8C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000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F43DCD2A-D5A6-44DF-86B8-15C2BD778A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2199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70E0C901-3734-4284-B5EC-4B637B50D1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70000"/>
              <a:ext cx="12192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29276B90-789C-4D17-B99D-02DE4D65CDC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588000"/>
              <a:ext cx="12184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3EBBA3ED-68B1-4B23-871E-0CE465296B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10367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6C167569-7CEB-4CC8-A914-ECF6CCDA65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50734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9367FDD1-89B3-4FF9-BEDE-737797A7D8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1101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D600F7D6-B867-4BCE-AEF9-1E0BB4118E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031468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1C01A4B0-BC40-4F18-8B20-97799618A0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71835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0662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807" r:id="rId17"/>
    <p:sldLayoutId id="2147483851" r:id="rId18"/>
    <p:sldLayoutId id="2147483958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615">
          <p15:clr>
            <a:srgbClr val="F26B43"/>
          </p15:clr>
        </p15:guide>
        <p15:guide id="4" pos="1391">
          <p15:clr>
            <a:srgbClr val="F26B43"/>
          </p15:clr>
        </p15:guide>
        <p15:guide id="5" pos="166">
          <p15:clr>
            <a:srgbClr val="F26B43"/>
          </p15:clr>
        </p15:guide>
        <p15:guide id="6" pos="6289">
          <p15:clr>
            <a:srgbClr val="F26B43"/>
          </p15:clr>
        </p15:guide>
        <p15:guide id="7" pos="5065">
          <p15:clr>
            <a:srgbClr val="F26B43"/>
          </p15:clr>
        </p15:guide>
        <p15:guide id="8" pos="7514">
          <p15:clr>
            <a:srgbClr val="F26B43"/>
          </p15:clr>
        </p15:guide>
        <p15:guide id="9" orient="horz" pos="164">
          <p15:clr>
            <a:srgbClr val="F26B43"/>
          </p15:clr>
        </p15:guide>
        <p15:guide id="10" orient="horz" pos="415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666F4F8-5B10-44D7-9B4F-C935C0D48F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2591587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95" imgH="394" progId="TCLayout.ActiveDocument.1">
                  <p:embed/>
                </p:oleObj>
              </mc:Choice>
              <mc:Fallback>
                <p:oleObj name="think-cell Slide" r:id="rId22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666F4F8-5B10-44D7-9B4F-C935C0D48F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" name="Slide Number Placeholder 5">
            <a:extLst>
              <a:ext uri="{FF2B5EF4-FFF2-40B4-BE49-F238E27FC236}">
                <a16:creationId xmlns:a16="http://schemas.microsoft.com/office/drawing/2014/main" id="{F27DDACA-A080-4531-A5DC-80AE2829B18E}"/>
              </a:ext>
            </a:extLst>
          </p:cNvPr>
          <p:cNvSpPr txBox="1">
            <a:spLocks/>
          </p:cNvSpPr>
          <p:nvPr userDrawn="1"/>
        </p:nvSpPr>
        <p:spPr>
          <a:xfrm>
            <a:off x="0" y="-92891"/>
            <a:ext cx="1069771" cy="61555"/>
          </a:xfrm>
          <a:prstGeom prst="rect">
            <a:avLst/>
          </a:prstGeom>
          <a:solidFill>
            <a:srgbClr val="F2F2F2"/>
          </a:solidFill>
        </p:spPr>
        <p:txBody>
          <a:bodyPr vert="horz" wrap="none" lIns="36000" tIns="0" rIns="36000" bIns="0" rtlCol="0" anchor="ctr" anchorCtr="0">
            <a:sp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400" b="1" dirty="0">
                <a:solidFill>
                  <a:srgbClr val="363636"/>
                </a:solidFill>
              </a:rPr>
              <a:t>© 202</a:t>
            </a:r>
            <a:r>
              <a:rPr lang="en-US" sz="400" b="1" dirty="0">
                <a:solidFill>
                  <a:srgbClr val="363636"/>
                </a:solidFill>
              </a:rPr>
              <a:t>3</a:t>
            </a:r>
            <a:r>
              <a:rPr lang="ru-RU" sz="400" b="1" dirty="0">
                <a:solidFill>
                  <a:srgbClr val="363636"/>
                </a:solidFill>
              </a:rPr>
              <a:t> ООО «АксТим»</a:t>
            </a:r>
            <a:r>
              <a:rPr lang="en-US" sz="400" b="1" dirty="0">
                <a:solidFill>
                  <a:srgbClr val="363636"/>
                </a:solidFill>
              </a:rPr>
              <a:t> \ </a:t>
            </a:r>
            <a:r>
              <a:rPr lang="en-US" sz="400" dirty="0">
                <a:solidFill>
                  <a:srgbClr val="363636"/>
                </a:solidFill>
              </a:rPr>
              <a:t>230</a:t>
            </a:r>
            <a:r>
              <a:rPr lang="ru-RU" sz="400" dirty="0">
                <a:solidFill>
                  <a:srgbClr val="363636"/>
                </a:solidFill>
              </a:rPr>
              <a:t>9</a:t>
            </a:r>
            <a:r>
              <a:rPr lang="en-US" sz="400" dirty="0">
                <a:solidFill>
                  <a:srgbClr val="363636"/>
                </a:solidFill>
              </a:rPr>
              <a:t>1</a:t>
            </a:r>
            <a:r>
              <a:rPr lang="ru-RU" sz="400" dirty="0">
                <a:solidFill>
                  <a:srgbClr val="363636"/>
                </a:solidFill>
              </a:rPr>
              <a:t>9</a:t>
            </a:r>
            <a:r>
              <a:rPr lang="en-US" sz="400" dirty="0">
                <a:solidFill>
                  <a:srgbClr val="363636"/>
                </a:solidFill>
              </a:rPr>
              <a:t>.</a:t>
            </a:r>
            <a:r>
              <a:rPr lang="ru-RU" sz="400" dirty="0">
                <a:solidFill>
                  <a:srgbClr val="363636"/>
                </a:solidFill>
              </a:rPr>
              <a:t>1000</a:t>
            </a:r>
            <a:r>
              <a:rPr lang="en-US" sz="400" dirty="0">
                <a:solidFill>
                  <a:srgbClr val="363636"/>
                </a:solidFill>
              </a:rPr>
              <a:t> AK</a:t>
            </a:r>
            <a:endParaRPr lang="ru-RU" sz="400" dirty="0">
              <a:solidFill>
                <a:srgbClr val="363636"/>
              </a:solidFill>
            </a:endParaRP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1B215B41-4E90-4289-A639-040508614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" y="1825625"/>
            <a:ext cx="11288602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  <a:endParaRPr lang="ru-RU"/>
          </a:p>
        </p:txBody>
      </p:sp>
      <p:sp>
        <p:nvSpPr>
          <p:cNvPr id="62" name="Slide Number Placeholder 5">
            <a:extLst>
              <a:ext uri="{FF2B5EF4-FFF2-40B4-BE49-F238E27FC236}">
                <a16:creationId xmlns:a16="http://schemas.microsoft.com/office/drawing/2014/main" id="{0CF9E731-7C62-4AC2-BD3D-30BA26436EC3}"/>
              </a:ext>
            </a:extLst>
          </p:cNvPr>
          <p:cNvSpPr txBox="1">
            <a:spLocks/>
          </p:cNvSpPr>
          <p:nvPr userDrawn="1"/>
        </p:nvSpPr>
        <p:spPr>
          <a:xfrm>
            <a:off x="450850" y="6588000"/>
            <a:ext cx="2880000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tx1"/>
                </a:solidFill>
              </a:rPr>
              <a:t>AXENIX </a:t>
            </a:r>
            <a:r>
              <a:rPr lang="ru-RU" dirty="0">
                <a:solidFill>
                  <a:schemeClr val="tx1"/>
                </a:solidFill>
              </a:rPr>
              <a:t>© ООО «АксТим»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974AC7-DB6D-4644-82F1-AC24E561BDC4}"/>
              </a:ext>
            </a:extLst>
          </p:cNvPr>
          <p:cNvGrpSpPr/>
          <p:nvPr userDrawn="1"/>
        </p:nvGrpSpPr>
        <p:grpSpPr>
          <a:xfrm>
            <a:off x="11480085" y="271463"/>
            <a:ext cx="262653" cy="352106"/>
            <a:chOff x="693246" y="360000"/>
            <a:chExt cx="406344" cy="544734"/>
          </a:xfrm>
          <a:solidFill>
            <a:srgbClr val="F05626"/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548E189-523C-40B3-A214-9A20F489D1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3246" y="360000"/>
              <a:ext cx="406344" cy="544734"/>
            </a:xfrm>
            <a:custGeom>
              <a:avLst/>
              <a:gdLst>
                <a:gd name="T0" fmla="*/ 535 w 3625"/>
                <a:gd name="T1" fmla="*/ 4303 h 4860"/>
                <a:gd name="T2" fmla="*/ 459 w 3625"/>
                <a:gd name="T3" fmla="*/ 4139 h 4860"/>
                <a:gd name="T4" fmla="*/ 435 w 3625"/>
                <a:gd name="T5" fmla="*/ 3604 h 4860"/>
                <a:gd name="T6" fmla="*/ 718 w 3625"/>
                <a:gd name="T7" fmla="*/ 3134 h 4860"/>
                <a:gd name="T8" fmla="*/ 3624 w 3625"/>
                <a:gd name="T9" fmla="*/ 518 h 4860"/>
                <a:gd name="T10" fmla="*/ 3624 w 3625"/>
                <a:gd name="T11" fmla="*/ 0 h 4860"/>
                <a:gd name="T12" fmla="*/ 461 w 3625"/>
                <a:gd name="T13" fmla="*/ 2848 h 4860"/>
                <a:gd name="T14" fmla="*/ 148 w 3625"/>
                <a:gd name="T15" fmla="*/ 3271 h 4860"/>
                <a:gd name="T16" fmla="*/ 36 w 3625"/>
                <a:gd name="T17" fmla="*/ 4016 h 4860"/>
                <a:gd name="T18" fmla="*/ 363 w 3625"/>
                <a:gd name="T19" fmla="*/ 4717 h 4860"/>
                <a:gd name="T20" fmla="*/ 363 w 3625"/>
                <a:gd name="T21" fmla="*/ 4717 h 4860"/>
                <a:gd name="T22" fmla="*/ 493 w 3625"/>
                <a:gd name="T23" fmla="*/ 4860 h 4860"/>
                <a:gd name="T24" fmla="*/ 3625 w 3625"/>
                <a:gd name="T25" fmla="*/ 2040 h 4860"/>
                <a:gd name="T26" fmla="*/ 3625 w 3625"/>
                <a:gd name="T27" fmla="*/ 1522 h 4860"/>
                <a:gd name="T28" fmla="*/ 535 w 3625"/>
                <a:gd name="T29" fmla="*/ 4303 h 4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25" h="4860">
                  <a:moveTo>
                    <a:pt x="535" y="4303"/>
                  </a:moveTo>
                  <a:cubicBezTo>
                    <a:pt x="505" y="4250"/>
                    <a:pt x="479" y="4195"/>
                    <a:pt x="459" y="4139"/>
                  </a:cubicBezTo>
                  <a:cubicBezTo>
                    <a:pt x="399" y="3966"/>
                    <a:pt x="392" y="3780"/>
                    <a:pt x="435" y="3604"/>
                  </a:cubicBezTo>
                  <a:cubicBezTo>
                    <a:pt x="479" y="3428"/>
                    <a:pt x="573" y="3264"/>
                    <a:pt x="718" y="3134"/>
                  </a:cubicBezTo>
                  <a:cubicBezTo>
                    <a:pt x="3624" y="518"/>
                    <a:pt x="3624" y="518"/>
                    <a:pt x="3624" y="518"/>
                  </a:cubicBezTo>
                  <a:cubicBezTo>
                    <a:pt x="3624" y="0"/>
                    <a:pt x="3624" y="0"/>
                    <a:pt x="3624" y="0"/>
                  </a:cubicBezTo>
                  <a:cubicBezTo>
                    <a:pt x="461" y="2848"/>
                    <a:pt x="461" y="2848"/>
                    <a:pt x="461" y="2848"/>
                  </a:cubicBezTo>
                  <a:cubicBezTo>
                    <a:pt x="326" y="2970"/>
                    <a:pt x="220" y="3115"/>
                    <a:pt x="148" y="3271"/>
                  </a:cubicBezTo>
                  <a:cubicBezTo>
                    <a:pt x="38" y="3505"/>
                    <a:pt x="0" y="3764"/>
                    <a:pt x="36" y="4016"/>
                  </a:cubicBezTo>
                  <a:cubicBezTo>
                    <a:pt x="71" y="4268"/>
                    <a:pt x="180" y="4514"/>
                    <a:pt x="363" y="4717"/>
                  </a:cubicBezTo>
                  <a:cubicBezTo>
                    <a:pt x="363" y="4717"/>
                    <a:pt x="363" y="4717"/>
                    <a:pt x="363" y="4717"/>
                  </a:cubicBezTo>
                  <a:cubicBezTo>
                    <a:pt x="493" y="4860"/>
                    <a:pt x="493" y="4860"/>
                    <a:pt x="493" y="4860"/>
                  </a:cubicBezTo>
                  <a:cubicBezTo>
                    <a:pt x="3625" y="2040"/>
                    <a:pt x="3625" y="2040"/>
                    <a:pt x="3625" y="2040"/>
                  </a:cubicBezTo>
                  <a:cubicBezTo>
                    <a:pt x="3625" y="1522"/>
                    <a:pt x="3625" y="1522"/>
                    <a:pt x="3625" y="1522"/>
                  </a:cubicBezTo>
                  <a:lnTo>
                    <a:pt x="535" y="4303"/>
                  </a:lnTo>
                  <a:close/>
                </a:path>
              </a:pathLst>
            </a:custGeom>
            <a:solidFill>
              <a:srgbClr val="F37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FC9B414-D45F-4E02-A022-604B9E5493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6681" y="705045"/>
              <a:ext cx="221980" cy="199689"/>
            </a:xfrm>
            <a:custGeom>
              <a:avLst/>
              <a:gdLst>
                <a:gd name="T0" fmla="*/ 0 w 478"/>
                <a:gd name="T1" fmla="*/ 430 h 430"/>
                <a:gd name="T2" fmla="*/ 140 w 478"/>
                <a:gd name="T3" fmla="*/ 430 h 430"/>
                <a:gd name="T4" fmla="*/ 478 w 478"/>
                <a:gd name="T5" fmla="*/ 125 h 430"/>
                <a:gd name="T6" fmla="*/ 478 w 478"/>
                <a:gd name="T7" fmla="*/ 0 h 430"/>
                <a:gd name="T8" fmla="*/ 0 w 478"/>
                <a:gd name="T9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430">
                  <a:moveTo>
                    <a:pt x="0" y="430"/>
                  </a:moveTo>
                  <a:lnTo>
                    <a:pt x="140" y="430"/>
                  </a:lnTo>
                  <a:lnTo>
                    <a:pt x="478" y="125"/>
                  </a:lnTo>
                  <a:lnTo>
                    <a:pt x="478" y="0"/>
                  </a:lnTo>
                  <a:lnTo>
                    <a:pt x="0" y="430"/>
                  </a:lnTo>
                  <a:close/>
                </a:path>
              </a:pathLst>
            </a:custGeom>
            <a:solidFill>
              <a:srgbClr val="F37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49524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  <p:sldLayoutId id="2147483846" r:id="rId17"/>
    <p:sldLayoutId id="2147483847" r:id="rId18"/>
    <p:sldLayoutId id="2147483848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1">
          <p15:clr>
            <a:srgbClr val="F26B43"/>
          </p15:clr>
        </p15:guide>
        <p15:guide id="2" pos="284">
          <p15:clr>
            <a:srgbClr val="F26B43"/>
          </p15:clr>
        </p15:guide>
        <p15:guide id="3" orient="horz" pos="906">
          <p15:clr>
            <a:srgbClr val="FBAE40"/>
          </p15:clr>
        </p15:guide>
        <p15:guide id="4" orient="horz" pos="4094">
          <p15:clr>
            <a:srgbClr val="F26B43"/>
          </p15:clr>
        </p15:guide>
        <p15:guide id="5" pos="7397">
          <p15:clr>
            <a:srgbClr val="F26B43"/>
          </p15:clr>
        </p15:guide>
        <p15:guide id="6" orient="horz" pos="567">
          <p15:clr>
            <a:srgbClr val="F26B43"/>
          </p15:clr>
        </p15:guide>
        <p15:guide id="7" orient="horz" pos="3981">
          <p15:clr>
            <a:srgbClr val="FBAE40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 hidden="1">
            <a:extLst>
              <a:ext uri="{FF2B5EF4-FFF2-40B4-BE49-F238E27FC236}">
                <a16:creationId xmlns:a16="http://schemas.microsoft.com/office/drawing/2014/main" id="{E50A4CC3-BFDB-4B77-8F63-005DB8232033}"/>
              </a:ext>
            </a:extLst>
          </p:cNvPr>
          <p:cNvGrpSpPr/>
          <p:nvPr userDrawn="1"/>
        </p:nvGrpSpPr>
        <p:grpSpPr>
          <a:xfrm>
            <a:off x="0" y="-17400"/>
            <a:ext cx="12192000" cy="6875400"/>
            <a:chOff x="0" y="-17400"/>
            <a:chExt cx="12192000" cy="68754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D6324FE-D941-45EF-9929-5D46F41A9B92}"/>
                </a:ext>
              </a:extLst>
            </p:cNvPr>
            <p:cNvSpPr/>
            <p:nvPr userDrawn="1"/>
          </p:nvSpPr>
          <p:spPr>
            <a:xfrm>
              <a:off x="0" y="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05594AA3-ABDF-440A-A505-6DDA80F001BA}"/>
                </a:ext>
              </a:extLst>
            </p:cNvPr>
            <p:cNvSpPr/>
            <p:nvPr userDrawn="1"/>
          </p:nvSpPr>
          <p:spPr>
            <a:xfrm>
              <a:off x="11922000" y="658800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3E8FDC0D-7C8C-4300-8F51-9F707F3E8C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000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F43DCD2A-D5A6-44DF-86B8-15C2BD778A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2199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70E0C901-3734-4284-B5EC-4B637B50D1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70000"/>
              <a:ext cx="12192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29276B90-789C-4D17-B99D-02DE4D65CDC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588000"/>
              <a:ext cx="12184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3EBBA3ED-68B1-4B23-871E-0CE465296B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10367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6C167569-7CEB-4CC8-A914-ECF6CCDA65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50734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9367FDD1-89B3-4FF9-BEDE-737797A7D8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1101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D600F7D6-B867-4BCE-AEF9-1E0BB4118E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031468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1C01A4B0-BC40-4F18-8B20-97799618A0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71835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6794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  <p:sldLayoutId id="2147483869" r:id="rId15"/>
    <p:sldLayoutId id="2147483870" r:id="rId16"/>
    <p:sldLayoutId id="2147483871" r:id="rId17"/>
    <p:sldLayoutId id="2147483872" r:id="rId18"/>
    <p:sldLayoutId id="2147483873" r:id="rId19"/>
    <p:sldLayoutId id="2147483874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615">
          <p15:clr>
            <a:srgbClr val="F26B43"/>
          </p15:clr>
        </p15:guide>
        <p15:guide id="4" pos="1391">
          <p15:clr>
            <a:srgbClr val="F26B43"/>
          </p15:clr>
        </p15:guide>
        <p15:guide id="5" pos="166">
          <p15:clr>
            <a:srgbClr val="F26B43"/>
          </p15:clr>
        </p15:guide>
        <p15:guide id="6" pos="6289">
          <p15:clr>
            <a:srgbClr val="F26B43"/>
          </p15:clr>
        </p15:guide>
        <p15:guide id="7" pos="5065">
          <p15:clr>
            <a:srgbClr val="F26B43"/>
          </p15:clr>
        </p15:guide>
        <p15:guide id="8" pos="7514">
          <p15:clr>
            <a:srgbClr val="F26B43"/>
          </p15:clr>
        </p15:guide>
        <p15:guide id="9" orient="horz" pos="164">
          <p15:clr>
            <a:srgbClr val="F26B43"/>
          </p15:clr>
        </p15:guide>
        <p15:guide id="10" orient="horz" pos="41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9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4.emf"/><Relationship Id="rId10" Type="http://schemas.openxmlformats.org/officeDocument/2006/relationships/image" Target="../media/image23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0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14.emf"/><Relationship Id="rId10" Type="http://schemas.openxmlformats.org/officeDocument/2006/relationships/image" Target="../media/image32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38.png"/><Relationship Id="rId4" Type="http://schemas.openxmlformats.org/officeDocument/2006/relationships/image" Target="../media/image34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51E76A74-E18A-47F4-BCDA-0AA0C52852B1}"/>
              </a:ext>
            </a:extLst>
          </p:cNvPr>
          <p:cNvCxnSpPr>
            <a:cxnSpLocks/>
          </p:cNvCxnSpPr>
          <p:nvPr/>
        </p:nvCxnSpPr>
        <p:spPr>
          <a:xfrm>
            <a:off x="5368122" y="1137009"/>
            <a:ext cx="682158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A5438F0D-7B57-400F-8E51-BDB1FED98627}"/>
              </a:ext>
            </a:extLst>
          </p:cNvPr>
          <p:cNvCxnSpPr>
            <a:cxnSpLocks/>
          </p:cNvCxnSpPr>
          <p:nvPr/>
        </p:nvCxnSpPr>
        <p:spPr>
          <a:xfrm>
            <a:off x="3296920" y="1115718"/>
            <a:ext cx="619760" cy="0"/>
          </a:xfrm>
          <a:prstGeom prst="line">
            <a:avLst/>
          </a:prstGeom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F77806-69F5-4DBB-8151-E4FB8C86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Типовой процесс интегрированного планирования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BC47E-7856-49AD-8F56-95E8318D88CF}"/>
              </a:ext>
            </a:extLst>
          </p:cNvPr>
          <p:cNvSpPr txBox="1"/>
          <p:nvPr/>
        </p:nvSpPr>
        <p:spPr>
          <a:xfrm>
            <a:off x="2559989" y="2808658"/>
            <a:ext cx="2064262" cy="2092881"/>
          </a:xfrm>
          <a:prstGeom prst="rect">
            <a:avLst/>
          </a:prstGeom>
          <a:noFill/>
        </p:spPr>
        <p:txBody>
          <a:bodyPr wrap="square" lIns="108000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000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Ведение новинки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000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Управление логистической схемой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000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Сегментация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000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Обогащение прогноза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000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Оценка точности прогнозирования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000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000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Demand Review Meeting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000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Передача неограниченного прогноза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1B84387-1E3E-4798-9430-9B3735516A12}"/>
              </a:ext>
            </a:extLst>
          </p:cNvPr>
          <p:cNvCxnSpPr>
            <a:cxnSpLocks/>
          </p:cNvCxnSpPr>
          <p:nvPr/>
        </p:nvCxnSpPr>
        <p:spPr>
          <a:xfrm>
            <a:off x="7081971" y="1115718"/>
            <a:ext cx="1232775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9BC1ABA-AB87-495A-9C58-8C914D670A1C}"/>
              </a:ext>
            </a:extLst>
          </p:cNvPr>
          <p:cNvSpPr txBox="1"/>
          <p:nvPr/>
        </p:nvSpPr>
        <p:spPr>
          <a:xfrm>
            <a:off x="6861178" y="2808658"/>
            <a:ext cx="2401433" cy="3508653"/>
          </a:xfrm>
          <a:prstGeom prst="rect">
            <a:avLst/>
          </a:prstGeom>
          <a:noFill/>
        </p:spPr>
        <p:txBody>
          <a:bodyPr wrap="square" lIns="108000" anchor="t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9A3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Первичный анализ спроса и выявление проблем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9A3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Детальная диагностика возникших дефицитов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9A3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Supply Review Meeting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9A3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Внесение корректировок для оптимизации планов (поставок и производства) и перепрогон оптимизатора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9A3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Повторный анализ скорректированного плана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9A3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9A3B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Demand &amp; Supply Reconciliation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FF9A3B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9A3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Передача </a:t>
            </a:r>
            <a:r>
              <a:rPr lang="ru-RU" sz="1100" dirty="0">
                <a:solidFill>
                  <a:srgbClr val="FFFFFF"/>
                </a:solidFill>
                <a:latin typeface="Manrope"/>
              </a:rPr>
              <a:t>согласованного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 объемного плана в модуль Планирования производства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000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0975C6-C1CF-4E9B-80AC-93207710E4BB}"/>
              </a:ext>
            </a:extLst>
          </p:cNvPr>
          <p:cNvSpPr txBox="1"/>
          <p:nvPr/>
        </p:nvSpPr>
        <p:spPr>
          <a:xfrm>
            <a:off x="4631515" y="2808658"/>
            <a:ext cx="2064262" cy="2400657"/>
          </a:xfrm>
          <a:prstGeom prst="rect">
            <a:avLst/>
          </a:prstGeom>
          <a:noFill/>
        </p:spPr>
        <p:txBody>
          <a:bodyPr wrap="square" lIns="108000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834E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Настройка параметров для расчёта уровней запасов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834E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ABC-XYZ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сегментация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834E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 Расчет рекомендаций по уровням запасов 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834E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Анализ полученных значений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834E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Пересмотр политики управления запасами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834E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Передача нормативов по запасам в модули SP/PS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000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6ADB92-172E-4E74-9027-05B94ACC851A}"/>
              </a:ext>
            </a:extLst>
          </p:cNvPr>
          <p:cNvSpPr txBox="1"/>
          <p:nvPr/>
        </p:nvSpPr>
        <p:spPr>
          <a:xfrm>
            <a:off x="3916680" y="848469"/>
            <a:ext cx="1451442" cy="57708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00FF"/>
              </a:buClr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Итоговый неограниченный прогноз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C37D85-C092-4080-BA94-3D2D1E1C674A}"/>
              </a:ext>
            </a:extLst>
          </p:cNvPr>
          <p:cNvSpPr txBox="1"/>
          <p:nvPr/>
        </p:nvSpPr>
        <p:spPr>
          <a:xfrm>
            <a:off x="6052691" y="925127"/>
            <a:ext cx="1451442" cy="4308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00FF"/>
              </a:buClr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Страховые и целевые запасы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0F1CD4-A24C-4895-BE0F-1B95B2A4E443}"/>
              </a:ext>
            </a:extLst>
          </p:cNvPr>
          <p:cNvSpPr txBox="1"/>
          <p:nvPr/>
        </p:nvSpPr>
        <p:spPr>
          <a:xfrm>
            <a:off x="8214221" y="885700"/>
            <a:ext cx="1400893" cy="57708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00FF"/>
              </a:buClr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Итоговый ограниченный прогноз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07DA89-6D44-49F9-B5E1-6D7C90F7A48C}"/>
              </a:ext>
            </a:extLst>
          </p:cNvPr>
          <p:cNvSpPr txBox="1"/>
          <p:nvPr/>
        </p:nvSpPr>
        <p:spPr>
          <a:xfrm>
            <a:off x="1753814" y="884886"/>
            <a:ext cx="1451441" cy="4308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00FF"/>
              </a:buClr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История продаж и план промо</a:t>
            </a:r>
          </a:p>
        </p:txBody>
      </p:sp>
      <p:sp>
        <p:nvSpPr>
          <p:cNvPr id="26" name="Slide Number Placeholder 1">
            <a:extLst>
              <a:ext uri="{FF2B5EF4-FFF2-40B4-BE49-F238E27FC236}">
                <a16:creationId xmlns:a16="http://schemas.microsoft.com/office/drawing/2014/main" id="{D7CD71AF-DABC-4DB7-80F7-DDFD8DB6F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8465" y="6419690"/>
            <a:ext cx="493275" cy="177960"/>
          </a:xfrm>
          <a:prstGeom prst="rect">
            <a:avLst/>
          </a:prstGeom>
        </p:spPr>
        <p:txBody>
          <a:bodyPr vert="horz" lIns="72000" tIns="36000" rIns="72000" bIns="3600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anrope" pitchFamily="2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anrope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Стрелка: шеврон 22">
            <a:extLst>
              <a:ext uri="{FF2B5EF4-FFF2-40B4-BE49-F238E27FC236}">
                <a16:creationId xmlns:a16="http://schemas.microsoft.com/office/drawing/2014/main" id="{5FDBC29C-0A5C-4EAC-9C74-B1B3DD12DA0F}"/>
              </a:ext>
            </a:extLst>
          </p:cNvPr>
          <p:cNvSpPr/>
          <p:nvPr/>
        </p:nvSpPr>
        <p:spPr>
          <a:xfrm>
            <a:off x="4811733" y="1589441"/>
            <a:ext cx="2319892" cy="1080000"/>
          </a:xfrm>
          <a:prstGeom prst="chevron">
            <a:avLst>
              <a:gd name="adj" fmla="val 2112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Мультиэшелонная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 оптимизация запасов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Multi-Echelon Inventory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Optimization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(MEIO)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4" name="Стрелка: шеврон 23">
            <a:extLst>
              <a:ext uri="{FF2B5EF4-FFF2-40B4-BE49-F238E27FC236}">
                <a16:creationId xmlns:a16="http://schemas.microsoft.com/office/drawing/2014/main" id="{43F90B2B-C211-44F4-98B9-263983F97DD5}"/>
              </a:ext>
            </a:extLst>
          </p:cNvPr>
          <p:cNvSpPr/>
          <p:nvPr/>
        </p:nvSpPr>
        <p:spPr>
          <a:xfrm>
            <a:off x="7046808" y="1589441"/>
            <a:ext cx="2215803" cy="1080000"/>
          </a:xfrm>
          <a:prstGeom prst="chevron">
            <a:avLst>
              <a:gd name="adj" fmla="val 211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Планирование сети поставок и производства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Supply Network Planning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(S</a:t>
            </a:r>
            <a:r>
              <a:rPr lang="en-US" sz="1050" dirty="0">
                <a:solidFill>
                  <a:srgbClr val="FFFFFF"/>
                </a:solidFill>
                <a:latin typeface="Manrope"/>
              </a:rPr>
              <a:t>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P)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33" name="Стрелка: шеврон 32">
            <a:extLst>
              <a:ext uri="{FF2B5EF4-FFF2-40B4-BE49-F238E27FC236}">
                <a16:creationId xmlns:a16="http://schemas.microsoft.com/office/drawing/2014/main" id="{E4B4565A-9707-4079-A3AB-1892FC11CCCC}"/>
              </a:ext>
            </a:extLst>
          </p:cNvPr>
          <p:cNvSpPr/>
          <p:nvPr/>
        </p:nvSpPr>
        <p:spPr>
          <a:xfrm>
            <a:off x="2613746" y="1589441"/>
            <a:ext cx="2282804" cy="1080000"/>
          </a:xfrm>
          <a:prstGeom prst="chevron">
            <a:avLst>
              <a:gd name="adj" fmla="val 2112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Планирование спроса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Demand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Planning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(DP)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086FC5-5992-4EA3-B8ED-A60894153BDE}"/>
              </a:ext>
            </a:extLst>
          </p:cNvPr>
          <p:cNvSpPr txBox="1"/>
          <p:nvPr/>
        </p:nvSpPr>
        <p:spPr>
          <a:xfrm>
            <a:off x="283592" y="2808658"/>
            <a:ext cx="2330154" cy="2554545"/>
          </a:xfrm>
          <a:prstGeom prst="rect">
            <a:avLst/>
          </a:prstGeom>
          <a:noFill/>
        </p:spPr>
        <p:txBody>
          <a:bodyPr wrap="square" lIns="108000" anchor="t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285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Формирование промо-планов по клиенту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285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Проработка условий и механик промо-акций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285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Интеграция с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Demand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baseline ↔ uplift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285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Расчёт промо-эффекта и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uplift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285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D2856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Проверка и согласование промо-акций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285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Оценка эффектов и экономики промо-акции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285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Контроль реализации и план-факт анализ</a:t>
            </a:r>
          </a:p>
        </p:txBody>
      </p:sp>
      <p:sp>
        <p:nvSpPr>
          <p:cNvPr id="41" name="Стрелка: шеврон 40">
            <a:extLst>
              <a:ext uri="{FF2B5EF4-FFF2-40B4-BE49-F238E27FC236}">
                <a16:creationId xmlns:a16="http://schemas.microsoft.com/office/drawing/2014/main" id="{FF1FF25B-ACFB-4D44-AB28-0F54255F2CD2}"/>
              </a:ext>
            </a:extLst>
          </p:cNvPr>
          <p:cNvSpPr/>
          <p:nvPr/>
        </p:nvSpPr>
        <p:spPr>
          <a:xfrm>
            <a:off x="368409" y="1589441"/>
            <a:ext cx="2330154" cy="1080000"/>
          </a:xfrm>
          <a:prstGeom prst="chevron">
            <a:avLst>
              <a:gd name="adj" fmla="val 2112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rgbClr val="FFFFFF"/>
                </a:solidFill>
                <a:latin typeface="Manrope"/>
              </a:rPr>
              <a:t>Планирование промо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Trade Promotion Management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(TPM)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DCFEE1-EC48-4D1E-B0A7-E443B327639F}"/>
              </a:ext>
            </a:extLst>
          </p:cNvPr>
          <p:cNvSpPr txBox="1"/>
          <p:nvPr/>
        </p:nvSpPr>
        <p:spPr>
          <a:xfrm>
            <a:off x="135699" y="977218"/>
            <a:ext cx="1451441" cy="2616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00FF"/>
              </a:buClr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История промо</a:t>
            </a:r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292D6807-C232-496C-B22C-E2C7C0E45A94}"/>
              </a:ext>
            </a:extLst>
          </p:cNvPr>
          <p:cNvCxnSpPr>
            <a:cxnSpLocks/>
          </p:cNvCxnSpPr>
          <p:nvPr/>
        </p:nvCxnSpPr>
        <p:spPr>
          <a:xfrm>
            <a:off x="1417945" y="1115718"/>
            <a:ext cx="386184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5" name="Стрелка: круговая 44">
            <a:extLst>
              <a:ext uri="{FF2B5EF4-FFF2-40B4-BE49-F238E27FC236}">
                <a16:creationId xmlns:a16="http://schemas.microsoft.com/office/drawing/2014/main" id="{5A5BFDF1-FD1E-4CB7-86FD-12720F17D0EC}"/>
              </a:ext>
            </a:extLst>
          </p:cNvPr>
          <p:cNvSpPr/>
          <p:nvPr/>
        </p:nvSpPr>
        <p:spPr>
          <a:xfrm rot="16200000">
            <a:off x="2335454" y="1760870"/>
            <a:ext cx="623246" cy="761545"/>
          </a:xfrm>
          <a:prstGeom prst="circular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46" name="Стрелка: круговая 45">
            <a:extLst>
              <a:ext uri="{FF2B5EF4-FFF2-40B4-BE49-F238E27FC236}">
                <a16:creationId xmlns:a16="http://schemas.microsoft.com/office/drawing/2014/main" id="{06DE83AB-D4FB-4227-949A-19AAAF24F658}"/>
              </a:ext>
            </a:extLst>
          </p:cNvPr>
          <p:cNvSpPr/>
          <p:nvPr/>
        </p:nvSpPr>
        <p:spPr>
          <a:xfrm rot="5400000">
            <a:off x="2412418" y="1760870"/>
            <a:ext cx="623246" cy="761545"/>
          </a:xfrm>
          <a:prstGeom prst="circular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55F145-4897-495A-A761-B4F771CA0196}"/>
              </a:ext>
            </a:extLst>
          </p:cNvPr>
          <p:cNvSpPr txBox="1"/>
          <p:nvPr/>
        </p:nvSpPr>
        <p:spPr>
          <a:xfrm>
            <a:off x="9141509" y="2808658"/>
            <a:ext cx="2401433" cy="2331407"/>
          </a:xfrm>
          <a:prstGeom prst="rect">
            <a:avLst/>
          </a:prstGeom>
          <a:noFill/>
        </p:spPr>
        <p:txBody>
          <a:bodyPr wrap="square" lIns="108000" anchor="t">
            <a:spAutoFit/>
          </a:bodyPr>
          <a:lstStyle/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285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Первичный анализ объемного плана  из модуля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Supply Planning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285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Разузлование потребности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285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Первичная балансировка мощностей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285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Перепланирование на основе новых вводных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285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Анализ загрузки мощностей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D2856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Анализ покрытия потребности </a:t>
            </a:r>
          </a:p>
          <a:p>
            <a:pPr marL="179705" marR="0" lvl="0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000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16BE1A99-E8DC-4ECF-8D7A-A66D4FE0CDB7}"/>
              </a:ext>
            </a:extLst>
          </p:cNvPr>
          <p:cNvCxnSpPr>
            <a:cxnSpLocks/>
          </p:cNvCxnSpPr>
          <p:nvPr/>
        </p:nvCxnSpPr>
        <p:spPr>
          <a:xfrm>
            <a:off x="9483628" y="1137009"/>
            <a:ext cx="1038068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D7F98DC-1777-4C46-8C84-EFCFAC7E34D0}"/>
              </a:ext>
            </a:extLst>
          </p:cNvPr>
          <p:cNvSpPr txBox="1"/>
          <p:nvPr/>
        </p:nvSpPr>
        <p:spPr>
          <a:xfrm>
            <a:off x="10435079" y="918185"/>
            <a:ext cx="1325252" cy="4308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ru-RU"/>
            </a:defPPr>
            <a:lvl1pPr algn="ctr">
              <a:buClr>
                <a:schemeClr val="accent1"/>
              </a:buClr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00FF"/>
              </a:buClr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Детальный план операций</a:t>
            </a:r>
          </a:p>
        </p:txBody>
      </p:sp>
      <p:sp>
        <p:nvSpPr>
          <p:cNvPr id="34" name="Стрелка: шеврон 33">
            <a:extLst>
              <a:ext uri="{FF2B5EF4-FFF2-40B4-BE49-F238E27FC236}">
                <a16:creationId xmlns:a16="http://schemas.microsoft.com/office/drawing/2014/main" id="{B9BC36E8-CCEE-41BD-A69F-C1A60FC61EC8}"/>
              </a:ext>
            </a:extLst>
          </p:cNvPr>
          <p:cNvSpPr/>
          <p:nvPr/>
        </p:nvSpPr>
        <p:spPr>
          <a:xfrm>
            <a:off x="9177794" y="1589441"/>
            <a:ext cx="2260671" cy="1080000"/>
          </a:xfrm>
          <a:prstGeom prst="chevron">
            <a:avLst>
              <a:gd name="adj" fmla="val 2112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Производственное планирование и графикование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Production Scheduling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(PS)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35" name="Стрелка: шеврон 34">
            <a:extLst>
              <a:ext uri="{FF2B5EF4-FFF2-40B4-BE49-F238E27FC236}">
                <a16:creationId xmlns:a16="http://schemas.microsoft.com/office/drawing/2014/main" id="{10B87655-EFBD-4102-B10C-7E997376C607}"/>
              </a:ext>
            </a:extLst>
          </p:cNvPr>
          <p:cNvSpPr/>
          <p:nvPr/>
        </p:nvSpPr>
        <p:spPr>
          <a:xfrm>
            <a:off x="11322686" y="1656192"/>
            <a:ext cx="796162" cy="343390"/>
          </a:xfrm>
          <a:prstGeom prst="chevron">
            <a:avLst>
              <a:gd name="adj" fmla="val 21123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MRP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38" name="Стрелка: шеврон 37">
            <a:extLst>
              <a:ext uri="{FF2B5EF4-FFF2-40B4-BE49-F238E27FC236}">
                <a16:creationId xmlns:a16="http://schemas.microsoft.com/office/drawing/2014/main" id="{9D8E49F6-3FC2-490C-A4C2-F99C3EDE7B9F}"/>
              </a:ext>
            </a:extLst>
          </p:cNvPr>
          <p:cNvSpPr/>
          <p:nvPr/>
        </p:nvSpPr>
        <p:spPr>
          <a:xfrm>
            <a:off x="11322687" y="2109663"/>
            <a:ext cx="796162" cy="511192"/>
          </a:xfrm>
          <a:prstGeom prst="chevron">
            <a:avLst>
              <a:gd name="adj" fmla="val 21123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DRP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TLB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4" name="Стрелка: шеврон 43">
            <a:extLst>
              <a:ext uri="{FF2B5EF4-FFF2-40B4-BE49-F238E27FC236}">
                <a16:creationId xmlns:a16="http://schemas.microsoft.com/office/drawing/2014/main" id="{AE712B74-674E-429B-BE9A-0BD252CF1D77}"/>
              </a:ext>
            </a:extLst>
          </p:cNvPr>
          <p:cNvSpPr/>
          <p:nvPr/>
        </p:nvSpPr>
        <p:spPr>
          <a:xfrm>
            <a:off x="1040022" y="6067093"/>
            <a:ext cx="10527527" cy="500435"/>
          </a:xfrm>
          <a:prstGeom prst="chevron">
            <a:avLst>
              <a:gd name="adj" fmla="val 21123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Финансовое планирование и анализ</a:t>
            </a:r>
            <a:endParaRPr lang="ru-RU" sz="1400" dirty="0">
              <a:solidFill>
                <a:srgbClr val="FFFFFF"/>
              </a:solidFill>
              <a:latin typeface="Manrope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Manrope"/>
              </a:rPr>
              <a:t>Financial Planning and Analysis (FP&amp;A)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4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2D0882-BFE6-4C16-ADAC-707621549BB9}"/>
              </a:ext>
            </a:extLst>
          </p:cNvPr>
          <p:cNvSpPr txBox="1"/>
          <p:nvPr/>
        </p:nvSpPr>
        <p:spPr>
          <a:xfrm>
            <a:off x="444137" y="2828835"/>
            <a:ext cx="63398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+mj-lt"/>
              </a:rPr>
              <a:t>Планирование спроса </a:t>
            </a:r>
          </a:p>
          <a:p>
            <a:endParaRPr lang="ru-RU" sz="3200" dirty="0">
              <a:solidFill>
                <a:schemeClr val="bg1"/>
              </a:solidFill>
              <a:latin typeface="+mj-lt"/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Demand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Planning (DP)</a:t>
            </a:r>
            <a:endParaRPr lang="ru-RU" sz="2400" dirty="0"/>
          </a:p>
        </p:txBody>
      </p:sp>
      <p:sp>
        <p:nvSpPr>
          <p:cNvPr id="12" name="Стрелка: шеврон 6">
            <a:extLst>
              <a:ext uri="{FF2B5EF4-FFF2-40B4-BE49-F238E27FC236}">
                <a16:creationId xmlns:a16="http://schemas.microsoft.com/office/drawing/2014/main" id="{7FDBE370-9820-48D1-B1C6-928E72B08D37}"/>
              </a:ext>
            </a:extLst>
          </p:cNvPr>
          <p:cNvSpPr/>
          <p:nvPr/>
        </p:nvSpPr>
        <p:spPr>
          <a:xfrm>
            <a:off x="2431720" y="4604618"/>
            <a:ext cx="2029153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 err="1">
                <a:solidFill>
                  <a:schemeClr val="bg1"/>
                </a:solidFill>
              </a:rPr>
              <a:t>Мультиэшелонная</a:t>
            </a:r>
            <a:r>
              <a:rPr lang="ru-RU" sz="1200" b="1" dirty="0">
                <a:solidFill>
                  <a:schemeClr val="bg1"/>
                </a:solidFill>
              </a:rPr>
              <a:t> оптимизация запасов</a:t>
            </a:r>
          </a:p>
        </p:txBody>
      </p:sp>
      <p:sp>
        <p:nvSpPr>
          <p:cNvPr id="13" name="Стрелка: шеврон 8">
            <a:extLst>
              <a:ext uri="{FF2B5EF4-FFF2-40B4-BE49-F238E27FC236}">
                <a16:creationId xmlns:a16="http://schemas.microsoft.com/office/drawing/2014/main" id="{824019F5-DCE3-4B16-9F2E-438198B88E6A}"/>
              </a:ext>
            </a:extLst>
          </p:cNvPr>
          <p:cNvSpPr/>
          <p:nvPr/>
        </p:nvSpPr>
        <p:spPr>
          <a:xfrm>
            <a:off x="4387252" y="4604618"/>
            <a:ext cx="1941015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сети поставок</a:t>
            </a:r>
          </a:p>
        </p:txBody>
      </p:sp>
      <p:sp>
        <p:nvSpPr>
          <p:cNvPr id="14" name="Стрелка: шеврон 9">
            <a:extLst>
              <a:ext uri="{FF2B5EF4-FFF2-40B4-BE49-F238E27FC236}">
                <a16:creationId xmlns:a16="http://schemas.microsoft.com/office/drawing/2014/main" id="{B95668B2-AF8E-4481-AC2E-3F12F481EED2}"/>
              </a:ext>
            </a:extLst>
          </p:cNvPr>
          <p:cNvSpPr/>
          <p:nvPr/>
        </p:nvSpPr>
        <p:spPr>
          <a:xfrm>
            <a:off x="6254646" y="4604618"/>
            <a:ext cx="2041185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Производственное планирование и графикование</a:t>
            </a:r>
          </a:p>
        </p:txBody>
      </p:sp>
      <p:sp>
        <p:nvSpPr>
          <p:cNvPr id="15" name="Стрелка: шеврон 10">
            <a:extLst>
              <a:ext uri="{FF2B5EF4-FFF2-40B4-BE49-F238E27FC236}">
                <a16:creationId xmlns:a16="http://schemas.microsoft.com/office/drawing/2014/main" id="{47FF2253-7344-4E1F-B981-52A34569AE20}"/>
              </a:ext>
            </a:extLst>
          </p:cNvPr>
          <p:cNvSpPr/>
          <p:nvPr/>
        </p:nvSpPr>
        <p:spPr>
          <a:xfrm>
            <a:off x="505634" y="4604618"/>
            <a:ext cx="1999707" cy="836813"/>
          </a:xfrm>
          <a:prstGeom prst="chevron">
            <a:avLst>
              <a:gd name="adj" fmla="val 21123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спроса </a:t>
            </a:r>
          </a:p>
        </p:txBody>
      </p:sp>
      <p:sp>
        <p:nvSpPr>
          <p:cNvPr id="16" name="Стрелка: шеврон 8">
            <a:extLst>
              <a:ext uri="{FF2B5EF4-FFF2-40B4-BE49-F238E27FC236}">
                <a16:creationId xmlns:a16="http://schemas.microsoft.com/office/drawing/2014/main" id="{F0E72CF4-0475-44E1-AEFF-8D1E02057F4C}"/>
              </a:ext>
            </a:extLst>
          </p:cNvPr>
          <p:cNvSpPr/>
          <p:nvPr/>
        </p:nvSpPr>
        <p:spPr>
          <a:xfrm>
            <a:off x="8222210" y="4604618"/>
            <a:ext cx="1941015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потребности в материалах</a:t>
            </a:r>
          </a:p>
        </p:txBody>
      </p:sp>
    </p:spTree>
    <p:extLst>
      <p:ext uri="{BB962C8B-B14F-4D97-AF65-F5344CB8AC3E}">
        <p14:creationId xmlns:p14="http://schemas.microsoft.com/office/powerpoint/2010/main" val="760225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7D37D0B-7CA3-4E07-AA77-956C2DF485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416" imgH="416" progId="TCLayout.ActiveDocument.1">
                  <p:embed/>
                </p:oleObj>
              </mc:Choice>
              <mc:Fallback>
                <p:oleObj name="Слайд think-cell" r:id="rId4" imgW="416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D37D0B-7CA3-4E07-AA77-956C2DF48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446EC15-DBE0-4DC9-B0F3-C31A5725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b="1" dirty="0"/>
              <a:t>Процесс Планирования спроса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7A144BC7-F2A8-4CEE-91AE-407D431BB067}"/>
              </a:ext>
            </a:extLst>
          </p:cNvPr>
          <p:cNvSpPr/>
          <p:nvPr/>
        </p:nvSpPr>
        <p:spPr>
          <a:xfrm>
            <a:off x="3068531" y="3867359"/>
            <a:ext cx="1269201" cy="753809"/>
          </a:xfrm>
          <a:prstGeom prst="rect">
            <a:avLst/>
          </a:prstGeom>
          <a:solidFill>
            <a:srgbClr val="AD2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Очистка истории продаж</a:t>
            </a:r>
          </a:p>
        </p:txBody>
      </p:sp>
      <p:sp>
        <p:nvSpPr>
          <p:cNvPr id="119" name="Прямоугольник: скругленные углы 118">
            <a:extLst>
              <a:ext uri="{FF2B5EF4-FFF2-40B4-BE49-F238E27FC236}">
                <a16:creationId xmlns:a16="http://schemas.microsoft.com/office/drawing/2014/main" id="{7592134B-CAFD-4786-B761-142504B20682}"/>
              </a:ext>
            </a:extLst>
          </p:cNvPr>
          <p:cNvSpPr/>
          <p:nvPr/>
        </p:nvSpPr>
        <p:spPr>
          <a:xfrm>
            <a:off x="4552703" y="3867359"/>
            <a:ext cx="1355311" cy="753809"/>
          </a:xfrm>
          <a:prstGeom prst="rect">
            <a:avLst/>
          </a:prstGeom>
          <a:solidFill>
            <a:srgbClr val="AD2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Прогнозирование базовой линии</a:t>
            </a:r>
          </a:p>
        </p:txBody>
      </p:sp>
      <p:sp>
        <p:nvSpPr>
          <p:cNvPr id="120" name="Прямоугольник: скругленные углы 119">
            <a:extLst>
              <a:ext uri="{FF2B5EF4-FFF2-40B4-BE49-F238E27FC236}">
                <a16:creationId xmlns:a16="http://schemas.microsoft.com/office/drawing/2014/main" id="{2637DA44-4EA8-4F23-9F68-4A0E24170428}"/>
              </a:ext>
            </a:extLst>
          </p:cNvPr>
          <p:cNvSpPr/>
          <p:nvPr/>
        </p:nvSpPr>
        <p:spPr>
          <a:xfrm>
            <a:off x="6132291" y="3867359"/>
            <a:ext cx="1269201" cy="753809"/>
          </a:xfrm>
          <a:prstGeom prst="rect">
            <a:avLst/>
          </a:prstGeom>
          <a:solidFill>
            <a:srgbClr val="9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Обогащение прогноза</a:t>
            </a:r>
          </a:p>
        </p:txBody>
      </p:sp>
      <p:sp>
        <p:nvSpPr>
          <p:cNvPr id="122" name="Прямоугольник: скругленные углы 121">
            <a:extLst>
              <a:ext uri="{FF2B5EF4-FFF2-40B4-BE49-F238E27FC236}">
                <a16:creationId xmlns:a16="http://schemas.microsoft.com/office/drawing/2014/main" id="{3ADDE749-1516-417C-BF28-79D6824B60CB}"/>
              </a:ext>
            </a:extLst>
          </p:cNvPr>
          <p:cNvSpPr/>
          <p:nvPr/>
        </p:nvSpPr>
        <p:spPr>
          <a:xfrm>
            <a:off x="7676097" y="3867359"/>
            <a:ext cx="1269201" cy="753809"/>
          </a:xfrm>
          <a:prstGeom prst="rect">
            <a:avLst/>
          </a:prstGeom>
          <a:solidFill>
            <a:srgbClr val="9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Формирование и утверждение итогового прогноза</a:t>
            </a:r>
          </a:p>
        </p:txBody>
      </p:sp>
      <p:sp>
        <p:nvSpPr>
          <p:cNvPr id="124" name="Прямоугольник: скругленные углы 123">
            <a:extLst>
              <a:ext uri="{FF2B5EF4-FFF2-40B4-BE49-F238E27FC236}">
                <a16:creationId xmlns:a16="http://schemas.microsoft.com/office/drawing/2014/main" id="{F48ADC34-38B8-4A3C-A04F-48EEBAA06635}"/>
              </a:ext>
            </a:extLst>
          </p:cNvPr>
          <p:cNvSpPr/>
          <p:nvPr/>
        </p:nvSpPr>
        <p:spPr>
          <a:xfrm>
            <a:off x="9207978" y="3867359"/>
            <a:ext cx="1269201" cy="753809"/>
          </a:xfrm>
          <a:prstGeom prst="rect">
            <a:avLst/>
          </a:prstGeom>
          <a:solidFill>
            <a:schemeClr val="tx2">
              <a:lumMod val="65000"/>
              <a:lumOff val="3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Публикация прогноза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34A257D9-55F9-4448-9B28-6A169E4F246E}"/>
              </a:ext>
            </a:extLst>
          </p:cNvPr>
          <p:cNvCxnSpPr>
            <a:cxnSpLocks/>
          </p:cNvCxnSpPr>
          <p:nvPr/>
        </p:nvCxnSpPr>
        <p:spPr>
          <a:xfrm>
            <a:off x="4337732" y="4244264"/>
            <a:ext cx="214971" cy="0"/>
          </a:xfrm>
          <a:prstGeom prst="straightConnector1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5E117BC1-3AE2-46A5-8F9D-47865C2C7AD5}"/>
              </a:ext>
            </a:extLst>
          </p:cNvPr>
          <p:cNvCxnSpPr>
            <a:cxnSpLocks/>
          </p:cNvCxnSpPr>
          <p:nvPr/>
        </p:nvCxnSpPr>
        <p:spPr>
          <a:xfrm>
            <a:off x="5908014" y="4244264"/>
            <a:ext cx="224277" cy="0"/>
          </a:xfrm>
          <a:prstGeom prst="straightConnector1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3EF5CE43-1302-4D94-8D63-1A2EDB6409A2}"/>
              </a:ext>
            </a:extLst>
          </p:cNvPr>
          <p:cNvCxnSpPr>
            <a:cxnSpLocks/>
          </p:cNvCxnSpPr>
          <p:nvPr/>
        </p:nvCxnSpPr>
        <p:spPr>
          <a:xfrm>
            <a:off x="7401492" y="4244264"/>
            <a:ext cx="274605" cy="0"/>
          </a:xfrm>
          <a:prstGeom prst="straightConnector1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F0EA60E2-551A-40A9-B93E-48632BB6EDC2}"/>
              </a:ext>
            </a:extLst>
          </p:cNvPr>
          <p:cNvCxnSpPr>
            <a:cxnSpLocks/>
          </p:cNvCxnSpPr>
          <p:nvPr/>
        </p:nvCxnSpPr>
        <p:spPr>
          <a:xfrm>
            <a:off x="8945298" y="4244264"/>
            <a:ext cx="262680" cy="0"/>
          </a:xfrm>
          <a:prstGeom prst="straightConnector1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11AC33B-0496-4C1D-9718-12D06196290D}"/>
              </a:ext>
            </a:extLst>
          </p:cNvPr>
          <p:cNvSpPr/>
          <p:nvPr/>
        </p:nvSpPr>
        <p:spPr>
          <a:xfrm>
            <a:off x="1600269" y="3867358"/>
            <a:ext cx="1269201" cy="753809"/>
          </a:xfrm>
          <a:prstGeom prst="rect">
            <a:avLst/>
          </a:prstGeom>
          <a:solidFill>
            <a:srgbClr val="AD2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Загрузка истории продаж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1E794553-8415-4BC6-81B7-4587E48F348B}"/>
              </a:ext>
            </a:extLst>
          </p:cNvPr>
          <p:cNvCxnSpPr>
            <a:cxnSpLocks/>
          </p:cNvCxnSpPr>
          <p:nvPr/>
        </p:nvCxnSpPr>
        <p:spPr>
          <a:xfrm>
            <a:off x="2869470" y="4244263"/>
            <a:ext cx="199061" cy="1"/>
          </a:xfrm>
          <a:prstGeom prst="straightConnector1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Соединитель: уступ 42">
            <a:extLst>
              <a:ext uri="{FF2B5EF4-FFF2-40B4-BE49-F238E27FC236}">
                <a16:creationId xmlns:a16="http://schemas.microsoft.com/office/drawing/2014/main" id="{342FE3F1-28C1-4EFA-B25D-8A227A7BF4D9}"/>
              </a:ext>
            </a:extLst>
          </p:cNvPr>
          <p:cNvCxnSpPr>
            <a:cxnSpLocks/>
          </p:cNvCxnSpPr>
          <p:nvPr/>
        </p:nvCxnSpPr>
        <p:spPr>
          <a:xfrm flipV="1">
            <a:off x="10477179" y="4244263"/>
            <a:ext cx="214967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74CC2BB6-57D6-42B1-A289-4C7D4DE763DD}"/>
              </a:ext>
            </a:extLst>
          </p:cNvPr>
          <p:cNvSpPr/>
          <p:nvPr/>
        </p:nvSpPr>
        <p:spPr>
          <a:xfrm>
            <a:off x="10692146" y="3867358"/>
            <a:ext cx="1355311" cy="753809"/>
          </a:xfrm>
          <a:prstGeom prst="rect">
            <a:avLst/>
          </a:prstGeom>
          <a:solidFill>
            <a:schemeClr val="tx2">
              <a:lumMod val="65000"/>
              <a:lumOff val="3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Передача Неограниченного Плана Спроса в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 SP</a:t>
            </a:r>
            <a:r>
              <a:rPr lang="en-US" sz="1000" dirty="0">
                <a:solidFill>
                  <a:srgbClr val="FFFFFF"/>
                </a:solidFill>
                <a:latin typeface="Manrope"/>
              </a:rPr>
              <a:t>/MEIO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EE5915-C1FA-43E3-8345-E740E3716C5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33" r="34835"/>
          <a:stretch/>
        </p:blipFill>
        <p:spPr>
          <a:xfrm>
            <a:off x="411632" y="964927"/>
            <a:ext cx="2750196" cy="1914655"/>
          </a:xfrm>
          <a:prstGeom prst="rect">
            <a:avLst/>
          </a:prstGeom>
        </p:spPr>
      </p:pic>
      <p:pic>
        <p:nvPicPr>
          <p:cNvPr id="118" name="Рисунок 117">
            <a:hlinkClick r:id="" action="ppaction://noaction"/>
            <a:extLst>
              <a:ext uri="{FF2B5EF4-FFF2-40B4-BE49-F238E27FC236}">
                <a16:creationId xmlns:a16="http://schemas.microsoft.com/office/drawing/2014/main" id="{D4C174B3-D031-4816-99D0-F031DB6AB5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0420" y="964927"/>
            <a:ext cx="3403832" cy="191465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2017B9C-E2B7-471D-A9FB-87F5D07BD7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5277" y="964927"/>
            <a:ext cx="3632464" cy="192117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9A89A6C4-811B-4F45-9D2E-62F67F24944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" r="-472" b="2533"/>
          <a:stretch/>
        </p:blipFill>
        <p:spPr>
          <a:xfrm>
            <a:off x="4432877" y="964927"/>
            <a:ext cx="158148" cy="192342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D2D50DE-649B-4E11-8CA9-44BDF2143B3A}"/>
              </a:ext>
            </a:extLst>
          </p:cNvPr>
          <p:cNvGrpSpPr/>
          <p:nvPr/>
        </p:nvGrpSpPr>
        <p:grpSpPr>
          <a:xfrm>
            <a:off x="6426856" y="960694"/>
            <a:ext cx="4481953" cy="1929636"/>
            <a:chOff x="4420521" y="1233249"/>
            <a:chExt cx="4481953" cy="1923423"/>
          </a:xfrm>
        </p:grpSpPr>
        <p:pic>
          <p:nvPicPr>
            <p:cNvPr id="55" name="Рисунок 54">
              <a:extLst>
                <a:ext uri="{FF2B5EF4-FFF2-40B4-BE49-F238E27FC236}">
                  <a16:creationId xmlns:a16="http://schemas.microsoft.com/office/drawing/2014/main" id="{BE1E4455-7635-4E61-9275-2580D1F8C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55537" y="1242016"/>
              <a:ext cx="4346937" cy="1906354"/>
            </a:xfrm>
            <a:prstGeom prst="rect">
              <a:avLst/>
            </a:prstGeom>
          </p:spPr>
        </p:pic>
        <p:pic>
          <p:nvPicPr>
            <p:cNvPr id="56" name="Рисунок 55">
              <a:extLst>
                <a:ext uri="{FF2B5EF4-FFF2-40B4-BE49-F238E27FC236}">
                  <a16:creationId xmlns:a16="http://schemas.microsoft.com/office/drawing/2014/main" id="{DD881BF5-338F-44E0-BC09-88A5D6C953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1" r="-472" b="2533"/>
            <a:stretch/>
          </p:blipFill>
          <p:spPr>
            <a:xfrm>
              <a:off x="4420521" y="1233249"/>
              <a:ext cx="158148" cy="1923423"/>
            </a:xfrm>
            <a:prstGeom prst="rect">
              <a:avLst/>
            </a:prstGeom>
          </p:spPr>
        </p:pic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54286997-1D64-4FD0-9028-C50E6CF23529}"/>
              </a:ext>
            </a:extLst>
          </p:cNvPr>
          <p:cNvGrpSpPr/>
          <p:nvPr/>
        </p:nvGrpSpPr>
        <p:grpSpPr>
          <a:xfrm>
            <a:off x="8884641" y="960694"/>
            <a:ext cx="2762430" cy="1923423"/>
            <a:chOff x="6578715" y="1233715"/>
            <a:chExt cx="2762430" cy="1923423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835B3A54-8B67-4D12-AF25-963A6DAD7B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48534"/>
            <a:stretch/>
          </p:blipFill>
          <p:spPr>
            <a:xfrm>
              <a:off x="6705059" y="1233716"/>
              <a:ext cx="2636086" cy="1921170"/>
            </a:xfrm>
            <a:prstGeom prst="rect">
              <a:avLst/>
            </a:prstGeom>
          </p:spPr>
        </p:pic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30601AEE-D936-442B-99EC-ABDEE075D7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1" r="-472" b="2533"/>
            <a:stretch/>
          </p:blipFill>
          <p:spPr>
            <a:xfrm>
              <a:off x="6578715" y="1233715"/>
              <a:ext cx="158148" cy="1923423"/>
            </a:xfrm>
            <a:prstGeom prst="rect">
              <a:avLst/>
            </a:prstGeom>
          </p:spPr>
        </p:pic>
      </p:grp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01EEB7F-33A7-420C-8770-BB96B635EC94}"/>
              </a:ext>
            </a:extLst>
          </p:cNvPr>
          <p:cNvSpPr/>
          <p:nvPr/>
        </p:nvSpPr>
        <p:spPr>
          <a:xfrm>
            <a:off x="9385127" y="1912272"/>
            <a:ext cx="158148" cy="95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3D86B476-BC5D-47B5-9AE0-859DD81392D1}"/>
              </a:ext>
            </a:extLst>
          </p:cNvPr>
          <p:cNvSpPr/>
          <p:nvPr/>
        </p:nvSpPr>
        <p:spPr>
          <a:xfrm>
            <a:off x="9590545" y="1873655"/>
            <a:ext cx="359378" cy="95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5A9C875B-B3E7-4310-82AE-8BED1A0412DF}"/>
              </a:ext>
            </a:extLst>
          </p:cNvPr>
          <p:cNvSpPr/>
          <p:nvPr/>
        </p:nvSpPr>
        <p:spPr>
          <a:xfrm>
            <a:off x="10225571" y="2019706"/>
            <a:ext cx="359378" cy="56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9239E3A3-25BD-4B20-B0DD-A28B82100D9C}"/>
              </a:ext>
            </a:extLst>
          </p:cNvPr>
          <p:cNvSpPr/>
          <p:nvPr/>
        </p:nvSpPr>
        <p:spPr>
          <a:xfrm>
            <a:off x="10584949" y="1401314"/>
            <a:ext cx="774980" cy="972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D2748944-0C17-4168-A41D-53D060570B4F}"/>
              </a:ext>
            </a:extLst>
          </p:cNvPr>
          <p:cNvSpPr/>
          <p:nvPr/>
        </p:nvSpPr>
        <p:spPr>
          <a:xfrm>
            <a:off x="9980246" y="1864647"/>
            <a:ext cx="158148" cy="95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10680B84-2300-4748-9CEC-892658286797}"/>
              </a:ext>
            </a:extLst>
          </p:cNvPr>
          <p:cNvSpPr/>
          <p:nvPr/>
        </p:nvSpPr>
        <p:spPr>
          <a:xfrm>
            <a:off x="10167061" y="1997997"/>
            <a:ext cx="186613" cy="95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CF493FF5-24DF-4642-A2EB-404A0933B4D4}"/>
              </a:ext>
            </a:extLst>
          </p:cNvPr>
          <p:cNvSpPr/>
          <p:nvPr/>
        </p:nvSpPr>
        <p:spPr>
          <a:xfrm>
            <a:off x="10782529" y="1543420"/>
            <a:ext cx="186613" cy="95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3" name="Rectangle 19">
            <a:extLst>
              <a:ext uri="{FF2B5EF4-FFF2-40B4-BE49-F238E27FC236}">
                <a16:creationId xmlns:a16="http://schemas.microsoft.com/office/drawing/2014/main" id="{FCABFAE4-E73C-4A1E-AF9F-D2D6EC64601B}"/>
              </a:ext>
            </a:extLst>
          </p:cNvPr>
          <p:cNvSpPr/>
          <p:nvPr/>
        </p:nvSpPr>
        <p:spPr>
          <a:xfrm>
            <a:off x="4451352" y="4675271"/>
            <a:ext cx="1566850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Оценка эффективности моделей планирования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Управление сегментами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Управление моделями прогнозирования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Сегментация и тестирование временных рядов</a:t>
            </a:r>
          </a:p>
        </p:txBody>
      </p:sp>
      <p:sp>
        <p:nvSpPr>
          <p:cNvPr id="64" name="Rectangle 19">
            <a:extLst>
              <a:ext uri="{FF2B5EF4-FFF2-40B4-BE49-F238E27FC236}">
                <a16:creationId xmlns:a16="http://schemas.microsoft.com/office/drawing/2014/main" id="{9CC37B32-22FA-4E9B-8F00-A0C5B0E119C5}"/>
              </a:ext>
            </a:extLst>
          </p:cNvPr>
          <p:cNvSpPr/>
          <p:nvPr/>
        </p:nvSpPr>
        <p:spPr>
          <a:xfrm>
            <a:off x="6016065" y="4675271"/>
            <a:ext cx="1566850" cy="147732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Планирование новинок/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 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листинг/делистинг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Экспертное планирование эффектов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Building Blocks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+mn-cs"/>
              </a:rPr>
              <a:t>Передача в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+mn-cs"/>
              </a:rPr>
              <a:t>NRM </a:t>
            </a: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+mn-cs"/>
              </a:rPr>
              <a:t>базового прогноза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+mn-cs"/>
              </a:rPr>
              <a:t>Получение плана промо из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+mn-cs"/>
              </a:rPr>
              <a:t>NRM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5" name="Rectangle 19">
            <a:extLst>
              <a:ext uri="{FF2B5EF4-FFF2-40B4-BE49-F238E27FC236}">
                <a16:creationId xmlns:a16="http://schemas.microsoft.com/office/drawing/2014/main" id="{8CBA5867-AFB4-4CBE-B9D5-D1D4E4ADFD9B}"/>
              </a:ext>
            </a:extLst>
          </p:cNvPr>
          <p:cNvSpPr/>
          <p:nvPr/>
        </p:nvSpPr>
        <p:spPr>
          <a:xfrm>
            <a:off x="2948760" y="4675271"/>
            <a:ext cx="1566850" cy="133882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Автоматическая очистка: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357188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5725" algn="l"/>
              </a:tabLst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Очистка по итогам сегментации</a:t>
            </a:r>
          </a:p>
          <a:p>
            <a:pPr marL="357188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5725" algn="l"/>
              </a:tabLst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OOS</a:t>
            </a:r>
          </a:p>
          <a:p>
            <a:pPr marL="357188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5725" algn="l"/>
              </a:tabLst>
              <a:defRPr/>
            </a:pP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Outliers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57188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5725" algn="l"/>
              </a:tabLst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Промо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Экспертная очистка данных</a:t>
            </a:r>
          </a:p>
        </p:txBody>
      </p:sp>
      <p:sp>
        <p:nvSpPr>
          <p:cNvPr id="66" name="Rectangle 19">
            <a:extLst>
              <a:ext uri="{FF2B5EF4-FFF2-40B4-BE49-F238E27FC236}">
                <a16:creationId xmlns:a16="http://schemas.microsoft.com/office/drawing/2014/main" id="{B356B351-4806-4FEE-8A4A-09EE6627DE36}"/>
              </a:ext>
            </a:extLst>
          </p:cNvPr>
          <p:cNvSpPr/>
          <p:nvPr/>
        </p:nvSpPr>
        <p:spPr>
          <a:xfrm>
            <a:off x="7560900" y="4675271"/>
            <a:ext cx="1566850" cy="133882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900" dirty="0" err="1">
                <a:solidFill>
                  <a:srgbClr val="FFFFFF"/>
                </a:solidFill>
              </a:rPr>
              <a:t>Дашборды</a:t>
            </a:r>
            <a:r>
              <a:rPr lang="ru-RU" sz="900" dirty="0">
                <a:solidFill>
                  <a:srgbClr val="FFFFFF"/>
                </a:solidFill>
              </a:rPr>
              <a:t> и аналитические отчеты для 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Demand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 Review 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Meeting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900" dirty="0">
                <a:solidFill>
                  <a:srgbClr val="FFFFFF"/>
                </a:solidFill>
              </a:rPr>
              <a:t>Поддержка формирования консенсус-прогноза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Версионность и сценарный анализ</a:t>
            </a: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D181CF14-D178-4C62-8C26-AE6DC39F73E9}"/>
              </a:ext>
            </a:extLst>
          </p:cNvPr>
          <p:cNvSpPr/>
          <p:nvPr/>
        </p:nvSpPr>
        <p:spPr>
          <a:xfrm>
            <a:off x="1600269" y="3211915"/>
            <a:ext cx="4307745" cy="585682"/>
          </a:xfrm>
          <a:prstGeom prst="rect">
            <a:avLst/>
          </a:prstGeom>
          <a:solidFill>
            <a:srgbClr val="AD2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Работа с историей продаж и формирование стат. прогноза</a:t>
            </a: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9CEB2FBD-60F7-4CF8-BC9E-4A63FAC136EC}"/>
              </a:ext>
            </a:extLst>
          </p:cNvPr>
          <p:cNvSpPr/>
          <p:nvPr/>
        </p:nvSpPr>
        <p:spPr>
          <a:xfrm>
            <a:off x="6132291" y="3211915"/>
            <a:ext cx="2813008" cy="585682"/>
          </a:xfrm>
          <a:prstGeom prst="rect">
            <a:avLst/>
          </a:prstGeom>
          <a:solidFill>
            <a:srgbClr val="9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Обогащение прогноза и формирование консенсус плана</a:t>
            </a:r>
          </a:p>
        </p:txBody>
      </p:sp>
      <p:sp>
        <p:nvSpPr>
          <p:cNvPr id="67" name="Прямоугольник: скругленные углы 66">
            <a:extLst>
              <a:ext uri="{FF2B5EF4-FFF2-40B4-BE49-F238E27FC236}">
                <a16:creationId xmlns:a16="http://schemas.microsoft.com/office/drawing/2014/main" id="{E8C82324-C99E-4FAC-AC2B-14547686EC1B}"/>
              </a:ext>
            </a:extLst>
          </p:cNvPr>
          <p:cNvSpPr/>
          <p:nvPr/>
        </p:nvSpPr>
        <p:spPr>
          <a:xfrm>
            <a:off x="9207977" y="3211915"/>
            <a:ext cx="2839479" cy="585682"/>
          </a:xfrm>
          <a:prstGeom prst="rect">
            <a:avLst/>
          </a:prstGeom>
          <a:solidFill>
            <a:schemeClr val="tx2">
              <a:lumMod val="65000"/>
              <a:lumOff val="3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Публикация и передача неограниченного прогноза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A5D1964C-0447-42A5-B8FA-B88613BDC416}"/>
              </a:ext>
            </a:extLst>
          </p:cNvPr>
          <p:cNvSpPr/>
          <p:nvPr/>
        </p:nvSpPr>
        <p:spPr>
          <a:xfrm>
            <a:off x="136187" y="3867358"/>
            <a:ext cx="1344069" cy="753809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Управление </a:t>
            </a:r>
            <a:r>
              <a:rPr lang="ru-RU" sz="1000" dirty="0">
                <a:solidFill>
                  <a:srgbClr val="FFFFFF"/>
                </a:solidFill>
                <a:latin typeface="Manrope"/>
              </a:rPr>
              <a:t>данными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75CF2A24-5E79-423B-8589-BBF887AF0347}"/>
              </a:ext>
            </a:extLst>
          </p:cNvPr>
          <p:cNvSpPr/>
          <p:nvPr/>
        </p:nvSpPr>
        <p:spPr>
          <a:xfrm>
            <a:off x="97683" y="4675271"/>
            <a:ext cx="1566850" cy="507831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Матрица ассортимента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900" dirty="0">
                <a:solidFill>
                  <a:srgbClr val="FFFFFF"/>
                </a:solidFill>
              </a:rPr>
              <a:t>Логистическая схема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Мэппинг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DFU-SKU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776ADE68-53CC-4A9C-9B59-545170070430}"/>
              </a:ext>
            </a:extLst>
          </p:cNvPr>
          <p:cNvSpPr/>
          <p:nvPr/>
        </p:nvSpPr>
        <p:spPr>
          <a:xfrm>
            <a:off x="136187" y="3211915"/>
            <a:ext cx="1344069" cy="58568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Обеспечивающие процессы</a:t>
            </a:r>
          </a:p>
        </p:txBody>
      </p:sp>
      <p:sp>
        <p:nvSpPr>
          <p:cNvPr id="50" name="Rectangle 19">
            <a:extLst>
              <a:ext uri="{FF2B5EF4-FFF2-40B4-BE49-F238E27FC236}">
                <a16:creationId xmlns:a16="http://schemas.microsoft.com/office/drawing/2014/main" id="{A6DB48B1-92D5-4A7B-9961-B4084F438067}"/>
              </a:ext>
            </a:extLst>
          </p:cNvPr>
          <p:cNvSpPr/>
          <p:nvPr/>
        </p:nvSpPr>
        <p:spPr>
          <a:xfrm>
            <a:off x="1517856" y="4675271"/>
            <a:ext cx="1458736" cy="7848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Sell-In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900" dirty="0">
                <a:solidFill>
                  <a:srgbClr val="FFFFFF"/>
                </a:solidFill>
              </a:rPr>
              <a:t>Sell-Out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Off-Take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Данные для модели прогнозирования</a:t>
            </a:r>
          </a:p>
        </p:txBody>
      </p:sp>
      <p:sp>
        <p:nvSpPr>
          <p:cNvPr id="70" name="Rectangle 19">
            <a:extLst>
              <a:ext uri="{FF2B5EF4-FFF2-40B4-BE49-F238E27FC236}">
                <a16:creationId xmlns:a16="http://schemas.microsoft.com/office/drawing/2014/main" id="{459D74C4-21D0-44A1-B432-72CD8132E8B4}"/>
              </a:ext>
            </a:extLst>
          </p:cNvPr>
          <p:cNvSpPr/>
          <p:nvPr/>
        </p:nvSpPr>
        <p:spPr>
          <a:xfrm>
            <a:off x="9118368" y="4675270"/>
            <a:ext cx="1566850" cy="7848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Дезагрегация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DFU-SKU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900" dirty="0">
                <a:solidFill>
                  <a:srgbClr val="FFFFFF"/>
                </a:solidFill>
              </a:rPr>
              <a:t>Архив прогнозов на уровне </a:t>
            </a:r>
            <a:r>
              <a:rPr lang="en-US" sz="900" dirty="0">
                <a:solidFill>
                  <a:srgbClr val="FFFFFF"/>
                </a:solidFill>
              </a:rPr>
              <a:t>DFU </a:t>
            </a:r>
            <a:r>
              <a:rPr lang="ru-RU" sz="900" dirty="0">
                <a:solidFill>
                  <a:srgbClr val="FFFFFF"/>
                </a:solidFill>
              </a:rPr>
              <a:t>(с лагом)</a:t>
            </a: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ru-RU" sz="900" dirty="0">
                <a:solidFill>
                  <a:srgbClr val="FFFFFF"/>
                </a:solidFill>
              </a:rPr>
              <a:t>Архив прогнозов на уровне </a:t>
            </a:r>
            <a:r>
              <a:rPr lang="en-US" sz="900" dirty="0">
                <a:solidFill>
                  <a:srgbClr val="FFFFFF"/>
                </a:solidFill>
              </a:rPr>
              <a:t>SKU </a:t>
            </a:r>
            <a:r>
              <a:rPr lang="ru-RU" sz="900" dirty="0">
                <a:solidFill>
                  <a:srgbClr val="FFFFFF"/>
                </a:solidFill>
              </a:rPr>
              <a:t>(с лагом)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4474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2D0882-BFE6-4C16-ADAC-707621549BB9}"/>
              </a:ext>
            </a:extLst>
          </p:cNvPr>
          <p:cNvSpPr txBox="1"/>
          <p:nvPr/>
        </p:nvSpPr>
        <p:spPr>
          <a:xfrm>
            <a:off x="578360" y="3005004"/>
            <a:ext cx="90522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n-ea"/>
                <a:cs typeface="+mn-cs"/>
              </a:rPr>
              <a:t>Мультиэшелонная оптимизация запасов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Multi-Echelon Inventory Optimization (MEIO)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7" name="Стрелка: шеврон 6">
            <a:extLst>
              <a:ext uri="{FF2B5EF4-FFF2-40B4-BE49-F238E27FC236}">
                <a16:creationId xmlns:a16="http://schemas.microsoft.com/office/drawing/2014/main" id="{93FA6A01-9883-4418-ACDD-5F289D848EAE}"/>
              </a:ext>
            </a:extLst>
          </p:cNvPr>
          <p:cNvSpPr/>
          <p:nvPr/>
        </p:nvSpPr>
        <p:spPr>
          <a:xfrm>
            <a:off x="2431720" y="4604618"/>
            <a:ext cx="2029153" cy="836813"/>
          </a:xfrm>
          <a:prstGeom prst="chevron">
            <a:avLst>
              <a:gd name="adj" fmla="val 21123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 err="1">
                <a:solidFill>
                  <a:schemeClr val="bg1"/>
                </a:solidFill>
              </a:rPr>
              <a:t>Мультиэшелонная</a:t>
            </a:r>
            <a:r>
              <a:rPr lang="ru-RU" sz="1200" b="1" dirty="0">
                <a:solidFill>
                  <a:schemeClr val="bg1"/>
                </a:solidFill>
              </a:rPr>
              <a:t> оптимизация запасов</a:t>
            </a:r>
          </a:p>
        </p:txBody>
      </p:sp>
      <p:sp>
        <p:nvSpPr>
          <p:cNvPr id="9" name="Стрелка: шеврон 8">
            <a:extLst>
              <a:ext uri="{FF2B5EF4-FFF2-40B4-BE49-F238E27FC236}">
                <a16:creationId xmlns:a16="http://schemas.microsoft.com/office/drawing/2014/main" id="{FD229B8E-80E2-4640-9C41-98FFA6EC7491}"/>
              </a:ext>
            </a:extLst>
          </p:cNvPr>
          <p:cNvSpPr/>
          <p:nvPr/>
        </p:nvSpPr>
        <p:spPr>
          <a:xfrm>
            <a:off x="4387252" y="4604618"/>
            <a:ext cx="1941015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сети поставок</a:t>
            </a:r>
          </a:p>
        </p:txBody>
      </p:sp>
      <p:sp>
        <p:nvSpPr>
          <p:cNvPr id="10" name="Стрелка: шеврон 9">
            <a:extLst>
              <a:ext uri="{FF2B5EF4-FFF2-40B4-BE49-F238E27FC236}">
                <a16:creationId xmlns:a16="http://schemas.microsoft.com/office/drawing/2014/main" id="{D3C32307-1D69-4DAC-AD5E-0D8B3998BDA9}"/>
              </a:ext>
            </a:extLst>
          </p:cNvPr>
          <p:cNvSpPr/>
          <p:nvPr/>
        </p:nvSpPr>
        <p:spPr>
          <a:xfrm>
            <a:off x="6254646" y="4604618"/>
            <a:ext cx="2041185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Производственное планирование и графикование</a:t>
            </a:r>
          </a:p>
        </p:txBody>
      </p:sp>
      <p:sp>
        <p:nvSpPr>
          <p:cNvPr id="11" name="Стрелка: шеврон 10">
            <a:extLst>
              <a:ext uri="{FF2B5EF4-FFF2-40B4-BE49-F238E27FC236}">
                <a16:creationId xmlns:a16="http://schemas.microsoft.com/office/drawing/2014/main" id="{A7BA2EE1-F881-40D2-88B6-5E7754019E55}"/>
              </a:ext>
            </a:extLst>
          </p:cNvPr>
          <p:cNvSpPr/>
          <p:nvPr/>
        </p:nvSpPr>
        <p:spPr>
          <a:xfrm>
            <a:off x="505634" y="4604618"/>
            <a:ext cx="1999707" cy="836813"/>
          </a:xfrm>
          <a:prstGeom prst="chevron">
            <a:avLst>
              <a:gd name="adj" fmla="val 2112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спроса </a:t>
            </a:r>
          </a:p>
        </p:txBody>
      </p:sp>
      <p:sp>
        <p:nvSpPr>
          <p:cNvPr id="12" name="Стрелка: шеврон 8">
            <a:extLst>
              <a:ext uri="{FF2B5EF4-FFF2-40B4-BE49-F238E27FC236}">
                <a16:creationId xmlns:a16="http://schemas.microsoft.com/office/drawing/2014/main" id="{83CBC1A4-AB97-471F-A7E6-02FF0023442E}"/>
              </a:ext>
            </a:extLst>
          </p:cNvPr>
          <p:cNvSpPr/>
          <p:nvPr/>
        </p:nvSpPr>
        <p:spPr>
          <a:xfrm>
            <a:off x="8222210" y="4604618"/>
            <a:ext cx="1941015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потребности в материалах</a:t>
            </a:r>
          </a:p>
        </p:txBody>
      </p:sp>
    </p:spTree>
    <p:extLst>
      <p:ext uri="{BB962C8B-B14F-4D97-AF65-F5344CB8AC3E}">
        <p14:creationId xmlns:p14="http://schemas.microsoft.com/office/powerpoint/2010/main" val="2262747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93C9AC65-978B-491A-96EE-A75577C6E3EE}"/>
              </a:ext>
            </a:extLst>
          </p:cNvPr>
          <p:cNvSpPr/>
          <p:nvPr/>
        </p:nvSpPr>
        <p:spPr>
          <a:xfrm>
            <a:off x="8854815" y="3209569"/>
            <a:ext cx="1305651" cy="741503"/>
          </a:xfrm>
          <a:prstGeom prst="rect">
            <a:avLst/>
          </a:prstGeom>
          <a:solidFill>
            <a:srgbClr val="3F3F3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Пересмотр политики управления запасами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8560EACF-B43E-4261-9EA5-B00B39A9DC65}"/>
              </a:ext>
            </a:extLst>
          </p:cNvPr>
          <p:cNvSpPr/>
          <p:nvPr/>
        </p:nvSpPr>
        <p:spPr>
          <a:xfrm>
            <a:off x="7143961" y="3209569"/>
            <a:ext cx="1305651" cy="741503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Анализ полученных значений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A3071E37-3240-4277-B40C-47C8BCB5C16E}"/>
              </a:ext>
            </a:extLst>
          </p:cNvPr>
          <p:cNvSpPr/>
          <p:nvPr/>
        </p:nvSpPr>
        <p:spPr>
          <a:xfrm>
            <a:off x="5426398" y="3209569"/>
            <a:ext cx="1305651" cy="741503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 Расчет рекомендаций по уровням запасов 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BD265202-8940-456B-BF17-BB9D23505A39}"/>
              </a:ext>
            </a:extLst>
          </p:cNvPr>
          <p:cNvSpPr/>
          <p:nvPr/>
        </p:nvSpPr>
        <p:spPr>
          <a:xfrm>
            <a:off x="1962530" y="3209569"/>
            <a:ext cx="1305651" cy="741503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Настройка параметров для расчёта уровней запасов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CFB556A6-D2E1-497E-BFFB-396B7358494C}"/>
              </a:ext>
            </a:extLst>
          </p:cNvPr>
          <p:cNvSpPr/>
          <p:nvPr/>
        </p:nvSpPr>
        <p:spPr>
          <a:xfrm>
            <a:off x="3717031" y="3209569"/>
            <a:ext cx="1305651" cy="741503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ABC-XYZ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сегментация</a:t>
            </a:r>
          </a:p>
        </p:txBody>
      </p:sp>
      <p:sp>
        <p:nvSpPr>
          <p:cNvPr id="52" name="Slide Number Placeholder 1">
            <a:extLst>
              <a:ext uri="{FF2B5EF4-FFF2-40B4-BE49-F238E27FC236}">
                <a16:creationId xmlns:a16="http://schemas.microsoft.com/office/drawing/2014/main" id="{FAF11578-8DF5-46DA-8959-72B377192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 vert="horz" lIns="72000" tIns="36000" rIns="72000" bIns="3600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anrope" pitchFamily="2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anrope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C10DE7F-A16F-45E4-9B11-CBC477133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Мультиэшелонная</a:t>
            </a:r>
            <a:r>
              <a:rPr lang="ru-RU" dirty="0"/>
              <a:t> оптимизация запасов (MEIO)</a:t>
            </a:r>
            <a:br>
              <a:rPr lang="ru-RU" dirty="0"/>
            </a:br>
            <a:endParaRPr lang="ru-RU" dirty="0"/>
          </a:p>
        </p:txBody>
      </p:sp>
      <p:cxnSp>
        <p:nvCxnSpPr>
          <p:cNvPr id="100" name="Прямая со стрелкой 37">
            <a:extLst>
              <a:ext uri="{FF2B5EF4-FFF2-40B4-BE49-F238E27FC236}">
                <a16:creationId xmlns:a16="http://schemas.microsoft.com/office/drawing/2014/main" id="{A82AC1F7-CA99-433D-B394-06C9359BB97F}"/>
              </a:ext>
            </a:extLst>
          </p:cNvPr>
          <p:cNvCxnSpPr>
            <a:cxnSpLocks/>
            <a:stCxn id="2" idx="3"/>
            <a:endCxn id="42" idx="1"/>
          </p:cNvCxnSpPr>
          <p:nvPr/>
        </p:nvCxnSpPr>
        <p:spPr>
          <a:xfrm>
            <a:off x="1592214" y="3580321"/>
            <a:ext cx="370316" cy="0"/>
          </a:xfrm>
          <a:prstGeom prst="straightConnector1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71BBC15D-CA79-439E-8004-D6428672BCA2}"/>
              </a:ext>
            </a:extLst>
          </p:cNvPr>
          <p:cNvCxnSpPr>
            <a:cxnSpLocks/>
            <a:stCxn id="38" idx="3"/>
            <a:endCxn id="42" idx="1"/>
          </p:cNvCxnSpPr>
          <p:nvPr/>
        </p:nvCxnSpPr>
        <p:spPr>
          <a:xfrm flipV="1">
            <a:off x="1592215" y="3580321"/>
            <a:ext cx="370315" cy="1295408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 стрелкой 37">
            <a:extLst>
              <a:ext uri="{FF2B5EF4-FFF2-40B4-BE49-F238E27FC236}">
                <a16:creationId xmlns:a16="http://schemas.microsoft.com/office/drawing/2014/main" id="{36CBAE76-D7CF-449E-BED4-2C36D49463D3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3268181" y="3580321"/>
            <a:ext cx="448850" cy="0"/>
          </a:xfrm>
          <a:prstGeom prst="straightConnector1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9">
            <a:extLst>
              <a:ext uri="{FF2B5EF4-FFF2-40B4-BE49-F238E27FC236}">
                <a16:creationId xmlns:a16="http://schemas.microsoft.com/office/drawing/2014/main" id="{A65C1F81-7CC5-46EC-A605-414CFFC6FC63}"/>
              </a:ext>
            </a:extLst>
          </p:cNvPr>
          <p:cNvSpPr/>
          <p:nvPr/>
        </p:nvSpPr>
        <p:spPr>
          <a:xfrm>
            <a:off x="1852293" y="4064723"/>
            <a:ext cx="165333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Фактический клиентский SL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Фактические 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лидтаймы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 и их отклонения (задержки)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Фактические квоты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Волатильность спроса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127" name="Rectangle 19">
            <a:extLst>
              <a:ext uri="{FF2B5EF4-FFF2-40B4-BE49-F238E27FC236}">
                <a16:creationId xmlns:a16="http://schemas.microsoft.com/office/drawing/2014/main" id="{482E0AB4-9EB6-48AB-B109-4DBC353F04CC}"/>
              </a:ext>
            </a:extLst>
          </p:cNvPr>
          <p:cNvSpPr/>
          <p:nvPr/>
        </p:nvSpPr>
        <p:spPr>
          <a:xfrm>
            <a:off x="3606581" y="4064723"/>
            <a:ext cx="156965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Сегментация групп клиент-продукт по признакам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Ведение целевого уровня сервиса</a:t>
            </a:r>
          </a:p>
        </p:txBody>
      </p:sp>
      <p:cxnSp>
        <p:nvCxnSpPr>
          <p:cNvPr id="129" name="Прямая со стрелкой 37">
            <a:extLst>
              <a:ext uri="{FF2B5EF4-FFF2-40B4-BE49-F238E27FC236}">
                <a16:creationId xmlns:a16="http://schemas.microsoft.com/office/drawing/2014/main" id="{9E7F716B-09A1-4DEF-9D43-D03D9EEA17DF}"/>
              </a:ext>
            </a:extLst>
          </p:cNvPr>
          <p:cNvCxnSpPr>
            <a:cxnSpLocks/>
            <a:stCxn id="43" idx="3"/>
            <a:endCxn id="49" idx="1"/>
          </p:cNvCxnSpPr>
          <p:nvPr/>
        </p:nvCxnSpPr>
        <p:spPr>
          <a:xfrm>
            <a:off x="5022682" y="3580321"/>
            <a:ext cx="403716" cy="0"/>
          </a:xfrm>
          <a:prstGeom prst="straightConnector1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9">
            <a:extLst>
              <a:ext uri="{FF2B5EF4-FFF2-40B4-BE49-F238E27FC236}">
                <a16:creationId xmlns:a16="http://schemas.microsoft.com/office/drawing/2014/main" id="{B30D9532-E88F-4BBD-BD03-79017016236F}"/>
              </a:ext>
            </a:extLst>
          </p:cNvPr>
          <p:cNvSpPr/>
          <p:nvPr/>
        </p:nvSpPr>
        <p:spPr>
          <a:xfrm>
            <a:off x="5313794" y="4064723"/>
            <a:ext cx="169274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Настройка параметров оптимизации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Учет ограничений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Расчет оптимального страхового запаса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Расчет целевого запаса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Расчет циклического запаса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Расчет точки заказа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Расчет рекомендованного уровня сервиса</a:t>
            </a:r>
          </a:p>
        </p:txBody>
      </p:sp>
      <p:cxnSp>
        <p:nvCxnSpPr>
          <p:cNvPr id="135" name="Прямая со стрелкой 37">
            <a:extLst>
              <a:ext uri="{FF2B5EF4-FFF2-40B4-BE49-F238E27FC236}">
                <a16:creationId xmlns:a16="http://schemas.microsoft.com/office/drawing/2014/main" id="{698D7FCF-2D4F-4270-B5C4-334213F11E09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>
            <a:off x="6732049" y="3580321"/>
            <a:ext cx="411912" cy="0"/>
          </a:xfrm>
          <a:prstGeom prst="straightConnector1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9">
            <a:extLst>
              <a:ext uri="{FF2B5EF4-FFF2-40B4-BE49-F238E27FC236}">
                <a16:creationId xmlns:a16="http://schemas.microsoft.com/office/drawing/2014/main" id="{5E7E9D80-5B06-4CA2-955A-53FFC0748681}"/>
              </a:ext>
            </a:extLst>
          </p:cNvPr>
          <p:cNvSpPr/>
          <p:nvPr/>
        </p:nvSpPr>
        <p:spPr>
          <a:xfrm>
            <a:off x="7059020" y="4064723"/>
            <a:ext cx="17706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Сценарное моделирование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Ручные корректировки</a:t>
            </a:r>
          </a:p>
        </p:txBody>
      </p:sp>
      <p:cxnSp>
        <p:nvCxnSpPr>
          <p:cNvPr id="154" name="Прямая со стрелкой 37">
            <a:extLst>
              <a:ext uri="{FF2B5EF4-FFF2-40B4-BE49-F238E27FC236}">
                <a16:creationId xmlns:a16="http://schemas.microsoft.com/office/drawing/2014/main" id="{EECA3ECF-5DB1-4EBE-BE4B-D334CC1E500B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8449612" y="3580321"/>
            <a:ext cx="405203" cy="0"/>
          </a:xfrm>
          <a:prstGeom prst="straightConnector1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Прямая со стрелкой 37">
            <a:extLst>
              <a:ext uri="{FF2B5EF4-FFF2-40B4-BE49-F238E27FC236}">
                <a16:creationId xmlns:a16="http://schemas.microsoft.com/office/drawing/2014/main" id="{89E136B4-F9EB-4A5A-BB79-4CE1B3220B4F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10160466" y="3580321"/>
            <a:ext cx="343715" cy="0"/>
          </a:xfrm>
          <a:prstGeom prst="straightConnector1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">
            <a:extLst>
              <a:ext uri="{FF2B5EF4-FFF2-40B4-BE49-F238E27FC236}">
                <a16:creationId xmlns:a16="http://schemas.microsoft.com/office/drawing/2014/main" id="{6A184FBB-0EC1-41A3-9AB3-C9C3176ACF84}"/>
              </a:ext>
            </a:extLst>
          </p:cNvPr>
          <p:cNvSpPr/>
          <p:nvPr/>
        </p:nvSpPr>
        <p:spPr>
          <a:xfrm>
            <a:off x="8747893" y="4064723"/>
            <a:ext cx="1747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Согласование политик </a:t>
            </a:r>
            <a:b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</a:b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с менеджментом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E5D0240-5932-4495-B654-755726C1B905}"/>
              </a:ext>
            </a:extLst>
          </p:cNvPr>
          <p:cNvSpPr/>
          <p:nvPr/>
        </p:nvSpPr>
        <p:spPr>
          <a:xfrm>
            <a:off x="286563" y="3209569"/>
            <a:ext cx="1305651" cy="741503"/>
          </a:xfrm>
          <a:prstGeom prst="rect">
            <a:avLst/>
          </a:prstGeom>
          <a:solidFill>
            <a:srgbClr val="AD27BA"/>
          </a:solidFill>
          <a:ln>
            <a:solidFill>
              <a:srgbClr val="AD27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Основные данные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7015E31D-A92C-4F13-997B-66CE3A2267DA}"/>
              </a:ext>
            </a:extLst>
          </p:cNvPr>
          <p:cNvSpPr/>
          <p:nvPr/>
        </p:nvSpPr>
        <p:spPr>
          <a:xfrm>
            <a:off x="286563" y="4275564"/>
            <a:ext cx="1305652" cy="1200329"/>
          </a:xfrm>
          <a:prstGeom prst="rect">
            <a:avLst/>
          </a:prstGeom>
          <a:solidFill>
            <a:srgbClr val="AD27BA"/>
          </a:solidFill>
          <a:ln>
            <a:solidFill>
              <a:srgbClr val="AD27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Получение неограниченного прогноза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/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истории продаж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/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истории прогнозов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5CE9E33D-47F9-454A-9604-6AAE84E1700F}"/>
              </a:ext>
            </a:extLst>
          </p:cNvPr>
          <p:cNvSpPr/>
          <p:nvPr/>
        </p:nvSpPr>
        <p:spPr>
          <a:xfrm>
            <a:off x="10504181" y="3209569"/>
            <a:ext cx="1305651" cy="74150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Передача нормативов по запасам в модули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S</a:t>
            </a:r>
            <a:r>
              <a:rPr lang="en-US" sz="1000" dirty="0">
                <a:solidFill>
                  <a:srgbClr val="FFFFFF"/>
                </a:solidFill>
                <a:latin typeface="Manrope"/>
              </a:rPr>
              <a:t>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P/PS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/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ERP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A745CAB3-82F0-4D64-9144-AC1B41A7FFE1}"/>
              </a:ext>
            </a:extLst>
          </p:cNvPr>
          <p:cNvSpPr/>
          <p:nvPr/>
        </p:nvSpPr>
        <p:spPr>
          <a:xfrm>
            <a:off x="288048" y="2639848"/>
            <a:ext cx="1305651" cy="369877"/>
          </a:xfrm>
          <a:prstGeom prst="rect">
            <a:avLst/>
          </a:prstGeom>
          <a:solidFill>
            <a:srgbClr val="AD27BA"/>
          </a:solidFill>
          <a:ln>
            <a:solidFill>
              <a:srgbClr val="AD27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Получение данных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48E440D8-7EE5-414C-94B5-EDE05613ECFB}"/>
              </a:ext>
            </a:extLst>
          </p:cNvPr>
          <p:cNvSpPr/>
          <p:nvPr/>
        </p:nvSpPr>
        <p:spPr>
          <a:xfrm>
            <a:off x="1964014" y="2629110"/>
            <a:ext cx="3060153" cy="380616"/>
          </a:xfrm>
          <a:prstGeom prst="rect">
            <a:avLst/>
          </a:prstGeom>
          <a:solidFill>
            <a:schemeClr val="accent1"/>
          </a:solidFill>
          <a:ln>
            <a:solidFill>
              <a:srgbClr val="5700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Подготовка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к расчету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D9DAED42-FEFE-4DE9-B1D1-4706D61F8F71}"/>
              </a:ext>
            </a:extLst>
          </p:cNvPr>
          <p:cNvSpPr/>
          <p:nvPr/>
        </p:nvSpPr>
        <p:spPr>
          <a:xfrm>
            <a:off x="5427884" y="2629110"/>
            <a:ext cx="3023214" cy="38061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Расчет и анализ</a:t>
            </a: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3EE76946-F6F0-4943-8F9D-ACEE5CAAD7D7}"/>
              </a:ext>
            </a:extLst>
          </p:cNvPr>
          <p:cNvSpPr/>
          <p:nvPr/>
        </p:nvSpPr>
        <p:spPr>
          <a:xfrm>
            <a:off x="8854815" y="2629110"/>
            <a:ext cx="2956502" cy="380616"/>
          </a:xfrm>
          <a:prstGeom prst="rect">
            <a:avLst/>
          </a:prstGeom>
          <a:solidFill>
            <a:srgbClr val="3F3F3F"/>
          </a:solidFill>
          <a:ln>
            <a:solidFill>
              <a:srgbClr val="3F3F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Пересмотр и передача политик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EBDF9AE-BF4A-43CA-B7DE-9DBED770D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87" y="875514"/>
            <a:ext cx="2668908" cy="1469151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0A135B4B-D6D5-45A7-ABBD-CBB408AB0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365" y="878621"/>
            <a:ext cx="2803982" cy="1466485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15F3D8-FA6D-4270-8D48-D1624BA90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418" y="867653"/>
            <a:ext cx="2865762" cy="146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8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2D0882-BFE6-4C16-ADAC-707621549BB9}"/>
              </a:ext>
            </a:extLst>
          </p:cNvPr>
          <p:cNvSpPr txBox="1"/>
          <p:nvPr/>
        </p:nvSpPr>
        <p:spPr>
          <a:xfrm>
            <a:off x="444136" y="2828835"/>
            <a:ext cx="891757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+mj-lt"/>
              </a:rPr>
              <a:t>Планирование сети поставок</a:t>
            </a:r>
          </a:p>
          <a:p>
            <a:endParaRPr lang="ru-RU" sz="3200" dirty="0">
              <a:solidFill>
                <a:schemeClr val="bg1"/>
              </a:solidFill>
              <a:latin typeface="+mj-lt"/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Supply Network Planning (SNP)</a:t>
            </a:r>
            <a:endParaRPr lang="ru-RU" sz="2400" dirty="0"/>
          </a:p>
        </p:txBody>
      </p:sp>
      <p:sp>
        <p:nvSpPr>
          <p:cNvPr id="12" name="Стрелка: шеврон 6">
            <a:extLst>
              <a:ext uri="{FF2B5EF4-FFF2-40B4-BE49-F238E27FC236}">
                <a16:creationId xmlns:a16="http://schemas.microsoft.com/office/drawing/2014/main" id="{24E8426D-6E15-4AFE-8C0D-51CE2B43F55F}"/>
              </a:ext>
            </a:extLst>
          </p:cNvPr>
          <p:cNvSpPr/>
          <p:nvPr/>
        </p:nvSpPr>
        <p:spPr>
          <a:xfrm>
            <a:off x="2431720" y="4604618"/>
            <a:ext cx="2029153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 err="1">
                <a:solidFill>
                  <a:schemeClr val="bg1"/>
                </a:solidFill>
              </a:rPr>
              <a:t>Мультиэшелонная</a:t>
            </a:r>
            <a:r>
              <a:rPr lang="ru-RU" sz="1200" b="1" dirty="0">
                <a:solidFill>
                  <a:schemeClr val="bg1"/>
                </a:solidFill>
              </a:rPr>
              <a:t> оптимизация запасов</a:t>
            </a:r>
          </a:p>
        </p:txBody>
      </p:sp>
      <p:sp>
        <p:nvSpPr>
          <p:cNvPr id="13" name="Стрелка: шеврон 8">
            <a:extLst>
              <a:ext uri="{FF2B5EF4-FFF2-40B4-BE49-F238E27FC236}">
                <a16:creationId xmlns:a16="http://schemas.microsoft.com/office/drawing/2014/main" id="{4012C369-44A8-43C9-8962-02B48C66D19B}"/>
              </a:ext>
            </a:extLst>
          </p:cNvPr>
          <p:cNvSpPr/>
          <p:nvPr/>
        </p:nvSpPr>
        <p:spPr>
          <a:xfrm>
            <a:off x="4387252" y="4604618"/>
            <a:ext cx="1941015" cy="836813"/>
          </a:xfrm>
          <a:prstGeom prst="chevron">
            <a:avLst>
              <a:gd name="adj" fmla="val 21123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сети поставок</a:t>
            </a:r>
          </a:p>
        </p:txBody>
      </p:sp>
      <p:sp>
        <p:nvSpPr>
          <p:cNvPr id="14" name="Стрелка: шеврон 9">
            <a:extLst>
              <a:ext uri="{FF2B5EF4-FFF2-40B4-BE49-F238E27FC236}">
                <a16:creationId xmlns:a16="http://schemas.microsoft.com/office/drawing/2014/main" id="{DCF18EC1-C5F4-439B-A824-870C4B8E7C3C}"/>
              </a:ext>
            </a:extLst>
          </p:cNvPr>
          <p:cNvSpPr/>
          <p:nvPr/>
        </p:nvSpPr>
        <p:spPr>
          <a:xfrm>
            <a:off x="6254646" y="4604618"/>
            <a:ext cx="2041185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Производственное планирование и графикование</a:t>
            </a:r>
          </a:p>
        </p:txBody>
      </p:sp>
      <p:sp>
        <p:nvSpPr>
          <p:cNvPr id="15" name="Стрелка: шеврон 10">
            <a:extLst>
              <a:ext uri="{FF2B5EF4-FFF2-40B4-BE49-F238E27FC236}">
                <a16:creationId xmlns:a16="http://schemas.microsoft.com/office/drawing/2014/main" id="{236701A6-0C02-4BF5-9BBC-97D75E71C038}"/>
              </a:ext>
            </a:extLst>
          </p:cNvPr>
          <p:cNvSpPr/>
          <p:nvPr/>
        </p:nvSpPr>
        <p:spPr>
          <a:xfrm>
            <a:off x="505634" y="4604618"/>
            <a:ext cx="1999707" cy="836813"/>
          </a:xfrm>
          <a:prstGeom prst="chevron">
            <a:avLst>
              <a:gd name="adj" fmla="val 2112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спроса </a:t>
            </a:r>
          </a:p>
        </p:txBody>
      </p:sp>
      <p:sp>
        <p:nvSpPr>
          <p:cNvPr id="16" name="Стрелка: шеврон 8">
            <a:extLst>
              <a:ext uri="{FF2B5EF4-FFF2-40B4-BE49-F238E27FC236}">
                <a16:creationId xmlns:a16="http://schemas.microsoft.com/office/drawing/2014/main" id="{5E675DA1-36CE-469D-B4F4-FBA1F83C1E70}"/>
              </a:ext>
            </a:extLst>
          </p:cNvPr>
          <p:cNvSpPr/>
          <p:nvPr/>
        </p:nvSpPr>
        <p:spPr>
          <a:xfrm>
            <a:off x="8222210" y="4604618"/>
            <a:ext cx="1941015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потребности в материалах</a:t>
            </a:r>
          </a:p>
        </p:txBody>
      </p:sp>
    </p:spTree>
    <p:extLst>
      <p:ext uri="{BB962C8B-B14F-4D97-AF65-F5344CB8AC3E}">
        <p14:creationId xmlns:p14="http://schemas.microsoft.com/office/powerpoint/2010/main" val="3610149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7D37D0B-7CA3-4E07-AA77-956C2DF485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416" imgH="416" progId="TCLayout.ActiveDocument.1">
                  <p:embed/>
                </p:oleObj>
              </mc:Choice>
              <mc:Fallback>
                <p:oleObj name="Слайд think-cell" r:id="rId4" imgW="416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D37D0B-7CA3-4E07-AA77-956C2DF48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Номер слайда 1">
            <a:extLst>
              <a:ext uri="{FF2B5EF4-FFF2-40B4-BE49-F238E27FC236}">
                <a16:creationId xmlns:a16="http://schemas.microsoft.com/office/drawing/2014/main" id="{A1D83D52-395A-4AA1-A805-E2450B0C76BB}"/>
              </a:ext>
            </a:extLst>
          </p:cNvPr>
          <p:cNvSpPr txBox="1">
            <a:spLocks/>
          </p:cNvSpPr>
          <p:nvPr/>
        </p:nvSpPr>
        <p:spPr>
          <a:xfrm>
            <a:off x="11438465" y="6419690"/>
            <a:ext cx="493275" cy="17796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defPPr>
              <a:defRPr lang="ru-RU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anrope" pitchFamily="2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anrope" pitchFamily="2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BEFFB48-0330-4F3A-A11F-8B51558147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992" y="844072"/>
            <a:ext cx="4244342" cy="192117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E3C051-1B66-46C7-981B-AE3FBBB0AC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2662" y="856653"/>
            <a:ext cx="4349980" cy="190708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EF88AED-6D92-4B13-974E-F9FC1D6A91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8202" y="815702"/>
            <a:ext cx="4349980" cy="195085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A7FCE8-3A61-4D1E-B1BC-389E03959B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7001" y="819649"/>
            <a:ext cx="3453264" cy="195085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16B731E-2761-4A11-9498-79E42BD534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1309" y="803610"/>
            <a:ext cx="3896636" cy="198443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C3149D5-A6A5-4355-908A-32F9A6D081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995" y="791748"/>
            <a:ext cx="2404904" cy="2025485"/>
          </a:xfrm>
          <a:prstGeom prst="rect">
            <a:avLst/>
          </a:prstGeo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612B604-D7E8-4AAE-B816-61049BC41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Планирование сети поставок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B5E3FDF0-8481-42D8-BE38-EB5FC775A402}"/>
              </a:ext>
            </a:extLst>
          </p:cNvPr>
          <p:cNvSpPr/>
          <p:nvPr/>
        </p:nvSpPr>
        <p:spPr>
          <a:xfrm>
            <a:off x="573993" y="5144892"/>
            <a:ext cx="1574589" cy="741503"/>
          </a:xfrm>
          <a:prstGeom prst="rect">
            <a:avLst/>
          </a:prstGeom>
          <a:solidFill>
            <a:srgbClr val="AD27BA"/>
          </a:solidFill>
          <a:ln w="12700" cap="flat" cmpd="sng" algn="ctr">
            <a:solidFill>
              <a:srgbClr val="AD27B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Получение результатов расчетов модуля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MEIO</a:t>
            </a: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B48ECE4E-2605-471A-B8A9-CA47155FEB21}"/>
              </a:ext>
            </a:extLst>
          </p:cNvPr>
          <p:cNvSpPr/>
          <p:nvPr/>
        </p:nvSpPr>
        <p:spPr>
          <a:xfrm>
            <a:off x="4599033" y="4877208"/>
            <a:ext cx="141660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ru-RU" sz="1000" dirty="0">
                <a:solidFill>
                  <a:schemeClr val="bg1"/>
                </a:solidFill>
              </a:rPr>
              <a:t>Анализ возникновения непокрытой потребности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ru-RU" sz="1000" dirty="0">
                <a:solidFill>
                  <a:schemeClr val="bg1"/>
                </a:solidFill>
              </a:rPr>
              <a:t>Анализ загрузки мощностей</a:t>
            </a:r>
          </a:p>
        </p:txBody>
      </p:sp>
      <p:sp>
        <p:nvSpPr>
          <p:cNvPr id="40" name="Rectangle 19">
            <a:extLst>
              <a:ext uri="{FF2B5EF4-FFF2-40B4-BE49-F238E27FC236}">
                <a16:creationId xmlns:a16="http://schemas.microsoft.com/office/drawing/2014/main" id="{7F38E0B3-9150-40CA-9FB7-80AD4BF44087}"/>
              </a:ext>
            </a:extLst>
          </p:cNvPr>
          <p:cNvSpPr/>
          <p:nvPr/>
        </p:nvSpPr>
        <p:spPr>
          <a:xfrm>
            <a:off x="6564465" y="4859602"/>
            <a:ext cx="1450549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ru-RU" sz="1000" dirty="0">
                <a:solidFill>
                  <a:schemeClr val="bg1"/>
                </a:solidFill>
              </a:rPr>
              <a:t>Внесение корректировок резервной мощности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ru-RU" sz="1000" dirty="0">
                <a:solidFill>
                  <a:schemeClr val="bg1"/>
                </a:solidFill>
              </a:rPr>
              <a:t>Запуск пересчета алгоритмов после внесения корректировок</a:t>
            </a:r>
          </a:p>
        </p:txBody>
      </p:sp>
      <p:sp>
        <p:nvSpPr>
          <p:cNvPr id="54" name="Rectangle 19">
            <a:extLst>
              <a:ext uri="{FF2B5EF4-FFF2-40B4-BE49-F238E27FC236}">
                <a16:creationId xmlns:a16="http://schemas.microsoft.com/office/drawing/2014/main" id="{C3879485-8C04-4CD2-95E1-58E4E1F673FE}"/>
              </a:ext>
            </a:extLst>
          </p:cNvPr>
          <p:cNvSpPr/>
          <p:nvPr/>
        </p:nvSpPr>
        <p:spPr>
          <a:xfrm>
            <a:off x="2747778" y="4877208"/>
            <a:ext cx="156685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ru-RU" sz="1000" dirty="0">
                <a:solidFill>
                  <a:schemeClr val="bg1"/>
                </a:solidFill>
              </a:rPr>
              <a:t>Верхнеуровневый анализ предупреждений 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ru-RU" sz="1000" dirty="0">
                <a:solidFill>
                  <a:schemeClr val="bg1"/>
                </a:solidFill>
              </a:rPr>
              <a:t>Детальный анализ предупреждений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ru-RU" sz="1000" dirty="0">
                <a:solidFill>
                  <a:schemeClr val="bg1"/>
                </a:solidFill>
              </a:rPr>
              <a:t>Анализ покрытия потребности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5" name="Rectangle 19">
            <a:extLst>
              <a:ext uri="{FF2B5EF4-FFF2-40B4-BE49-F238E27FC236}">
                <a16:creationId xmlns:a16="http://schemas.microsoft.com/office/drawing/2014/main" id="{F4A68D28-781C-4D0E-B65B-5FBC5688F0AC}"/>
              </a:ext>
            </a:extLst>
          </p:cNvPr>
          <p:cNvSpPr/>
          <p:nvPr/>
        </p:nvSpPr>
        <p:spPr>
          <a:xfrm>
            <a:off x="8234658" y="4880028"/>
            <a:ext cx="1820672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ru-RU" sz="1000" dirty="0">
                <a:solidFill>
                  <a:schemeClr val="bg1"/>
                </a:solidFill>
              </a:rPr>
              <a:t>Повторный анализ загрузки мощностей 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ru-RU" sz="1000" dirty="0">
                <a:solidFill>
                  <a:schemeClr val="bg1"/>
                </a:solidFill>
              </a:rPr>
              <a:t>Повторный анализ предупреждений 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ru-RU" sz="1000" dirty="0">
                <a:solidFill>
                  <a:schemeClr val="bg1"/>
                </a:solidFill>
              </a:rPr>
              <a:t>Анализ покрытия потребности 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ru-RU" sz="1000" dirty="0">
                <a:solidFill>
                  <a:schemeClr val="bg1"/>
                </a:solidFill>
              </a:rPr>
              <a:t>Анализ результатов работы оптимизатора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53968477-F427-44F0-9B3B-65745D77E46A}"/>
              </a:ext>
            </a:extLst>
          </p:cNvPr>
          <p:cNvSpPr/>
          <p:nvPr/>
        </p:nvSpPr>
        <p:spPr>
          <a:xfrm>
            <a:off x="573992" y="3960602"/>
            <a:ext cx="1574591" cy="741503"/>
          </a:xfrm>
          <a:prstGeom prst="rect">
            <a:avLst/>
          </a:prstGeom>
          <a:solidFill>
            <a:srgbClr val="AD27BA"/>
          </a:solidFill>
          <a:ln w="12700" cap="flat" cmpd="sng" algn="ctr">
            <a:solidFill>
              <a:srgbClr val="AD27B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Получение неограниченного спроса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BD04E67-DEF2-4FC4-92B7-CCDE752DCE18}"/>
              </a:ext>
            </a:extLst>
          </p:cNvPr>
          <p:cNvSpPr/>
          <p:nvPr/>
        </p:nvSpPr>
        <p:spPr>
          <a:xfrm>
            <a:off x="2804516" y="3960602"/>
            <a:ext cx="1449974" cy="741503"/>
          </a:xfrm>
          <a:prstGeom prst="rect">
            <a:avLst/>
          </a:prstGeom>
          <a:solidFill>
            <a:srgbClr val="40005E"/>
          </a:solidFill>
          <a:ln w="38100" cap="flat" cmpd="sng" algn="ctr">
            <a:solidFill>
              <a:srgbClr val="40005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Первичный анализ спроса и выявление проблем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255CAB8A-0300-446A-B04D-5463998E655B}"/>
              </a:ext>
            </a:extLst>
          </p:cNvPr>
          <p:cNvSpPr/>
          <p:nvPr/>
        </p:nvSpPr>
        <p:spPr>
          <a:xfrm>
            <a:off x="4586991" y="3960602"/>
            <a:ext cx="1449974" cy="741503"/>
          </a:xfrm>
          <a:prstGeom prst="rect">
            <a:avLst/>
          </a:prstGeom>
          <a:solidFill>
            <a:srgbClr val="40005E"/>
          </a:solidFill>
          <a:ln w="12700" cap="flat" cmpd="sng" algn="ctr">
            <a:solidFill>
              <a:srgbClr val="40005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Детальная диагностика возникших дефицитов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CE374AE-84AB-4491-AA79-6B8DFAA7360E}"/>
              </a:ext>
            </a:extLst>
          </p:cNvPr>
          <p:cNvSpPr/>
          <p:nvPr/>
        </p:nvSpPr>
        <p:spPr>
          <a:xfrm>
            <a:off x="6565040" y="3960602"/>
            <a:ext cx="1449974" cy="741503"/>
          </a:xfrm>
          <a:prstGeom prst="rect">
            <a:avLst/>
          </a:prstGeom>
          <a:solidFill>
            <a:srgbClr val="AD00FF"/>
          </a:solidFill>
          <a:ln w="12700" cap="flat" cmpd="sng" algn="ctr">
            <a:solidFill>
              <a:srgbClr val="AD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Внесение корректировок и перезапуск оптимизатора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54F7377F-9E86-4C98-AB58-64E418B6FB0D}"/>
              </a:ext>
            </a:extLst>
          </p:cNvPr>
          <p:cNvSpPr/>
          <p:nvPr/>
        </p:nvSpPr>
        <p:spPr>
          <a:xfrm>
            <a:off x="8293096" y="3960602"/>
            <a:ext cx="1449974" cy="741503"/>
          </a:xfrm>
          <a:prstGeom prst="rect">
            <a:avLst/>
          </a:prstGeom>
          <a:solidFill>
            <a:srgbClr val="AD00FF"/>
          </a:solidFill>
          <a:ln w="12700" cap="flat" cmpd="sng" algn="ctr">
            <a:solidFill>
              <a:srgbClr val="AD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Повторный анализ плана с учетом корректировок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0AE77031-6369-4CC7-886C-4C3127185E7A}"/>
              </a:ext>
            </a:extLst>
          </p:cNvPr>
          <p:cNvSpPr/>
          <p:nvPr/>
        </p:nvSpPr>
        <p:spPr>
          <a:xfrm>
            <a:off x="10229963" y="3960602"/>
            <a:ext cx="1573200" cy="741503"/>
          </a:xfrm>
          <a:prstGeom prst="rect">
            <a:avLst/>
          </a:prstGeom>
          <a:solidFill>
            <a:srgbClr val="323232"/>
          </a:solidFill>
          <a:ln w="12700" cap="flat" cmpd="sng" algn="ctr">
            <a:solidFill>
              <a:srgbClr val="32323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Передача согласованного объемного плана в модуль PS</a:t>
            </a:r>
          </a:p>
        </p:txBody>
      </p:sp>
      <p:cxnSp>
        <p:nvCxnSpPr>
          <p:cNvPr id="64" name="Прямая со стрелкой 63">
            <a:extLst>
              <a:ext uri="{FF2B5EF4-FFF2-40B4-BE49-F238E27FC236}">
                <a16:creationId xmlns:a16="http://schemas.microsoft.com/office/drawing/2014/main" id="{255A8C2B-89A4-4991-8A0B-C25F4AFCA7C5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>
            <a:off x="4254490" y="4331354"/>
            <a:ext cx="332501" cy="0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id="{D740634F-A700-4437-B0DD-185F5C7E9C1A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6036965" y="4331354"/>
            <a:ext cx="528075" cy="0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458DEB30-A52C-4B65-B2A4-D7E05939D36A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8015014" y="4331354"/>
            <a:ext cx="278082" cy="0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34F54428-57E3-40E9-B163-D51EDC36C1B5}"/>
              </a:ext>
            </a:extLst>
          </p:cNvPr>
          <p:cNvCxnSpPr>
            <a:cxnSpLocks/>
            <a:stCxn id="60" idx="3"/>
            <a:endCxn id="63" idx="1"/>
          </p:cNvCxnSpPr>
          <p:nvPr/>
        </p:nvCxnSpPr>
        <p:spPr>
          <a:xfrm>
            <a:off x="9743070" y="4331354"/>
            <a:ext cx="486893" cy="0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6EB6BA22-344D-4B5D-B3EA-5392917C6B9F}"/>
              </a:ext>
            </a:extLst>
          </p:cNvPr>
          <p:cNvSpPr/>
          <p:nvPr/>
        </p:nvSpPr>
        <p:spPr>
          <a:xfrm>
            <a:off x="573993" y="2987536"/>
            <a:ext cx="1574589" cy="741600"/>
          </a:xfrm>
          <a:prstGeom prst="rect">
            <a:avLst/>
          </a:prstGeom>
          <a:solidFill>
            <a:srgbClr val="AD27BA"/>
          </a:solidFill>
          <a:ln>
            <a:solidFill>
              <a:srgbClr val="AD27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schemeClr val="bg1"/>
                </a:solidFill>
              </a:rPr>
              <a:t>Получение данных из смежных модулей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1BAE7F10-A270-4628-B151-30FA8C2993B7}"/>
              </a:ext>
            </a:extLst>
          </p:cNvPr>
          <p:cNvSpPr/>
          <p:nvPr/>
        </p:nvSpPr>
        <p:spPr>
          <a:xfrm>
            <a:off x="2783192" y="2987536"/>
            <a:ext cx="3232448" cy="741600"/>
          </a:xfrm>
          <a:prstGeom prst="rect">
            <a:avLst/>
          </a:prstGeom>
          <a:solidFill>
            <a:srgbClr val="40005E"/>
          </a:solidFill>
          <a:ln>
            <a:solidFill>
              <a:srgbClr val="4000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schemeClr val="bg1"/>
                </a:solidFill>
              </a:rPr>
              <a:t>Анализ и диагностика плана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7AFBAD7F-5D83-45C1-BBC8-FEA3B40F6CDD}"/>
              </a:ext>
            </a:extLst>
          </p:cNvPr>
          <p:cNvSpPr/>
          <p:nvPr/>
        </p:nvSpPr>
        <p:spPr>
          <a:xfrm>
            <a:off x="6564465" y="2987536"/>
            <a:ext cx="3178605" cy="741600"/>
          </a:xfrm>
          <a:prstGeom prst="rect">
            <a:avLst/>
          </a:prstGeom>
          <a:solidFill>
            <a:srgbClr val="AD00FF"/>
          </a:solidFill>
          <a:ln>
            <a:solidFill>
              <a:srgbClr val="AD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Корректировки плана и повторный анализ </a:t>
            </a: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D8899552-90AB-4778-9C99-3F196D9BC9DC}"/>
              </a:ext>
            </a:extLst>
          </p:cNvPr>
          <p:cNvSpPr/>
          <p:nvPr/>
        </p:nvSpPr>
        <p:spPr>
          <a:xfrm>
            <a:off x="10229963" y="2987536"/>
            <a:ext cx="1573200" cy="741600"/>
          </a:xfrm>
          <a:prstGeom prst="rect">
            <a:avLst/>
          </a:prstGeom>
          <a:solidFill>
            <a:srgbClr val="323232"/>
          </a:solidFill>
          <a:ln>
            <a:solidFill>
              <a:srgbClr val="3232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schemeClr val="bg1"/>
                </a:solidFill>
              </a:rPr>
              <a:t>Передача </a:t>
            </a:r>
            <a:br>
              <a:rPr lang="ru-RU" sz="1100" dirty="0">
                <a:solidFill>
                  <a:schemeClr val="bg1"/>
                </a:solidFill>
              </a:rPr>
            </a:br>
            <a:r>
              <a:rPr lang="ru-RU" sz="1100" dirty="0">
                <a:solidFill>
                  <a:schemeClr val="bg1"/>
                </a:solidFill>
              </a:rPr>
              <a:t>планов в </a:t>
            </a:r>
            <a:r>
              <a:rPr lang="en-US" sz="1100" dirty="0">
                <a:solidFill>
                  <a:schemeClr val="bg1"/>
                </a:solidFill>
              </a:rPr>
              <a:t>PS</a:t>
            </a:r>
          </a:p>
        </p:txBody>
      </p:sp>
      <p:cxnSp>
        <p:nvCxnSpPr>
          <p:cNvPr id="74" name="Прямая соединительная линия 73">
            <a:extLst>
              <a:ext uri="{FF2B5EF4-FFF2-40B4-BE49-F238E27FC236}">
                <a16:creationId xmlns:a16="http://schemas.microsoft.com/office/drawing/2014/main" id="{064DA10D-5719-42C4-A828-D1D5D9AFFE0C}"/>
              </a:ext>
            </a:extLst>
          </p:cNvPr>
          <p:cNvCxnSpPr>
            <a:cxnSpLocks/>
          </p:cNvCxnSpPr>
          <p:nvPr/>
        </p:nvCxnSpPr>
        <p:spPr>
          <a:xfrm>
            <a:off x="2136670" y="4331354"/>
            <a:ext cx="335344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id="{197FC566-DBBB-49BA-A582-D1CA6E6452B0}"/>
              </a:ext>
            </a:extLst>
          </p:cNvPr>
          <p:cNvCxnSpPr/>
          <p:nvPr/>
        </p:nvCxnSpPr>
        <p:spPr>
          <a:xfrm>
            <a:off x="2136670" y="5451942"/>
            <a:ext cx="335344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E48EC8D7-1E3E-4034-AF4C-165354C0B47B}"/>
              </a:ext>
            </a:extLst>
          </p:cNvPr>
          <p:cNvCxnSpPr>
            <a:cxnSpLocks/>
          </p:cNvCxnSpPr>
          <p:nvPr/>
        </p:nvCxnSpPr>
        <p:spPr>
          <a:xfrm>
            <a:off x="2472014" y="4331354"/>
            <a:ext cx="0" cy="1120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>
            <a:extLst>
              <a:ext uri="{FF2B5EF4-FFF2-40B4-BE49-F238E27FC236}">
                <a16:creationId xmlns:a16="http://schemas.microsoft.com/office/drawing/2014/main" id="{58168FF7-F165-4398-88AC-6629E961A9EC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2196128" y="4331354"/>
            <a:ext cx="608388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77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2D0882-BFE6-4C16-ADAC-707621549BB9}"/>
              </a:ext>
            </a:extLst>
          </p:cNvPr>
          <p:cNvSpPr txBox="1"/>
          <p:nvPr/>
        </p:nvSpPr>
        <p:spPr>
          <a:xfrm>
            <a:off x="444136" y="2828835"/>
            <a:ext cx="891757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+mj-lt"/>
              </a:rPr>
              <a:t>Планирование потребности в материалах</a:t>
            </a:r>
          </a:p>
          <a:p>
            <a:endParaRPr lang="ru-RU" sz="3200" dirty="0">
              <a:solidFill>
                <a:schemeClr val="bg1"/>
              </a:solidFill>
              <a:latin typeface="+mj-lt"/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Material Requirement Planning (MRP)</a:t>
            </a:r>
            <a:endParaRPr lang="ru-RU" sz="2400" dirty="0"/>
          </a:p>
        </p:txBody>
      </p:sp>
      <p:sp>
        <p:nvSpPr>
          <p:cNvPr id="10" name="Стрелка: шеврон 6">
            <a:extLst>
              <a:ext uri="{FF2B5EF4-FFF2-40B4-BE49-F238E27FC236}">
                <a16:creationId xmlns:a16="http://schemas.microsoft.com/office/drawing/2014/main" id="{7AC5F31D-BA64-4634-8FAF-68993FFB79BD}"/>
              </a:ext>
            </a:extLst>
          </p:cNvPr>
          <p:cNvSpPr/>
          <p:nvPr/>
        </p:nvSpPr>
        <p:spPr>
          <a:xfrm>
            <a:off x="2431720" y="4604618"/>
            <a:ext cx="2029153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 err="1">
                <a:solidFill>
                  <a:schemeClr val="bg1"/>
                </a:solidFill>
              </a:rPr>
              <a:t>Мультиэшелонная</a:t>
            </a:r>
            <a:r>
              <a:rPr lang="ru-RU" sz="1200" b="1" dirty="0">
                <a:solidFill>
                  <a:schemeClr val="bg1"/>
                </a:solidFill>
              </a:rPr>
              <a:t> оптимизация запасов</a:t>
            </a:r>
          </a:p>
        </p:txBody>
      </p:sp>
      <p:sp>
        <p:nvSpPr>
          <p:cNvPr id="13" name="Стрелка: шеврон 8">
            <a:extLst>
              <a:ext uri="{FF2B5EF4-FFF2-40B4-BE49-F238E27FC236}">
                <a16:creationId xmlns:a16="http://schemas.microsoft.com/office/drawing/2014/main" id="{DD6F9247-11D2-4419-A864-67970FC92438}"/>
              </a:ext>
            </a:extLst>
          </p:cNvPr>
          <p:cNvSpPr/>
          <p:nvPr/>
        </p:nvSpPr>
        <p:spPr>
          <a:xfrm>
            <a:off x="4387252" y="4604618"/>
            <a:ext cx="1941015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сети поставок</a:t>
            </a:r>
          </a:p>
        </p:txBody>
      </p:sp>
      <p:sp>
        <p:nvSpPr>
          <p:cNvPr id="14" name="Стрелка: шеврон 9">
            <a:extLst>
              <a:ext uri="{FF2B5EF4-FFF2-40B4-BE49-F238E27FC236}">
                <a16:creationId xmlns:a16="http://schemas.microsoft.com/office/drawing/2014/main" id="{659C6741-5412-42C9-888F-44B669BC8F28}"/>
              </a:ext>
            </a:extLst>
          </p:cNvPr>
          <p:cNvSpPr/>
          <p:nvPr/>
        </p:nvSpPr>
        <p:spPr>
          <a:xfrm>
            <a:off x="6254646" y="4604618"/>
            <a:ext cx="2041185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Производственное планирование и графикование</a:t>
            </a:r>
          </a:p>
        </p:txBody>
      </p:sp>
      <p:sp>
        <p:nvSpPr>
          <p:cNvPr id="15" name="Стрелка: шеврон 10">
            <a:extLst>
              <a:ext uri="{FF2B5EF4-FFF2-40B4-BE49-F238E27FC236}">
                <a16:creationId xmlns:a16="http://schemas.microsoft.com/office/drawing/2014/main" id="{A3FC40D0-B06A-4689-BF19-9F681158A0E6}"/>
              </a:ext>
            </a:extLst>
          </p:cNvPr>
          <p:cNvSpPr/>
          <p:nvPr/>
        </p:nvSpPr>
        <p:spPr>
          <a:xfrm>
            <a:off x="505634" y="4604618"/>
            <a:ext cx="1999707" cy="836813"/>
          </a:xfrm>
          <a:prstGeom prst="chevron">
            <a:avLst>
              <a:gd name="adj" fmla="val 2112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спроса </a:t>
            </a:r>
          </a:p>
        </p:txBody>
      </p:sp>
      <p:sp>
        <p:nvSpPr>
          <p:cNvPr id="16" name="Стрелка: шеврон 8">
            <a:extLst>
              <a:ext uri="{FF2B5EF4-FFF2-40B4-BE49-F238E27FC236}">
                <a16:creationId xmlns:a16="http://schemas.microsoft.com/office/drawing/2014/main" id="{30105102-3137-4594-A69F-490F94D36CFE}"/>
              </a:ext>
            </a:extLst>
          </p:cNvPr>
          <p:cNvSpPr/>
          <p:nvPr/>
        </p:nvSpPr>
        <p:spPr>
          <a:xfrm>
            <a:off x="8222210" y="4604618"/>
            <a:ext cx="1941015" cy="836813"/>
          </a:xfrm>
          <a:prstGeom prst="chevron">
            <a:avLst>
              <a:gd name="adj" fmla="val 21123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потребности в материалах</a:t>
            </a:r>
          </a:p>
        </p:txBody>
      </p:sp>
    </p:spTree>
    <p:extLst>
      <p:ext uri="{BB962C8B-B14F-4D97-AF65-F5344CB8AC3E}">
        <p14:creationId xmlns:p14="http://schemas.microsoft.com/office/powerpoint/2010/main" val="1506521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8D180741-DDE5-4CA3-BAC1-7C28249BDD18}"/>
              </a:ext>
            </a:extLst>
          </p:cNvPr>
          <p:cNvGrpSpPr/>
          <p:nvPr/>
        </p:nvGrpSpPr>
        <p:grpSpPr>
          <a:xfrm>
            <a:off x="2255826" y="1289669"/>
            <a:ext cx="5166389" cy="576000"/>
            <a:chOff x="2255826" y="1289669"/>
            <a:chExt cx="5166389" cy="57600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BEBDF68C-5568-4DF6-B06C-700170EEB96B}"/>
                </a:ext>
              </a:extLst>
            </p:cNvPr>
            <p:cNvSpPr/>
            <p:nvPr/>
          </p:nvSpPr>
          <p:spPr>
            <a:xfrm>
              <a:off x="5910215" y="1289669"/>
              <a:ext cx="1512000" cy="576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bg1"/>
                  </a:solidFill>
                </a:rPr>
                <a:t>Формирование заявок на закупку</a:t>
              </a:r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4212F3A-CC04-4374-9135-C868194EDC0F}"/>
                </a:ext>
              </a:extLst>
            </p:cNvPr>
            <p:cNvSpPr/>
            <p:nvPr/>
          </p:nvSpPr>
          <p:spPr>
            <a:xfrm>
              <a:off x="2255826" y="1289669"/>
              <a:ext cx="1512000" cy="576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0" i="0" dirty="0">
                  <a:solidFill>
                    <a:schemeClr val="bg1"/>
                  </a:solidFill>
                  <a:effectLst/>
                </a:rPr>
                <a:t>Разузлование </a:t>
              </a:r>
              <a:r>
                <a:rPr lang="en-US" sz="1000" b="0" i="0" dirty="0">
                  <a:solidFill>
                    <a:schemeClr val="bg1"/>
                  </a:solidFill>
                  <a:effectLst/>
                </a:rPr>
                <a:t>BOM</a:t>
              </a:r>
              <a:r>
                <a:rPr lang="ru-RU" sz="1000" b="0" i="0" dirty="0">
                  <a:solidFill>
                    <a:schemeClr val="bg1"/>
                  </a:solidFill>
                  <a:effectLst/>
                </a:rPr>
                <a:t>, проверка аналогов и замен</a:t>
              </a:r>
              <a:endParaRPr lang="ru-RU" sz="1000" dirty="0">
                <a:solidFill>
                  <a:schemeClr val="bg1"/>
                </a:solidFill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56105B01-5C63-45D7-A1D2-FFD38B571A68}"/>
                </a:ext>
              </a:extLst>
            </p:cNvPr>
            <p:cNvSpPr/>
            <p:nvPr/>
          </p:nvSpPr>
          <p:spPr>
            <a:xfrm>
              <a:off x="4083021" y="1289669"/>
              <a:ext cx="1512000" cy="576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bg1"/>
                  </a:solidFill>
                </a:rPr>
                <a:t>Расчет брутто- и нетто-потребностей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214B74C-A664-4135-9446-CE8BF9E826A6}"/>
              </a:ext>
            </a:extLst>
          </p:cNvPr>
          <p:cNvSpPr txBox="1"/>
          <p:nvPr/>
        </p:nvSpPr>
        <p:spPr>
          <a:xfrm>
            <a:off x="4004390" y="920010"/>
            <a:ext cx="1669261" cy="26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i="0" dirty="0">
                <a:solidFill>
                  <a:schemeClr val="bg1"/>
                </a:solidFill>
                <a:effectLst/>
              </a:rPr>
              <a:t> Расчет потребности</a:t>
            </a:r>
            <a:endParaRPr lang="ru-RU" sz="1100" b="1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A07D290-FA59-49B9-8BBF-C181B1257A8B}"/>
              </a:ext>
            </a:extLst>
          </p:cNvPr>
          <p:cNvSpPr/>
          <p:nvPr/>
        </p:nvSpPr>
        <p:spPr>
          <a:xfrm>
            <a:off x="2173256" y="1219200"/>
            <a:ext cx="5324824" cy="7489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1320607-A24C-468C-8EDE-71DED8684D07}"/>
              </a:ext>
            </a:extLst>
          </p:cNvPr>
          <p:cNvSpPr/>
          <p:nvPr/>
        </p:nvSpPr>
        <p:spPr>
          <a:xfrm>
            <a:off x="219255" y="947131"/>
            <a:ext cx="1589436" cy="4577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Плановые заказы из </a:t>
            </a:r>
            <a:r>
              <a:rPr lang="en-US" sz="1000" dirty="0">
                <a:solidFill>
                  <a:schemeClr val="bg1"/>
                </a:solidFill>
              </a:rPr>
              <a:t>SNP</a:t>
            </a:r>
            <a:r>
              <a:rPr lang="ru-RU" sz="1000" dirty="0">
                <a:solidFill>
                  <a:schemeClr val="bg1"/>
                </a:solidFill>
              </a:rPr>
              <a:t>,</a:t>
            </a:r>
            <a:r>
              <a:rPr lang="en-US" sz="1000" dirty="0">
                <a:solidFill>
                  <a:schemeClr val="bg1"/>
                </a:solidFill>
              </a:rPr>
              <a:t> PS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1" name="Заголовок 2">
            <a:extLst>
              <a:ext uri="{FF2B5EF4-FFF2-40B4-BE49-F238E27FC236}">
                <a16:creationId xmlns:a16="http://schemas.microsoft.com/office/drawing/2014/main" id="{B0AE3586-B24E-4D21-AB39-CF1B6A7C4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93" y="275795"/>
            <a:ext cx="9708351" cy="572261"/>
          </a:xfrm>
        </p:spPr>
        <p:txBody>
          <a:bodyPr/>
          <a:lstStyle/>
          <a:p>
            <a:r>
              <a:rPr lang="ru-RU" sz="2000" b="1" dirty="0"/>
              <a:t>Типовой процесс </a:t>
            </a:r>
            <a:r>
              <a:rPr lang="en-US" sz="2000" b="1" dirty="0"/>
              <a:t>Material Requirements</a:t>
            </a:r>
            <a:r>
              <a:rPr lang="ru-RU" sz="2000" b="1" dirty="0"/>
              <a:t> Planning (</a:t>
            </a:r>
            <a:r>
              <a:rPr lang="en-US" sz="2000" b="1" dirty="0"/>
              <a:t>MRP</a:t>
            </a:r>
            <a:r>
              <a:rPr lang="ru-RU" sz="2000" b="1" dirty="0"/>
              <a:t>)</a:t>
            </a:r>
            <a:endParaRPr lang="ru-RU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E13FB3-4EB9-4FD8-9847-900D99A9F765}"/>
              </a:ext>
            </a:extLst>
          </p:cNvPr>
          <p:cNvSpPr txBox="1"/>
          <p:nvPr/>
        </p:nvSpPr>
        <p:spPr>
          <a:xfrm>
            <a:off x="2211585" y="1964091"/>
            <a:ext cx="162502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Спецификации (BOM)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900" dirty="0">
                <a:solidFill>
                  <a:schemeClr val="bg1"/>
                </a:solidFill>
              </a:rPr>
              <a:t>Аналоги и замены компонентов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7765DD-F3C3-4676-81CA-86A83C99098C}"/>
              </a:ext>
            </a:extLst>
          </p:cNvPr>
          <p:cNvSpPr txBox="1"/>
          <p:nvPr/>
        </p:nvSpPr>
        <p:spPr>
          <a:xfrm>
            <a:off x="4052260" y="1964091"/>
            <a:ext cx="1647773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Остатки и страховые запасы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Существующие заказы на поставку и заявки на закупку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Перемещения (входящие/исходящие)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Параметры партии (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min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/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max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/кратность, периодичность) и календари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0E55DA-5750-41AF-B076-CFC56F76C958}"/>
              </a:ext>
            </a:extLst>
          </p:cNvPr>
          <p:cNvSpPr txBox="1"/>
          <p:nvPr/>
        </p:nvSpPr>
        <p:spPr>
          <a:xfrm>
            <a:off x="5801637" y="1964091"/>
            <a:ext cx="21197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Параметры закупки: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Lead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time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, MOQ, 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min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/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max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 партия, кратность, периодичность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Источник поставки, квоты, цены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Данные по поставщикам и логистическим ограничениям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Календарь поставщика, окна отгрузки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Ограничения по объемам/мощностям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Транспортные ограничения</a:t>
            </a:r>
          </a:p>
        </p:txBody>
      </p: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B97476AE-3561-4C82-A53A-BBC2E1B67CD1}"/>
              </a:ext>
            </a:extLst>
          </p:cNvPr>
          <p:cNvGrpSpPr/>
          <p:nvPr/>
        </p:nvGrpSpPr>
        <p:grpSpPr>
          <a:xfrm>
            <a:off x="7737409" y="1289669"/>
            <a:ext cx="3339195" cy="576000"/>
            <a:chOff x="7737409" y="1289669"/>
            <a:chExt cx="3339195" cy="576000"/>
          </a:xfrm>
        </p:grpSpPr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E48D11A2-D180-441B-BBC9-DCC566188AA3}"/>
                </a:ext>
              </a:extLst>
            </p:cNvPr>
            <p:cNvSpPr/>
            <p:nvPr/>
          </p:nvSpPr>
          <p:spPr>
            <a:xfrm>
              <a:off x="7737409" y="1289669"/>
              <a:ext cx="1512000" cy="576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0" i="0" dirty="0">
                  <a:solidFill>
                    <a:schemeClr val="bg1"/>
                  </a:solidFill>
                  <a:effectLst/>
                </a:rPr>
                <a:t>Анализ предупреждений</a:t>
              </a:r>
              <a:endParaRPr lang="ru-RU" sz="1000" dirty="0">
                <a:solidFill>
                  <a:schemeClr val="bg1"/>
                </a:solidFill>
              </a:endParaRPr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7536AF4C-9A07-4833-8364-A76257FCDCA7}"/>
                </a:ext>
              </a:extLst>
            </p:cNvPr>
            <p:cNvSpPr/>
            <p:nvPr/>
          </p:nvSpPr>
          <p:spPr>
            <a:xfrm>
              <a:off x="9564604" y="1289669"/>
              <a:ext cx="1512000" cy="576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bg1"/>
                  </a:solidFill>
                </a:rPr>
                <a:t>Исправление данных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D601FC9-E01A-4218-BAF1-D4A81AEF9A90}"/>
              </a:ext>
            </a:extLst>
          </p:cNvPr>
          <p:cNvSpPr txBox="1"/>
          <p:nvPr/>
        </p:nvSpPr>
        <p:spPr>
          <a:xfrm>
            <a:off x="7978158" y="920010"/>
            <a:ext cx="2857696" cy="267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i="0" dirty="0">
                <a:solidFill>
                  <a:schemeClr val="bg1"/>
                </a:solidFill>
                <a:effectLst/>
              </a:rPr>
              <a:t>Обработка ошибок и предупреждений</a:t>
            </a:r>
            <a:endParaRPr lang="ru-RU" sz="11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795ABB-45E5-4090-A66C-3631A4F4EB4A}"/>
              </a:ext>
            </a:extLst>
          </p:cNvPr>
          <p:cNvSpPr txBox="1"/>
          <p:nvPr/>
        </p:nvSpPr>
        <p:spPr>
          <a:xfrm>
            <a:off x="1980961" y="3737308"/>
            <a:ext cx="31707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i="0" dirty="0">
                <a:solidFill>
                  <a:schemeClr val="bg1"/>
                </a:solidFill>
                <a:effectLst/>
              </a:rPr>
              <a:t>Анализ и корректировка результатов</a:t>
            </a:r>
            <a:endParaRPr lang="ru-RU" sz="1100" b="1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6081B92-9F50-49A2-9F33-93B7F48BFFCC}"/>
              </a:ext>
            </a:extLst>
          </p:cNvPr>
          <p:cNvSpPr/>
          <p:nvPr/>
        </p:nvSpPr>
        <p:spPr>
          <a:xfrm>
            <a:off x="188073" y="4014182"/>
            <a:ext cx="6721087" cy="76349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cxnSp>
        <p:nvCxnSpPr>
          <p:cNvPr id="32" name="Соединитель: уступ 31">
            <a:extLst>
              <a:ext uri="{FF2B5EF4-FFF2-40B4-BE49-F238E27FC236}">
                <a16:creationId xmlns:a16="http://schemas.microsoft.com/office/drawing/2014/main" id="{666C8152-8033-45B9-BE9D-E3950457C3D9}"/>
              </a:ext>
            </a:extLst>
          </p:cNvPr>
          <p:cNvCxnSpPr>
            <a:cxnSpLocks/>
            <a:stCxn id="60" idx="3"/>
            <a:endCxn id="28" idx="1"/>
          </p:cNvCxnSpPr>
          <p:nvPr/>
        </p:nvCxnSpPr>
        <p:spPr>
          <a:xfrm flipH="1">
            <a:off x="188073" y="1600310"/>
            <a:ext cx="10983863" cy="2795622"/>
          </a:xfrm>
          <a:prstGeom prst="bentConnector5">
            <a:avLst>
              <a:gd name="adj1" fmla="val -2081"/>
              <a:gd name="adj2" fmla="val 75102"/>
              <a:gd name="adj3" fmla="val 100971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D02DF962-B5DD-459E-9024-6A2C604D40C8}"/>
              </a:ext>
            </a:extLst>
          </p:cNvPr>
          <p:cNvGrpSpPr/>
          <p:nvPr/>
        </p:nvGrpSpPr>
        <p:grpSpPr>
          <a:xfrm>
            <a:off x="270692" y="4107228"/>
            <a:ext cx="6591245" cy="576000"/>
            <a:chOff x="270692" y="4107228"/>
            <a:chExt cx="6591245" cy="576000"/>
          </a:xfrm>
        </p:grpSpPr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AA28081-E565-46F5-BB83-7E5361DEAB31}"/>
                </a:ext>
              </a:extLst>
            </p:cNvPr>
            <p:cNvSpPr/>
            <p:nvPr/>
          </p:nvSpPr>
          <p:spPr>
            <a:xfrm>
              <a:off x="3656856" y="4107228"/>
              <a:ext cx="1512000" cy="576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bg1"/>
                  </a:solidFill>
                </a:rPr>
                <a:t>Согласование изменений</a:t>
              </a: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0A560355-F8E5-494A-A2BB-DB93AC220FC9}"/>
                </a:ext>
              </a:extLst>
            </p:cNvPr>
            <p:cNvSpPr/>
            <p:nvPr/>
          </p:nvSpPr>
          <p:spPr>
            <a:xfrm>
              <a:off x="270692" y="4107228"/>
              <a:ext cx="1512000" cy="576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0" i="0" dirty="0">
                  <a:solidFill>
                    <a:schemeClr val="bg1"/>
                  </a:solidFill>
                  <a:effectLst/>
                </a:rPr>
                <a:t>Проверка обеспеченности </a:t>
              </a:r>
              <a:r>
                <a:rPr lang="en-US" sz="1000" b="0" i="0" dirty="0">
                  <a:solidFill>
                    <a:schemeClr val="bg1"/>
                  </a:solidFill>
                  <a:effectLst/>
                </a:rPr>
                <a:t>BOM</a:t>
              </a:r>
              <a:endParaRPr lang="ru-RU" sz="1000" dirty="0">
                <a:solidFill>
                  <a:schemeClr val="bg1"/>
                </a:solidFill>
              </a:endParaRP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5B6D8F70-663F-4EBB-B3F5-23A28BC94B99}"/>
                </a:ext>
              </a:extLst>
            </p:cNvPr>
            <p:cNvSpPr/>
            <p:nvPr/>
          </p:nvSpPr>
          <p:spPr>
            <a:xfrm>
              <a:off x="1963774" y="4107228"/>
              <a:ext cx="1512000" cy="576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bg1"/>
                  </a:solidFill>
                </a:rPr>
                <a:t>Корректировка заявок</a:t>
              </a:r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BFAC7A5F-B016-4CE0-84D5-F148E85B049C}"/>
                </a:ext>
              </a:extLst>
            </p:cNvPr>
            <p:cNvSpPr/>
            <p:nvPr/>
          </p:nvSpPr>
          <p:spPr>
            <a:xfrm>
              <a:off x="5349937" y="4107228"/>
              <a:ext cx="1512000" cy="576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bg1"/>
                  </a:solidFill>
                </a:rPr>
                <a:t>Согласование плана закупок</a:t>
              </a:r>
            </a:p>
          </p:txBody>
        </p:sp>
      </p:grp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F64183E-9EA2-4411-B1ED-BBA67E79A8B4}"/>
              </a:ext>
            </a:extLst>
          </p:cNvPr>
          <p:cNvSpPr/>
          <p:nvPr/>
        </p:nvSpPr>
        <p:spPr>
          <a:xfrm>
            <a:off x="10427764" y="4107228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Утверждение финального сценария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96994D8-BAD2-426B-9FE9-7FED0F0BDB44}"/>
              </a:ext>
            </a:extLst>
          </p:cNvPr>
          <p:cNvSpPr/>
          <p:nvPr/>
        </p:nvSpPr>
        <p:spPr>
          <a:xfrm>
            <a:off x="7138815" y="4107228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0" i="0" dirty="0">
                <a:solidFill>
                  <a:schemeClr val="bg1"/>
                </a:solidFill>
                <a:effectLst/>
              </a:rPr>
              <a:t>Создание альтернативных сценариев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3EBC565-6707-46E5-9404-EAC869C74EBC}"/>
              </a:ext>
            </a:extLst>
          </p:cNvPr>
          <p:cNvSpPr/>
          <p:nvPr/>
        </p:nvSpPr>
        <p:spPr>
          <a:xfrm>
            <a:off x="8783290" y="4107228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Сравнение по KPI (стоимость, риски, запасы)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A316C7-6533-433B-BB0B-B5BF2B5B3E83}"/>
              </a:ext>
            </a:extLst>
          </p:cNvPr>
          <p:cNvSpPr txBox="1"/>
          <p:nvPr/>
        </p:nvSpPr>
        <p:spPr>
          <a:xfrm>
            <a:off x="8535928" y="3737308"/>
            <a:ext cx="27871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i="0" dirty="0">
                <a:solidFill>
                  <a:schemeClr val="bg1"/>
                </a:solidFill>
                <a:effectLst/>
              </a:rPr>
              <a:t>Сценарное планирование</a:t>
            </a:r>
            <a:endParaRPr lang="ru-RU" sz="1100" b="1" dirty="0">
              <a:solidFill>
                <a:schemeClr val="bg1"/>
              </a:solidFill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68B7CF5-4C17-480A-825A-ADA19BAA0CA8}"/>
              </a:ext>
            </a:extLst>
          </p:cNvPr>
          <p:cNvSpPr/>
          <p:nvPr/>
        </p:nvSpPr>
        <p:spPr>
          <a:xfrm>
            <a:off x="7049802" y="4014182"/>
            <a:ext cx="4954125" cy="7676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cxnSp>
        <p:nvCxnSpPr>
          <p:cNvPr id="42" name="Соединитель: уступ 41">
            <a:extLst>
              <a:ext uri="{FF2B5EF4-FFF2-40B4-BE49-F238E27FC236}">
                <a16:creationId xmlns:a16="http://schemas.microsoft.com/office/drawing/2014/main" id="{0882E6F7-680A-4060-A913-DC9EB578B4F6}"/>
              </a:ext>
            </a:extLst>
          </p:cNvPr>
          <p:cNvCxnSpPr>
            <a:cxnSpLocks/>
            <a:endCxn id="24" idx="2"/>
          </p:cNvCxnSpPr>
          <p:nvPr/>
        </p:nvCxnSpPr>
        <p:spPr>
          <a:xfrm rot="10800000" flipV="1">
            <a:off x="4412857" y="4395274"/>
            <a:ext cx="7527661" cy="287954"/>
          </a:xfrm>
          <a:prstGeom prst="bentConnector4">
            <a:avLst>
              <a:gd name="adj1" fmla="val -1923"/>
              <a:gd name="adj2" fmla="val 614550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46C7B629-4704-4CEA-886C-872881C8DD8F}"/>
              </a:ext>
            </a:extLst>
          </p:cNvPr>
          <p:cNvSpPr/>
          <p:nvPr/>
        </p:nvSpPr>
        <p:spPr>
          <a:xfrm>
            <a:off x="5319724" y="5025931"/>
            <a:ext cx="1589436" cy="7634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ln w="0"/>
                <a:solidFill>
                  <a:schemeClr val="bg1"/>
                </a:solidFill>
              </a:rPr>
              <a:t>Передача плана в виде заявок на закупку в систему исполнения закупок</a:t>
            </a:r>
          </a:p>
        </p:txBody>
      </p:sp>
      <p:sp>
        <p:nvSpPr>
          <p:cNvPr id="45" name="Прямоугольник 39">
            <a:extLst>
              <a:ext uri="{FF2B5EF4-FFF2-40B4-BE49-F238E27FC236}">
                <a16:creationId xmlns:a16="http://schemas.microsoft.com/office/drawing/2014/main" id="{46D5904F-8F44-4722-B6B9-22DC43FEB966}"/>
              </a:ext>
            </a:extLst>
          </p:cNvPr>
          <p:cNvSpPr/>
          <p:nvPr/>
        </p:nvSpPr>
        <p:spPr>
          <a:xfrm>
            <a:off x="215873" y="1485673"/>
            <a:ext cx="1589436" cy="5204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Основные и транзакционные данные из </a:t>
            </a:r>
            <a:r>
              <a:rPr lang="en-US" sz="1000" dirty="0">
                <a:solidFill>
                  <a:schemeClr val="bg1"/>
                </a:solidFill>
              </a:rPr>
              <a:t>ERP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47" name="Прямоугольник 39">
            <a:extLst>
              <a:ext uri="{FF2B5EF4-FFF2-40B4-BE49-F238E27FC236}">
                <a16:creationId xmlns:a16="http://schemas.microsoft.com/office/drawing/2014/main" id="{00AD4B32-8DD2-4AE2-9439-DBF9DE3B2502}"/>
              </a:ext>
            </a:extLst>
          </p:cNvPr>
          <p:cNvSpPr/>
          <p:nvPr/>
        </p:nvSpPr>
        <p:spPr>
          <a:xfrm>
            <a:off x="216301" y="2086938"/>
            <a:ext cx="1589436" cy="6760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Рекомендованные уровни запасов из </a:t>
            </a:r>
            <a:r>
              <a:rPr lang="en-US" sz="1000" dirty="0">
                <a:solidFill>
                  <a:schemeClr val="bg1"/>
                </a:solidFill>
              </a:rPr>
              <a:t>MEIO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49" name="Прямоугольник 39">
            <a:extLst>
              <a:ext uri="{FF2B5EF4-FFF2-40B4-BE49-F238E27FC236}">
                <a16:creationId xmlns:a16="http://schemas.microsoft.com/office/drawing/2014/main" id="{A19E2C64-3755-4BA0-A3B1-1922B1220EE0}"/>
              </a:ext>
            </a:extLst>
          </p:cNvPr>
          <p:cNvSpPr/>
          <p:nvPr/>
        </p:nvSpPr>
        <p:spPr>
          <a:xfrm>
            <a:off x="215873" y="2843818"/>
            <a:ext cx="1589436" cy="5986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Плановые первичные потребности и другие виды потребностей</a:t>
            </a:r>
          </a:p>
        </p:txBody>
      </p:sp>
      <p:cxnSp>
        <p:nvCxnSpPr>
          <p:cNvPr id="50" name="Connector: Elbow 56">
            <a:extLst>
              <a:ext uri="{FF2B5EF4-FFF2-40B4-BE49-F238E27FC236}">
                <a16:creationId xmlns:a16="http://schemas.microsoft.com/office/drawing/2014/main" id="{2DCAA3F4-EE85-4032-8CA4-B05B10E8B6F4}"/>
              </a:ext>
            </a:extLst>
          </p:cNvPr>
          <p:cNvCxnSpPr>
            <a:cxnSpLocks/>
            <a:stCxn id="49" idx="3"/>
            <a:endCxn id="5" idx="1"/>
          </p:cNvCxnSpPr>
          <p:nvPr/>
        </p:nvCxnSpPr>
        <p:spPr>
          <a:xfrm flipV="1">
            <a:off x="1805309" y="1577669"/>
            <a:ext cx="450517" cy="1565496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Slide Number Placeholder 1">
            <a:extLst>
              <a:ext uri="{FF2B5EF4-FFF2-40B4-BE49-F238E27FC236}">
                <a16:creationId xmlns:a16="http://schemas.microsoft.com/office/drawing/2014/main" id="{638EC586-5562-4A7C-8E96-33F654DCDA61}"/>
              </a:ext>
            </a:extLst>
          </p:cNvPr>
          <p:cNvSpPr txBox="1">
            <a:spLocks/>
          </p:cNvSpPr>
          <p:nvPr/>
        </p:nvSpPr>
        <p:spPr>
          <a:xfrm>
            <a:off x="9185275" y="6392950"/>
            <a:ext cx="2743200" cy="198318"/>
          </a:xfrm>
          <a:prstGeom prst="rect">
            <a:avLst/>
          </a:prstGeom>
        </p:spPr>
        <p:txBody>
          <a:bodyPr rIns="0"/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9</a:t>
            </a:fld>
            <a:endParaRPr lang="en-US" dirty="0"/>
          </a:p>
        </p:txBody>
      </p:sp>
      <p:cxnSp>
        <p:nvCxnSpPr>
          <p:cNvPr id="55" name="Connector: Elbow 56">
            <a:extLst>
              <a:ext uri="{FF2B5EF4-FFF2-40B4-BE49-F238E27FC236}">
                <a16:creationId xmlns:a16="http://schemas.microsoft.com/office/drawing/2014/main" id="{B4A33832-6134-4D5C-9114-DB8BEE9227BF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1808691" y="1176002"/>
            <a:ext cx="447135" cy="401667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6">
            <a:extLst>
              <a:ext uri="{FF2B5EF4-FFF2-40B4-BE49-F238E27FC236}">
                <a16:creationId xmlns:a16="http://schemas.microsoft.com/office/drawing/2014/main" id="{78C7FE64-E22E-4DDA-B4C3-30D5F3C3EF0C}"/>
              </a:ext>
            </a:extLst>
          </p:cNvPr>
          <p:cNvCxnSpPr>
            <a:cxnSpLocks/>
            <a:stCxn id="45" idx="3"/>
            <a:endCxn id="5" idx="1"/>
          </p:cNvCxnSpPr>
          <p:nvPr/>
        </p:nvCxnSpPr>
        <p:spPr>
          <a:xfrm flipV="1">
            <a:off x="1805309" y="1577669"/>
            <a:ext cx="450517" cy="168236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0094DDE7-4EB3-4017-8720-7FE99710CDF9}"/>
              </a:ext>
            </a:extLst>
          </p:cNvPr>
          <p:cNvCxnSpPr>
            <a:cxnSpLocks/>
            <a:stCxn id="47" idx="3"/>
            <a:endCxn id="5" idx="1"/>
          </p:cNvCxnSpPr>
          <p:nvPr/>
        </p:nvCxnSpPr>
        <p:spPr>
          <a:xfrm flipV="1">
            <a:off x="1805737" y="1577669"/>
            <a:ext cx="450089" cy="847309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6F7CB97D-8608-416F-A457-E4A027E616D4}"/>
              </a:ext>
            </a:extLst>
          </p:cNvPr>
          <p:cNvSpPr/>
          <p:nvPr/>
        </p:nvSpPr>
        <p:spPr>
          <a:xfrm>
            <a:off x="7649247" y="1225836"/>
            <a:ext cx="3522689" cy="74894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2A370E9F-240B-4C3C-B7FA-A945930EE95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767826" y="1577669"/>
            <a:ext cx="315195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882809D5-B367-445D-937C-A4699E741138}"/>
              </a:ext>
            </a:extLst>
          </p:cNvPr>
          <p:cNvCxnSpPr/>
          <p:nvPr/>
        </p:nvCxnSpPr>
        <p:spPr>
          <a:xfrm>
            <a:off x="5595021" y="1577669"/>
            <a:ext cx="315195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>
            <a:extLst>
              <a:ext uri="{FF2B5EF4-FFF2-40B4-BE49-F238E27FC236}">
                <a16:creationId xmlns:a16="http://schemas.microsoft.com/office/drawing/2014/main" id="{DC93BABE-5560-4365-B31F-3CBB81909B91}"/>
              </a:ext>
            </a:extLst>
          </p:cNvPr>
          <p:cNvCxnSpPr/>
          <p:nvPr/>
        </p:nvCxnSpPr>
        <p:spPr>
          <a:xfrm>
            <a:off x="7422214" y="1552673"/>
            <a:ext cx="315195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Прямая со стрелкой 90">
            <a:extLst>
              <a:ext uri="{FF2B5EF4-FFF2-40B4-BE49-F238E27FC236}">
                <a16:creationId xmlns:a16="http://schemas.microsoft.com/office/drawing/2014/main" id="{089AABC7-8D31-4F69-B18A-069F0D84755C}"/>
              </a:ext>
            </a:extLst>
          </p:cNvPr>
          <p:cNvCxnSpPr/>
          <p:nvPr/>
        </p:nvCxnSpPr>
        <p:spPr>
          <a:xfrm>
            <a:off x="9249409" y="1577669"/>
            <a:ext cx="315195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 стрелкой 91">
            <a:extLst>
              <a:ext uri="{FF2B5EF4-FFF2-40B4-BE49-F238E27FC236}">
                <a16:creationId xmlns:a16="http://schemas.microsoft.com/office/drawing/2014/main" id="{F54CFF93-ECBE-49E5-BFC7-043C5FF62755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1782692" y="4395228"/>
            <a:ext cx="198269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16B67368-FD54-4BED-B811-FC6CD781520A}"/>
              </a:ext>
            </a:extLst>
          </p:cNvPr>
          <p:cNvCxnSpPr>
            <a:cxnSpLocks/>
          </p:cNvCxnSpPr>
          <p:nvPr/>
        </p:nvCxnSpPr>
        <p:spPr>
          <a:xfrm>
            <a:off x="3475774" y="4387789"/>
            <a:ext cx="198269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622C673D-312D-48D6-BB4C-AF5EBF525374}"/>
              </a:ext>
            </a:extLst>
          </p:cNvPr>
          <p:cNvCxnSpPr>
            <a:cxnSpLocks/>
          </p:cNvCxnSpPr>
          <p:nvPr/>
        </p:nvCxnSpPr>
        <p:spPr>
          <a:xfrm>
            <a:off x="5168856" y="4395228"/>
            <a:ext cx="198269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77438060-8CFA-4165-8C3E-8464D686E548}"/>
              </a:ext>
            </a:extLst>
          </p:cNvPr>
          <p:cNvCxnSpPr>
            <a:cxnSpLocks/>
          </p:cNvCxnSpPr>
          <p:nvPr/>
        </p:nvCxnSpPr>
        <p:spPr>
          <a:xfrm>
            <a:off x="6909160" y="4387789"/>
            <a:ext cx="198269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 стрелкой 98">
            <a:extLst>
              <a:ext uri="{FF2B5EF4-FFF2-40B4-BE49-F238E27FC236}">
                <a16:creationId xmlns:a16="http://schemas.microsoft.com/office/drawing/2014/main" id="{E06AC891-F6F2-46AE-AFE9-3D3BCDAE6F73}"/>
              </a:ext>
            </a:extLst>
          </p:cNvPr>
          <p:cNvCxnSpPr>
            <a:cxnSpLocks/>
          </p:cNvCxnSpPr>
          <p:nvPr/>
        </p:nvCxnSpPr>
        <p:spPr>
          <a:xfrm>
            <a:off x="8650815" y="4387789"/>
            <a:ext cx="198269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8B500A1F-4118-4E0D-B048-00A0CDD98C57}"/>
              </a:ext>
            </a:extLst>
          </p:cNvPr>
          <p:cNvCxnSpPr>
            <a:cxnSpLocks/>
          </p:cNvCxnSpPr>
          <p:nvPr/>
        </p:nvCxnSpPr>
        <p:spPr>
          <a:xfrm>
            <a:off x="10295290" y="4395228"/>
            <a:ext cx="198269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E8795D89-1DA7-4EDA-BBDF-F006C4736F1A}"/>
              </a:ext>
            </a:extLst>
          </p:cNvPr>
          <p:cNvCxnSpPr>
            <a:cxnSpLocks/>
            <a:stCxn id="33" idx="2"/>
            <a:endCxn id="43" idx="0"/>
          </p:cNvCxnSpPr>
          <p:nvPr/>
        </p:nvCxnSpPr>
        <p:spPr>
          <a:xfrm>
            <a:off x="6105937" y="4683228"/>
            <a:ext cx="8505" cy="342703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Соединитель: уступ 51">
            <a:extLst>
              <a:ext uri="{FF2B5EF4-FFF2-40B4-BE49-F238E27FC236}">
                <a16:creationId xmlns:a16="http://schemas.microsoft.com/office/drawing/2014/main" id="{C1845E59-BAD7-4343-AE76-71947A0D8997}"/>
              </a:ext>
            </a:extLst>
          </p:cNvPr>
          <p:cNvCxnSpPr>
            <a:cxnSpLocks/>
            <a:stCxn id="60" idx="3"/>
            <a:endCxn id="5" idx="0"/>
          </p:cNvCxnSpPr>
          <p:nvPr/>
        </p:nvCxnSpPr>
        <p:spPr>
          <a:xfrm flipH="1" flipV="1">
            <a:off x="3011826" y="1289669"/>
            <a:ext cx="8160110" cy="310641"/>
          </a:xfrm>
          <a:prstGeom prst="bentConnector4">
            <a:avLst>
              <a:gd name="adj1" fmla="val -2801"/>
              <a:gd name="adj2" fmla="val 272635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E5B220F-5966-4C72-A54C-A4C91FF63562}"/>
              </a:ext>
            </a:extLst>
          </p:cNvPr>
          <p:cNvSpPr txBox="1"/>
          <p:nvPr/>
        </p:nvSpPr>
        <p:spPr>
          <a:xfrm>
            <a:off x="9519904" y="2068792"/>
            <a:ext cx="18488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900" dirty="0">
                <a:solidFill>
                  <a:schemeClr val="bg1"/>
                </a:solidFill>
              </a:rPr>
              <a:t>Корректировка исходных данных, за которой следует перерасчет потребности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1729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2D0882-BFE6-4C16-ADAC-707621549BB9}"/>
              </a:ext>
            </a:extLst>
          </p:cNvPr>
          <p:cNvSpPr txBox="1"/>
          <p:nvPr/>
        </p:nvSpPr>
        <p:spPr>
          <a:xfrm>
            <a:off x="444136" y="2828835"/>
            <a:ext cx="985810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+mj-lt"/>
              </a:rPr>
              <a:t>Производственное планирование и графикование 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Production Scheduling (PS)</a:t>
            </a:r>
            <a:endParaRPr lang="ru-RU" sz="2400" dirty="0"/>
          </a:p>
        </p:txBody>
      </p:sp>
      <p:sp>
        <p:nvSpPr>
          <p:cNvPr id="7" name="Стрелка: шеврон 6">
            <a:extLst>
              <a:ext uri="{FF2B5EF4-FFF2-40B4-BE49-F238E27FC236}">
                <a16:creationId xmlns:a16="http://schemas.microsoft.com/office/drawing/2014/main" id="{247FDD31-D789-4F96-8BEC-BDA3A6019779}"/>
              </a:ext>
            </a:extLst>
          </p:cNvPr>
          <p:cNvSpPr/>
          <p:nvPr/>
        </p:nvSpPr>
        <p:spPr>
          <a:xfrm>
            <a:off x="2431720" y="4604618"/>
            <a:ext cx="2029153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 err="1">
                <a:solidFill>
                  <a:schemeClr val="bg1"/>
                </a:solidFill>
              </a:rPr>
              <a:t>Мультиэшелонная</a:t>
            </a:r>
            <a:r>
              <a:rPr lang="ru-RU" sz="1200" b="1" dirty="0">
                <a:solidFill>
                  <a:schemeClr val="bg1"/>
                </a:solidFill>
              </a:rPr>
              <a:t> оптимизация запасов</a:t>
            </a:r>
          </a:p>
        </p:txBody>
      </p:sp>
      <p:sp>
        <p:nvSpPr>
          <p:cNvPr id="9" name="Стрелка: шеврон 8">
            <a:extLst>
              <a:ext uri="{FF2B5EF4-FFF2-40B4-BE49-F238E27FC236}">
                <a16:creationId xmlns:a16="http://schemas.microsoft.com/office/drawing/2014/main" id="{7C4B9EDE-410A-4D59-B11C-26EB180BD607}"/>
              </a:ext>
            </a:extLst>
          </p:cNvPr>
          <p:cNvSpPr/>
          <p:nvPr/>
        </p:nvSpPr>
        <p:spPr>
          <a:xfrm>
            <a:off x="4387252" y="4604618"/>
            <a:ext cx="1941015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сети поставок</a:t>
            </a:r>
          </a:p>
        </p:txBody>
      </p:sp>
      <p:sp>
        <p:nvSpPr>
          <p:cNvPr id="10" name="Стрелка: шеврон 9">
            <a:extLst>
              <a:ext uri="{FF2B5EF4-FFF2-40B4-BE49-F238E27FC236}">
                <a16:creationId xmlns:a16="http://schemas.microsoft.com/office/drawing/2014/main" id="{D6E3BC55-FA58-4DA0-9605-C4BEFE7C4FB1}"/>
              </a:ext>
            </a:extLst>
          </p:cNvPr>
          <p:cNvSpPr/>
          <p:nvPr/>
        </p:nvSpPr>
        <p:spPr>
          <a:xfrm>
            <a:off x="6254646" y="4604618"/>
            <a:ext cx="2041185" cy="836813"/>
          </a:xfrm>
          <a:prstGeom prst="chevron">
            <a:avLst>
              <a:gd name="adj" fmla="val 21123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Производственное планирование и графикование</a:t>
            </a:r>
          </a:p>
        </p:txBody>
      </p:sp>
      <p:sp>
        <p:nvSpPr>
          <p:cNvPr id="11" name="Стрелка: шеврон 10">
            <a:extLst>
              <a:ext uri="{FF2B5EF4-FFF2-40B4-BE49-F238E27FC236}">
                <a16:creationId xmlns:a16="http://schemas.microsoft.com/office/drawing/2014/main" id="{DBEFA005-976F-4D02-8797-EF6EEE1EB9A5}"/>
              </a:ext>
            </a:extLst>
          </p:cNvPr>
          <p:cNvSpPr/>
          <p:nvPr/>
        </p:nvSpPr>
        <p:spPr>
          <a:xfrm>
            <a:off x="505634" y="4604618"/>
            <a:ext cx="1999707" cy="836813"/>
          </a:xfrm>
          <a:prstGeom prst="chevron">
            <a:avLst>
              <a:gd name="adj" fmla="val 2112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спроса </a:t>
            </a:r>
          </a:p>
        </p:txBody>
      </p:sp>
      <p:sp>
        <p:nvSpPr>
          <p:cNvPr id="12" name="Стрелка: шеврон 8">
            <a:extLst>
              <a:ext uri="{FF2B5EF4-FFF2-40B4-BE49-F238E27FC236}">
                <a16:creationId xmlns:a16="http://schemas.microsoft.com/office/drawing/2014/main" id="{E2414629-CFFD-4CC7-B493-5CE84E0D5FEE}"/>
              </a:ext>
            </a:extLst>
          </p:cNvPr>
          <p:cNvSpPr/>
          <p:nvPr/>
        </p:nvSpPr>
        <p:spPr>
          <a:xfrm>
            <a:off x="8222210" y="4604618"/>
            <a:ext cx="1941015" cy="836813"/>
          </a:xfrm>
          <a:prstGeom prst="chevron">
            <a:avLst>
              <a:gd name="adj" fmla="val 21123"/>
            </a:avLst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bg1"/>
                </a:solidFill>
              </a:rPr>
              <a:t>Планирование потребности в материалах</a:t>
            </a:r>
          </a:p>
        </p:txBody>
      </p:sp>
    </p:spTree>
    <p:extLst>
      <p:ext uri="{BB962C8B-B14F-4D97-AF65-F5344CB8AC3E}">
        <p14:creationId xmlns:p14="http://schemas.microsoft.com/office/powerpoint/2010/main" val="2672699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F2C8FFF-3F84-415D-84A9-B0A439345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01" y="1204473"/>
            <a:ext cx="4215605" cy="190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FE0D572-62C3-489C-BB99-F05B61708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7306" y="1204473"/>
            <a:ext cx="4240000" cy="19080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E5CF32CB-068D-4713-AF12-5A03B684D5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7152" y="1204473"/>
            <a:ext cx="4235098" cy="1908000"/>
          </a:xfrm>
          <a:prstGeom prst="rect">
            <a:avLst/>
          </a:prstGeom>
        </p:spPr>
      </p:pic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7D37D0B-7CA3-4E07-AA77-956C2DF485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7" imgW="416" imgH="416" progId="TCLayout.ActiveDocument.1">
                  <p:embed/>
                </p:oleObj>
              </mc:Choice>
              <mc:Fallback>
                <p:oleObj name="Слайд think-cell" r:id="rId7" imgW="416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D37D0B-7CA3-4E07-AA77-956C2DF48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6797B095-0723-496A-96BB-3BC02F20A012}"/>
              </a:ext>
            </a:extLst>
          </p:cNvPr>
          <p:cNvSpPr/>
          <p:nvPr/>
        </p:nvSpPr>
        <p:spPr>
          <a:xfrm>
            <a:off x="3667484" y="3800706"/>
            <a:ext cx="1425600" cy="612000"/>
          </a:xfrm>
          <a:prstGeom prst="rect">
            <a:avLst/>
          </a:prstGeom>
          <a:solidFill>
            <a:srgbClr val="57007F"/>
          </a:solidFill>
          <a:ln w="381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Формирование Плана  производства ГП и ПФ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586A4F9A-6BF4-4FAB-9FFB-D98545D0821E}"/>
              </a:ext>
            </a:extLst>
          </p:cNvPr>
          <p:cNvSpPr/>
          <p:nvPr/>
        </p:nvSpPr>
        <p:spPr>
          <a:xfrm>
            <a:off x="7098916" y="3800706"/>
            <a:ext cx="1425600" cy="612000"/>
          </a:xfrm>
          <a:prstGeom prst="rect">
            <a:avLst/>
          </a:prstGeom>
          <a:solidFill>
            <a:srgbClr val="AD00FF"/>
          </a:solidFill>
          <a:ln w="381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Анализ, перепланирование и корректировка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10C5BF42-04D3-43B5-84D1-D291D0BCE86A}"/>
              </a:ext>
            </a:extLst>
          </p:cNvPr>
          <p:cNvSpPr/>
          <p:nvPr/>
        </p:nvSpPr>
        <p:spPr>
          <a:xfrm>
            <a:off x="8814632" y="3800706"/>
            <a:ext cx="1425600" cy="612000"/>
          </a:xfrm>
          <a:prstGeom prst="rect">
            <a:avLst/>
          </a:prstGeom>
          <a:solidFill>
            <a:srgbClr val="3F3F3F"/>
          </a:solidFill>
          <a:ln w="38100" cap="flat" cmpd="sng" algn="ctr">
            <a:solidFill>
              <a:srgbClr val="3F3F3F"/>
            </a:solidFill>
            <a:prstDash val="solid"/>
            <a:miter lim="800000"/>
          </a:ln>
          <a:effectLst/>
        </p:spPr>
        <p:txBody>
          <a:bodyPr lIns="18000" rIns="1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Публикация плановых заказов в систему исполнения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D5CA1591-84AA-4A0C-89F2-6FE8CF0077D3}"/>
              </a:ext>
            </a:extLst>
          </p:cNvPr>
          <p:cNvSpPr/>
          <p:nvPr/>
        </p:nvSpPr>
        <p:spPr>
          <a:xfrm>
            <a:off x="1951768" y="3800706"/>
            <a:ext cx="1425600" cy="612000"/>
          </a:xfrm>
          <a:prstGeom prst="rect">
            <a:avLst/>
          </a:prstGeom>
          <a:solidFill>
            <a:srgbClr val="57007F"/>
          </a:solidFill>
          <a:ln w="381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Анализ плана S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N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P и потребностей в производстве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69C9F53-4EE7-4535-A29C-82BB3403C88B}"/>
              </a:ext>
            </a:extLst>
          </p:cNvPr>
          <p:cNvSpPr txBox="1"/>
          <p:nvPr/>
        </p:nvSpPr>
        <p:spPr>
          <a:xfrm>
            <a:off x="7157308" y="4605802"/>
            <a:ext cx="18122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Устранение отклонений</a:t>
            </a:r>
          </a:p>
        </p:txBody>
      </p:sp>
      <p:cxnSp>
        <p:nvCxnSpPr>
          <p:cNvPr id="79" name="Соединитель: уступ 78">
            <a:extLst>
              <a:ext uri="{FF2B5EF4-FFF2-40B4-BE49-F238E27FC236}">
                <a16:creationId xmlns:a16="http://schemas.microsoft.com/office/drawing/2014/main" id="{31B68C50-3784-4062-8431-2547B449CFDE}"/>
              </a:ext>
            </a:extLst>
          </p:cNvPr>
          <p:cNvCxnSpPr>
            <a:cxnSpLocks/>
            <a:stCxn id="100" idx="3"/>
            <a:endCxn id="72" idx="1"/>
          </p:cNvCxnSpPr>
          <p:nvPr/>
        </p:nvCxnSpPr>
        <p:spPr>
          <a:xfrm>
            <a:off x="1661652" y="4106706"/>
            <a:ext cx="290116" cy="0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9BE7D01-D51A-461E-95BC-16D56AEB2FBD}"/>
              </a:ext>
            </a:extLst>
          </p:cNvPr>
          <p:cNvSpPr txBox="1"/>
          <p:nvPr/>
        </p:nvSpPr>
        <p:spPr>
          <a:xfrm>
            <a:off x="3706792" y="4605802"/>
            <a:ext cx="19657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Детальный план производства по дням (план выпуска)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43F222-50DE-4DEB-ACAF-28E37C00BFB4}"/>
              </a:ext>
            </a:extLst>
          </p:cNvPr>
          <p:cNvSpPr txBox="1"/>
          <p:nvPr/>
        </p:nvSpPr>
        <p:spPr>
          <a:xfrm>
            <a:off x="1971422" y="4605802"/>
            <a:ext cx="17560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Объемы в работу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C3BA345-DC73-491E-A1D0-778F3543EC33}"/>
              </a:ext>
            </a:extLst>
          </p:cNvPr>
          <p:cNvSpPr txBox="1"/>
          <p:nvPr/>
        </p:nvSpPr>
        <p:spPr>
          <a:xfrm>
            <a:off x="5432619" y="4605802"/>
            <a:ext cx="19028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Сбалансированный детальный план производства по дням/сменам и мощностям (план запуска)</a:t>
            </a: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0172B409-81FE-4A2C-AD72-FDED0EB96207}"/>
              </a:ext>
            </a:extLst>
          </p:cNvPr>
          <p:cNvSpPr/>
          <p:nvPr/>
        </p:nvSpPr>
        <p:spPr>
          <a:xfrm>
            <a:off x="5383200" y="3800706"/>
            <a:ext cx="1425600" cy="612000"/>
          </a:xfrm>
          <a:prstGeom prst="rect">
            <a:avLst/>
          </a:prstGeom>
          <a:solidFill>
            <a:srgbClr val="57007F"/>
          </a:solidFill>
          <a:ln w="381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Балансировка загрузки линий пр-ва ГП и ПФ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39B4933-3FFF-48DC-8402-55A2522DA7AD}"/>
              </a:ext>
            </a:extLst>
          </p:cNvPr>
          <p:cNvSpPr txBox="1"/>
          <p:nvPr/>
        </p:nvSpPr>
        <p:spPr>
          <a:xfrm>
            <a:off x="8880878" y="4605802"/>
            <a:ext cx="18954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Передача плановых заказов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CDAA9711-5ABA-4143-AF16-A341B4E9DD7F}"/>
              </a:ext>
            </a:extLst>
          </p:cNvPr>
          <p:cNvSpPr/>
          <p:nvPr/>
        </p:nvSpPr>
        <p:spPr>
          <a:xfrm>
            <a:off x="10530348" y="3800706"/>
            <a:ext cx="1425600" cy="612000"/>
          </a:xfrm>
          <a:prstGeom prst="rect">
            <a:avLst/>
          </a:prstGeom>
          <a:solidFill>
            <a:srgbClr val="3F3F3F"/>
          </a:solidFill>
          <a:ln w="38100" cap="flat" cmpd="sng" algn="ctr">
            <a:solidFill>
              <a:srgbClr val="3F3F3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Передача графика производства в </a:t>
            </a:r>
            <a:r>
              <a:rPr kumimoji="0" lang="ru-RU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модуль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SP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92202AB1-260A-46EC-A424-B00279E25C09}"/>
              </a:ext>
            </a:extLst>
          </p:cNvPr>
          <p:cNvSpPr/>
          <p:nvPr/>
        </p:nvSpPr>
        <p:spPr>
          <a:xfrm>
            <a:off x="234601" y="3800706"/>
            <a:ext cx="1427051" cy="612000"/>
          </a:xfrm>
          <a:prstGeom prst="rect">
            <a:avLst/>
          </a:prstGeom>
          <a:solidFill>
            <a:srgbClr val="AD27BA"/>
          </a:solidFill>
          <a:ln w="12700" cap="flat" cmpd="sng" algn="ctr">
            <a:solidFill>
              <a:srgbClr val="AD27B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Получение согласованного объемного плана производства из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SNP</a:t>
            </a:r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BECEA75-D4C9-4879-AA7A-327C113ED535}"/>
              </a:ext>
            </a:extLst>
          </p:cNvPr>
          <p:cNvSpPr txBox="1"/>
          <p:nvPr/>
        </p:nvSpPr>
        <p:spPr>
          <a:xfrm>
            <a:off x="185201" y="5263342"/>
            <a:ext cx="20996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Производственные / Технологические заказы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Основные и транзакционные данные</a:t>
            </a:r>
          </a:p>
        </p:txBody>
      </p:sp>
      <p:sp>
        <p:nvSpPr>
          <p:cNvPr id="101" name="Slide Number Placeholder 1">
            <a:extLst>
              <a:ext uri="{FF2B5EF4-FFF2-40B4-BE49-F238E27FC236}">
                <a16:creationId xmlns:a16="http://schemas.microsoft.com/office/drawing/2014/main" id="{CF7695BF-A6BF-4119-AD8A-924695B73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 vert="horz" lIns="72000" tIns="36000" rIns="72000" bIns="3600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anrope" pitchFamily="2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anrope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6" name="Title 1">
            <a:extLst>
              <a:ext uri="{FF2B5EF4-FFF2-40B4-BE49-F238E27FC236}">
                <a16:creationId xmlns:a16="http://schemas.microsoft.com/office/drawing/2014/main" id="{311D2F91-6748-479A-A37D-3EA8E994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ru-RU" b="1" dirty="0">
                <a:latin typeface="Manrope ExtraBold" pitchFamily="2" charset="0"/>
              </a:rPr>
              <a:t>Планирование производства и Графикование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724B042C-7165-4ACB-B1BB-0D971C13A277}"/>
              </a:ext>
            </a:extLst>
          </p:cNvPr>
          <p:cNvSpPr/>
          <p:nvPr/>
        </p:nvSpPr>
        <p:spPr>
          <a:xfrm>
            <a:off x="234601" y="3298384"/>
            <a:ext cx="1427051" cy="369877"/>
          </a:xfrm>
          <a:prstGeom prst="rect">
            <a:avLst/>
          </a:prstGeom>
          <a:solidFill>
            <a:srgbClr val="AD27BA"/>
          </a:solidFill>
          <a:ln>
            <a:solidFill>
              <a:srgbClr val="AD27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Получение данных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D720597D-0BA6-496C-B7B2-D9ECB508ABB1}"/>
              </a:ext>
            </a:extLst>
          </p:cNvPr>
          <p:cNvSpPr/>
          <p:nvPr/>
        </p:nvSpPr>
        <p:spPr>
          <a:xfrm>
            <a:off x="234601" y="4620926"/>
            <a:ext cx="1427051" cy="626341"/>
          </a:xfrm>
          <a:prstGeom prst="rect">
            <a:avLst/>
          </a:prstGeom>
          <a:solidFill>
            <a:srgbClr val="AD27BA"/>
          </a:solidFill>
          <a:ln w="12700" cap="flat" cmpd="sng" algn="ctr">
            <a:solidFill>
              <a:srgbClr val="AD27B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Управление производством  </a:t>
            </a:r>
            <a:r>
              <a:rPr kumimoji="0" lang="ru-RU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в 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ERP</a:t>
            </a:r>
          </a:p>
        </p:txBody>
      </p: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C200EC18-1963-49A0-A2F1-C174CA772653}"/>
              </a:ext>
            </a:extLst>
          </p:cNvPr>
          <p:cNvCxnSpPr>
            <a:cxnSpLocks/>
            <a:stCxn id="55" idx="3"/>
            <a:endCxn id="72" idx="1"/>
          </p:cNvCxnSpPr>
          <p:nvPr/>
        </p:nvCxnSpPr>
        <p:spPr>
          <a:xfrm flipV="1">
            <a:off x="1661652" y="4106706"/>
            <a:ext cx="290116" cy="827391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14A8D8DE-253C-4203-ABAE-506A3B53C18C}"/>
              </a:ext>
            </a:extLst>
          </p:cNvPr>
          <p:cNvSpPr/>
          <p:nvPr/>
        </p:nvSpPr>
        <p:spPr>
          <a:xfrm>
            <a:off x="1971421" y="3298384"/>
            <a:ext cx="4837379" cy="369877"/>
          </a:xfrm>
          <a:prstGeom prst="rect">
            <a:avLst/>
          </a:prstGeom>
          <a:solidFill>
            <a:srgbClr val="57007F"/>
          </a:solidFill>
          <a:ln w="38100" cap="flat" cmpd="sng" algn="ctr">
            <a:solidFill>
              <a:srgbClr val="57007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Календарное планирование и балансировка</a:t>
            </a: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456DF83D-D900-46C1-8B55-B208C5F834C5}"/>
              </a:ext>
            </a:extLst>
          </p:cNvPr>
          <p:cNvSpPr/>
          <p:nvPr/>
        </p:nvSpPr>
        <p:spPr>
          <a:xfrm>
            <a:off x="7098917" y="3298384"/>
            <a:ext cx="1425600" cy="369877"/>
          </a:xfrm>
          <a:prstGeom prst="rect">
            <a:avLst/>
          </a:prstGeom>
          <a:solidFill>
            <a:srgbClr val="AD00FF"/>
          </a:solidFill>
          <a:ln w="38100" cap="flat" cmpd="sng" algn="ctr">
            <a:solidFill>
              <a:srgbClr val="AD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Перепланирование</a:t>
            </a: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CCF09514-A0F8-4304-A3C6-70FE68ECF6CD}"/>
              </a:ext>
            </a:extLst>
          </p:cNvPr>
          <p:cNvSpPr/>
          <p:nvPr/>
        </p:nvSpPr>
        <p:spPr>
          <a:xfrm>
            <a:off x="8814632" y="3298384"/>
            <a:ext cx="3141316" cy="369877"/>
          </a:xfrm>
          <a:prstGeom prst="rect">
            <a:avLst/>
          </a:prstGeom>
          <a:solidFill>
            <a:srgbClr val="3F3F3F"/>
          </a:solidFill>
          <a:ln w="38100" cap="flat" cmpd="sng" algn="ctr">
            <a:solidFill>
              <a:srgbClr val="3F3F3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Передача планов</a:t>
            </a: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3861FA32-E822-42F5-81C5-B30FDF1EFABD}"/>
              </a:ext>
            </a:extLst>
          </p:cNvPr>
          <p:cNvSpPr/>
          <p:nvPr/>
        </p:nvSpPr>
        <p:spPr>
          <a:xfrm>
            <a:off x="1831565" y="6438113"/>
            <a:ext cx="215086" cy="2160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92" name="Rectangle 19">
            <a:extLst>
              <a:ext uri="{FF2B5EF4-FFF2-40B4-BE49-F238E27FC236}">
                <a16:creationId xmlns:a16="http://schemas.microsoft.com/office/drawing/2014/main" id="{4184DF4C-E1A7-460D-A1D0-5F996DB65EA6}"/>
              </a:ext>
            </a:extLst>
          </p:cNvPr>
          <p:cNvSpPr/>
          <p:nvPr/>
        </p:nvSpPr>
        <p:spPr>
          <a:xfrm>
            <a:off x="2046650" y="6430697"/>
            <a:ext cx="1429785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Шаги демо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93" name="Rectangle 19">
            <a:extLst>
              <a:ext uri="{FF2B5EF4-FFF2-40B4-BE49-F238E27FC236}">
                <a16:creationId xmlns:a16="http://schemas.microsoft.com/office/drawing/2014/main" id="{09B1C600-90B8-4769-8B39-0547678953B1}"/>
              </a:ext>
            </a:extLst>
          </p:cNvPr>
          <p:cNvSpPr/>
          <p:nvPr/>
        </p:nvSpPr>
        <p:spPr>
          <a:xfrm>
            <a:off x="1070623" y="6430697"/>
            <a:ext cx="1429785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Легенда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B2A23C4-1751-43AD-BBF2-CAF75E1F10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0723" y="1204473"/>
            <a:ext cx="4210759" cy="19080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4DECAE1-4B02-479F-A87D-8E54B3D632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9954" y="1204473"/>
            <a:ext cx="4191487" cy="1908000"/>
          </a:xfrm>
          <a:prstGeom prst="rect">
            <a:avLst/>
          </a:prstGeom>
        </p:spPr>
      </p:pic>
      <p:cxnSp>
        <p:nvCxnSpPr>
          <p:cNvPr id="33" name="Соединитель: уступ 78">
            <a:extLst>
              <a:ext uri="{FF2B5EF4-FFF2-40B4-BE49-F238E27FC236}">
                <a16:creationId xmlns:a16="http://schemas.microsoft.com/office/drawing/2014/main" id="{CF87BA05-AA4F-4E4B-9E2D-92665935345E}"/>
              </a:ext>
            </a:extLst>
          </p:cNvPr>
          <p:cNvCxnSpPr>
            <a:cxnSpLocks/>
            <a:stCxn id="72" idx="3"/>
            <a:endCxn id="56" idx="1"/>
          </p:cNvCxnSpPr>
          <p:nvPr/>
        </p:nvCxnSpPr>
        <p:spPr>
          <a:xfrm>
            <a:off x="3377368" y="4106706"/>
            <a:ext cx="290116" cy="0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7" name="Соединитель: уступ 78">
            <a:extLst>
              <a:ext uri="{FF2B5EF4-FFF2-40B4-BE49-F238E27FC236}">
                <a16:creationId xmlns:a16="http://schemas.microsoft.com/office/drawing/2014/main" id="{F41EF569-F547-4347-A740-D5D113383F5F}"/>
              </a:ext>
            </a:extLst>
          </p:cNvPr>
          <p:cNvCxnSpPr>
            <a:cxnSpLocks/>
            <a:stCxn id="56" idx="3"/>
            <a:endCxn id="86" idx="1"/>
          </p:cNvCxnSpPr>
          <p:nvPr/>
        </p:nvCxnSpPr>
        <p:spPr>
          <a:xfrm>
            <a:off x="5093084" y="4106706"/>
            <a:ext cx="290116" cy="0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0" name="Соединитель: уступ 78">
            <a:extLst>
              <a:ext uri="{FF2B5EF4-FFF2-40B4-BE49-F238E27FC236}">
                <a16:creationId xmlns:a16="http://schemas.microsoft.com/office/drawing/2014/main" id="{FC779FA1-3C34-4CE3-A1C0-52CEB2D93CCC}"/>
              </a:ext>
            </a:extLst>
          </p:cNvPr>
          <p:cNvCxnSpPr>
            <a:cxnSpLocks/>
            <a:stCxn id="86" idx="3"/>
            <a:endCxn id="63" idx="1"/>
          </p:cNvCxnSpPr>
          <p:nvPr/>
        </p:nvCxnSpPr>
        <p:spPr>
          <a:xfrm>
            <a:off x="6808800" y="4106706"/>
            <a:ext cx="290116" cy="0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1" name="Соединитель: уступ 78">
            <a:extLst>
              <a:ext uri="{FF2B5EF4-FFF2-40B4-BE49-F238E27FC236}">
                <a16:creationId xmlns:a16="http://schemas.microsoft.com/office/drawing/2014/main" id="{F31D84C4-1962-4766-B2A2-38530E59BA15}"/>
              </a:ext>
            </a:extLst>
          </p:cNvPr>
          <p:cNvCxnSpPr>
            <a:cxnSpLocks/>
            <a:stCxn id="63" idx="3"/>
            <a:endCxn id="67" idx="1"/>
          </p:cNvCxnSpPr>
          <p:nvPr/>
        </p:nvCxnSpPr>
        <p:spPr>
          <a:xfrm>
            <a:off x="8524516" y="4106706"/>
            <a:ext cx="290116" cy="0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" name="Соединитель: уступ 78">
            <a:extLst>
              <a:ext uri="{FF2B5EF4-FFF2-40B4-BE49-F238E27FC236}">
                <a16:creationId xmlns:a16="http://schemas.microsoft.com/office/drawing/2014/main" id="{EF8B3D44-ED1C-4821-AEA7-22C1EE6F9F6D}"/>
              </a:ext>
            </a:extLst>
          </p:cNvPr>
          <p:cNvCxnSpPr>
            <a:cxnSpLocks/>
            <a:stCxn id="67" idx="3"/>
            <a:endCxn id="98" idx="1"/>
          </p:cNvCxnSpPr>
          <p:nvPr/>
        </p:nvCxnSpPr>
        <p:spPr>
          <a:xfrm>
            <a:off x="10240232" y="4106706"/>
            <a:ext cx="290116" cy="0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513402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Актуализировать информацию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5_Office Theme">
  <a:themeElements>
    <a:clrScheme name="Другая 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000FF"/>
      </a:accent1>
      <a:accent2>
        <a:srgbClr val="E834E7"/>
      </a:accent2>
      <a:accent3>
        <a:srgbClr val="FF9A3B"/>
      </a:accent3>
      <a:accent4>
        <a:srgbClr val="FD2856"/>
      </a:accent4>
      <a:accent5>
        <a:srgbClr val="FFFFFF"/>
      </a:accent5>
      <a:accent6>
        <a:srgbClr val="FFFFFF"/>
      </a:accent6>
      <a:hlink>
        <a:srgbClr val="48007F"/>
      </a:hlink>
      <a:folHlink>
        <a:srgbClr val="BC65FF"/>
      </a:folHlink>
    </a:clrScheme>
    <a:fontScheme name="Manrope In.Plan">
      <a:majorFont>
        <a:latin typeface="Manrope ExtraBold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8_Office Theme">
  <a:themeElements>
    <a:clrScheme name="In.Pla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000FF"/>
      </a:accent1>
      <a:accent2>
        <a:srgbClr val="E935FB"/>
      </a:accent2>
      <a:accent3>
        <a:srgbClr val="FF9A3B"/>
      </a:accent3>
      <a:accent4>
        <a:srgbClr val="FD2956"/>
      </a:accent4>
      <a:accent5>
        <a:srgbClr val="FFFFFF"/>
      </a:accent5>
      <a:accent6>
        <a:srgbClr val="FFFFFF"/>
      </a:accent6>
      <a:hlink>
        <a:srgbClr val="48007F"/>
      </a:hlink>
      <a:folHlink>
        <a:srgbClr val="BC65FF"/>
      </a:folHlink>
    </a:clrScheme>
    <a:fontScheme name="Другая 3">
      <a:majorFont>
        <a:latin typeface="Manrope ExtraBold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Другая 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000FF"/>
      </a:accent1>
      <a:accent2>
        <a:srgbClr val="E834E7"/>
      </a:accent2>
      <a:accent3>
        <a:srgbClr val="FF9A3B"/>
      </a:accent3>
      <a:accent4>
        <a:srgbClr val="FD2856"/>
      </a:accent4>
      <a:accent5>
        <a:srgbClr val="FFFFFF"/>
      </a:accent5>
      <a:accent6>
        <a:srgbClr val="FFFFFF"/>
      </a:accent6>
      <a:hlink>
        <a:srgbClr val="48007F"/>
      </a:hlink>
      <a:folHlink>
        <a:srgbClr val="BC65FF"/>
      </a:folHlink>
    </a:clrScheme>
    <a:fontScheme name="Manrope In.Plan">
      <a:majorFont>
        <a:latin typeface="Manrope ExtraBold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AXENIX">
  <a:themeElements>
    <a:clrScheme name="axenix">
      <a:dk1>
        <a:sysClr val="windowText" lastClr="000000"/>
      </a:dk1>
      <a:lt1>
        <a:sysClr val="window" lastClr="FFFFFF"/>
      </a:lt1>
      <a:dk2>
        <a:srgbClr val="021B2A"/>
      </a:dk2>
      <a:lt2>
        <a:srgbClr val="EAE8E4"/>
      </a:lt2>
      <a:accent1>
        <a:srgbClr val="F37022"/>
      </a:accent1>
      <a:accent2>
        <a:srgbClr val="5F308C"/>
      </a:accent2>
      <a:accent3>
        <a:srgbClr val="22A5F3"/>
      </a:accent3>
      <a:accent4>
        <a:srgbClr val="821F00"/>
      </a:accent4>
      <a:accent5>
        <a:srgbClr val="414042"/>
      </a:accent5>
      <a:accent6>
        <a:srgbClr val="B3B2B3"/>
      </a:accent6>
      <a:hlink>
        <a:srgbClr val="0563C1"/>
      </a:hlink>
      <a:folHlink>
        <a:srgbClr val="954F72"/>
      </a:folHlink>
    </a:clrScheme>
    <a:fontScheme name="Arial Axenix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flat" cmpd="sng" algn="ctr">
          <a:solidFill>
            <a:srgbClr val="F37022"/>
          </a:solidFill>
          <a:prstDash val="solid"/>
          <a:headEnd type="none" w="med" len="med"/>
          <a:tailEnd type="none" w="med" len="med"/>
        </a:ln>
        <a:effectLst/>
      </a:spPr>
      <a:bodyPr rtlCol="0" anchor="ctr">
        <a:noAutofit/>
      </a:bodyPr>
      <a:lstStyle>
        <a:defPPr algn="ctr">
          <a:defRPr b="1" kern="0" dirty="0">
            <a:solidFill>
              <a:prstClr val="white"/>
            </a:solidFill>
          </a:defRPr>
        </a:defPPr>
      </a:lstStyle>
    </a:spDef>
    <a:txDef>
      <a:spPr/>
      <a:bodyPr vert="horz" wrap="square" lIns="0" tIns="0" rIns="0" bIns="0" rtlCol="0">
        <a:spAutoFit/>
      </a:bodyPr>
      <a:lstStyle>
        <a:defPPr marL="0" indent="0" algn="l">
          <a:spcBef>
            <a:spcPts val="0"/>
          </a:spcBef>
          <a:spcAft>
            <a:spcPts val="300"/>
          </a:spcAft>
          <a:buNone/>
          <a:defRPr sz="1000" dirty="0" smtClean="0">
            <a:ea typeface="Tahoma" panose="020B0604030504040204" pitchFamily="34" charset="0"/>
            <a:cs typeface="Arial" panose="020B0604020202020204" pitchFamily="34" charset="0"/>
            <a:sym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Другая 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000FF"/>
      </a:accent1>
      <a:accent2>
        <a:srgbClr val="E834E7"/>
      </a:accent2>
      <a:accent3>
        <a:srgbClr val="FF9A3B"/>
      </a:accent3>
      <a:accent4>
        <a:srgbClr val="FD2856"/>
      </a:accent4>
      <a:accent5>
        <a:srgbClr val="FFFFFF"/>
      </a:accent5>
      <a:accent6>
        <a:srgbClr val="FFFFFF"/>
      </a:accent6>
      <a:hlink>
        <a:srgbClr val="48007F"/>
      </a:hlink>
      <a:folHlink>
        <a:srgbClr val="BC65FF"/>
      </a:folHlink>
    </a:clrScheme>
    <a:fontScheme name="Manrope In.Plan">
      <a:majorFont>
        <a:latin typeface="Manrope ExtraBold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E24BE1C18EC446A0A6753EAF99387A" ma:contentTypeVersion="2" ma:contentTypeDescription="Create a new document." ma:contentTypeScope="" ma:versionID="244f8366877dcdc5368c82b279a30f47">
  <xsd:schema xmlns:xsd="http://www.w3.org/2001/XMLSchema" xmlns:xs="http://www.w3.org/2001/XMLSchema" xmlns:p="http://schemas.microsoft.com/office/2006/metadata/properties" xmlns:ns2="25156473-9b09-46bd-9f23-506bdb3c47da" targetNamespace="http://schemas.microsoft.com/office/2006/metadata/properties" ma:root="true" ma:fieldsID="330c833d1991d6b4c2006b60abca9c89" ns2:_="">
    <xsd:import namespace="25156473-9b09-46bd-9f23-506bdb3c47d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156473-9b09-46bd-9f23-506bdb3c47d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3BCC518-AFA2-4614-9E41-5F397BEDAA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156473-9b09-46bd-9f23-506bdb3c47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538A6A8-1B6C-4F0A-81CD-967DFDFA76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A6059A-0DED-4635-BFF2-3477C0B5DCA5}">
  <ds:schemaRefs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2006/documentManagement/types"/>
    <ds:schemaRef ds:uri="25156473-9b09-46bd-9f23-506bdb3c47da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66076</TotalTime>
  <Words>1303</Words>
  <Application>Microsoft Office PowerPoint</Application>
  <PresentationFormat>Widescreen</PresentationFormat>
  <Paragraphs>276</Paragraphs>
  <Slides>11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Arial</vt:lpstr>
      <vt:lpstr>Calibri</vt:lpstr>
      <vt:lpstr>Manrope</vt:lpstr>
      <vt:lpstr>Manrope ExtraBold</vt:lpstr>
      <vt:lpstr>Montserrat</vt:lpstr>
      <vt:lpstr>Wingdings</vt:lpstr>
      <vt:lpstr>5_Office Theme</vt:lpstr>
      <vt:lpstr>3_Custom Design</vt:lpstr>
      <vt:lpstr>18_Office Theme</vt:lpstr>
      <vt:lpstr>4_Office Theme</vt:lpstr>
      <vt:lpstr>AXENIX</vt:lpstr>
      <vt:lpstr>6_Office Theme</vt:lpstr>
      <vt:lpstr>Слайд think-cell</vt:lpstr>
      <vt:lpstr>think-cell Slide</vt:lpstr>
      <vt:lpstr>Типовой процесс интегрированного планирования</vt:lpstr>
      <vt:lpstr>PowerPoint Presentation</vt:lpstr>
      <vt:lpstr>Процесс Планирования спроса</vt:lpstr>
      <vt:lpstr>PowerPoint Presentation</vt:lpstr>
      <vt:lpstr>Мультиэшелонная оптимизация запасов (MEIO) </vt:lpstr>
      <vt:lpstr>PowerPoint Presentation</vt:lpstr>
      <vt:lpstr>Планирование сети поставок</vt:lpstr>
      <vt:lpstr>PowerPoint Presentation</vt:lpstr>
      <vt:lpstr>Типовой процесс Material Requirements Planning (MRP)</vt:lpstr>
      <vt:lpstr>PowerPoint Presentation</vt:lpstr>
      <vt:lpstr>Планирование производства и Графикование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Содержание встречи</dc:title>
  <dc:creator>Serov Andrey</dc:creator>
  <cp:lastModifiedBy>Igor Dikinov</cp:lastModifiedBy>
  <cp:revision>492</cp:revision>
  <cp:lastPrinted>2024-02-29T12:49:55Z</cp:lastPrinted>
  <dcterms:created xsi:type="dcterms:W3CDTF">2023-08-09T09:40:19Z</dcterms:created>
  <dcterms:modified xsi:type="dcterms:W3CDTF">2026-09-24T13:18:29Z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0x01010083E24BE1C18EC446A0A6753EAF99387A</vt:lpwstr>
  </property>
</Properties>
</file>